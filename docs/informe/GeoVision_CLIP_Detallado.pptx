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8" d="100"/>
          <a:sy n="98" d="100"/>
        </p:scale>
        <p:origin x="86" y="1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371600" y="1645920"/>
            <a:ext cx="9418320" cy="38100"/>
          </a:xfrm>
          <a:prstGeom prst="rect">
            <a:avLst/>
          </a:prstGeom>
          <a:solidFill>
            <a:srgbClr val="00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371600" y="4572000"/>
            <a:ext cx="9418320" cy="381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600" b="1">
                <a:solidFill>
                  <a:srgbClr val="FFFFFF"/>
                </a:solidFill>
                <a:latin typeface="Calibri"/>
              </a:defRPr>
            </a:pPr>
            <a:r>
              <a:t>GeoVision-CLIP Cali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1089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9DFF"/>
                </a:solidFill>
                <a:latin typeface="Calibri"/>
              </a:defRPr>
            </a:pPr>
            <a:r>
              <a:rPr dirty="0"/>
              <a:t>Deep Learning Multimodal + </a:t>
            </a:r>
            <a:r>
              <a:rPr dirty="0" err="1"/>
              <a:t>Estadistica</a:t>
            </a:r>
            <a:r>
              <a:rPr dirty="0"/>
              <a:t> </a:t>
            </a:r>
            <a:r>
              <a:rPr dirty="0" err="1"/>
              <a:t>Geoespacial</a:t>
            </a:r>
            <a:r>
              <a:rPr dirty="0"/>
              <a:t> </a:t>
            </a:r>
            <a:r>
              <a:rPr dirty="0" err="1"/>
              <a:t>Avanzada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1371600" y="48463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88"/>
                </a:solidFill>
                <a:latin typeface="Calibri"/>
              </a:defRPr>
            </a:pPr>
            <a:r>
              <a:rPr dirty="0" err="1"/>
              <a:t>Analitica</a:t>
            </a:r>
            <a:r>
              <a:rPr dirty="0"/>
              <a:t> de Datos I  </a:t>
            </a:r>
            <a:r>
              <a:rPr dirty="0" err="1"/>
              <a:t>Tercer</a:t>
            </a:r>
            <a:r>
              <a:rPr dirty="0"/>
              <a:t> Corte  Unidad III</a:t>
            </a:r>
            <a:br>
              <a:rPr dirty="0"/>
            </a:br>
            <a:r>
              <a:rPr dirty="0"/>
              <a:t>Universidad </a:t>
            </a:r>
            <a:r>
              <a:rPr dirty="0" err="1"/>
              <a:t>Autonoma</a:t>
            </a:r>
            <a:r>
              <a:rPr dirty="0"/>
              <a:t> de Occidente  </a:t>
            </a:r>
            <a:r>
              <a:rPr dirty="0" err="1"/>
              <a:t>Facultad</a:t>
            </a:r>
            <a:r>
              <a:rPr dirty="0"/>
              <a:t> de </a:t>
            </a:r>
            <a:r>
              <a:rPr dirty="0" err="1"/>
              <a:t>Ingenierias</a:t>
            </a:r>
            <a:br>
              <a:rPr dirty="0"/>
            </a:br>
            <a:r>
              <a:rPr dirty="0"/>
              <a:t>Nicolas Pena Irurita  Samuel Patino Lucumi</a:t>
            </a:r>
            <a:br>
              <a:rPr dirty="0"/>
            </a:br>
            <a:r>
              <a:rPr dirty="0" err="1"/>
              <a:t>Docentes</a:t>
            </a:r>
            <a:r>
              <a:rPr dirty="0"/>
              <a:t>: Prof. Carlos Ferro  Prof. Cristian E. Garcia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0" y="5669280"/>
            <a:ext cx="2103120" cy="3200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0" y="56692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INFORME DE PROGRESO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0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9DFF"/>
                </a:solidFill>
                <a:latin typeface="Calibri"/>
              </a:defRPr>
            </a:pPr>
            <a:r>
              <a:t>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Agenda Detallada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88"/>
                </a:solidFill>
                <a:latin typeface="Calibri"/>
              </a:defRPr>
            </a:pPr>
            <a:r>
              <a:t>45+ diapositivas  Pipeline  EDAs  Dataset  Modelo  SAE  Frontend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11064240" cy="25400"/>
          </a:xfrm>
          <a:prstGeom prst="rect">
            <a:avLst/>
          </a:prstGeom>
          <a:solidFill>
            <a:srgbClr val="22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DFF"/>
                </a:solidFill>
                <a:latin typeface="Calibri"/>
              </a:defRPr>
            </a:pPr>
            <a:r>
              <a:t>01-03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2801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Introduccion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499616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88"/>
                </a:solidFill>
                <a:latin typeface="Calibri"/>
              </a:defRPr>
            </a:pPr>
            <a:r>
              <a:t>Problema, arquitectura, stack tecnologico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0" y="1737360"/>
            <a:ext cx="9418320" cy="12700"/>
          </a:xfrm>
          <a:prstGeom prst="rect">
            <a:avLst/>
          </a:prstGeom>
          <a:solidFill>
            <a:srgbClr val="22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1874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DFF"/>
                </a:solidFill>
                <a:latin typeface="Calibri"/>
              </a:defRPr>
            </a:pPr>
            <a:r>
              <a:t>04-12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18745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Pipeline ETL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093976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88"/>
                </a:solidFill>
                <a:latin typeface="Calibri"/>
              </a:defRPr>
            </a:pPr>
            <a:r>
              <a:t>config.py, exportar.py, convertir_zarr, validar, manifest, trazabilidad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45920" y="2331720"/>
            <a:ext cx="9418320" cy="12700"/>
          </a:xfrm>
          <a:prstGeom prst="rect">
            <a:avLst/>
          </a:prstGeom>
          <a:solidFill>
            <a:srgbClr val="22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24688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DFF"/>
                </a:solidFill>
                <a:latin typeface="Calibri"/>
              </a:defRPr>
            </a:pPr>
            <a:r>
              <a:t>13-24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24688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EDA Exhaustivo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2688336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88"/>
                </a:solidFill>
                <a:latin typeface="Calibri"/>
              </a:defRPr>
            </a:pPr>
            <a:r>
              <a:t>S5P, S2, MODIS, ERA5, DAGMA, barrios, hallazgos, correlaciones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45920" y="2926080"/>
            <a:ext cx="9418320" cy="12700"/>
          </a:xfrm>
          <a:prstGeom prst="rect">
            <a:avLst/>
          </a:prstGeom>
          <a:solidFill>
            <a:srgbClr val="22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3063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DFF"/>
                </a:solidFill>
                <a:latin typeface="Calibri"/>
              </a:defRPr>
            </a:pPr>
            <a:r>
              <a:t>25-31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30632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Dataset Situacion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3282696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88"/>
                </a:solidFill>
                <a:latin typeface="Calibri"/>
              </a:defRPr>
            </a:pPr>
            <a:r>
              <a:t>v1 vs v2, percentiles, clases, split, diagnostico, mejoras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45920" y="3520440"/>
            <a:ext cx="9418320" cy="12700"/>
          </a:xfrm>
          <a:prstGeom prst="rect">
            <a:avLst/>
          </a:prstGeom>
          <a:solidFill>
            <a:srgbClr val="22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3657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DFF"/>
                </a:solidFill>
                <a:latin typeface="Calibri"/>
              </a:defRPr>
            </a:pPr>
            <a:r>
              <a:t>32-38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36576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Modelo GeoVision-CLIP + SAE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3877056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88"/>
                </a:solidFill>
                <a:latin typeface="Calibri"/>
              </a:defRPr>
            </a:pPr>
            <a:r>
              <a:t>Arquitectura, RemoteCLIP, SAE post-train, AFE/AFC, KPIs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45920" y="4114800"/>
            <a:ext cx="9418320" cy="12700"/>
          </a:xfrm>
          <a:prstGeom prst="rect">
            <a:avLst/>
          </a:prstGeom>
          <a:solidFill>
            <a:srgbClr val="22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1520" y="4251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DFF"/>
                </a:solidFill>
                <a:latin typeface="Calibri"/>
              </a:defRPr>
            </a:pPr>
            <a:r>
              <a:t>39-41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0" y="42519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Situacion 3 (Avance)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5920" y="4471416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88"/>
                </a:solidFill>
                <a:latin typeface="Calibri"/>
              </a:defRPr>
            </a:pPr>
            <a:r>
              <a:t>Tensor ConvLSTM, covariables, embeddings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45920" y="4709160"/>
            <a:ext cx="9418320" cy="12700"/>
          </a:xfrm>
          <a:prstGeom prst="rect">
            <a:avLst/>
          </a:prstGeom>
          <a:solidFill>
            <a:srgbClr val="22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31520" y="48463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DFF"/>
                </a:solidFill>
                <a:latin typeface="Calibri"/>
              </a:defRPr>
            </a:pPr>
            <a:r>
              <a:t>42-44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45920" y="48463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Frontend + Publicacion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45920" y="5065776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88"/>
                </a:solidFill>
                <a:latin typeface="Calibri"/>
              </a:defRPr>
            </a:pPr>
            <a:r>
              <a:t>Next.js, HF Hub, entregables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645920" y="5303520"/>
            <a:ext cx="9418320" cy="12700"/>
          </a:xfrm>
          <a:prstGeom prst="rect">
            <a:avLst/>
          </a:prstGeom>
          <a:solidFill>
            <a:srgbClr val="22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31520" y="54406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DFF"/>
                </a:solidFill>
                <a:latin typeface="Calibri"/>
              </a:defRPr>
            </a:pPr>
            <a:r>
              <a:t>45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45920" y="54406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Roadmap y Cierre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45920" y="5660136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88"/>
                </a:solidFill>
                <a:latin typeface="Calibri"/>
              </a:defRPr>
            </a:pPr>
            <a:r>
              <a:t>Proximos pasos, logros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0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9D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rPr dirty="0"/>
              <a:t>El </a:t>
            </a:r>
            <a:r>
              <a:rPr dirty="0" err="1"/>
              <a:t>Problema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18872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88"/>
                </a:solidFill>
                <a:latin typeface="Calibri"/>
              </a:defRPr>
            </a:pPr>
            <a:r>
              <a:rPr dirty="0" err="1"/>
              <a:t>Contaminacion</a:t>
            </a:r>
            <a:r>
              <a:rPr dirty="0"/>
              <a:t> </a:t>
            </a:r>
            <a:r>
              <a:rPr dirty="0" err="1"/>
              <a:t>atmosferica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Santiago de Cali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11064240" cy="25400"/>
          </a:xfrm>
          <a:prstGeom prst="rect">
            <a:avLst/>
          </a:prstGeom>
          <a:solidFill>
            <a:srgbClr val="22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DFF"/>
                </a:solidFill>
                <a:latin typeface="Calibri"/>
              </a:defRPr>
            </a:pPr>
            <a:r>
              <a:rPr dirty="0" err="1"/>
              <a:t>Contexto</a:t>
            </a:r>
            <a:r>
              <a:rPr dirty="0"/>
              <a:t> </a:t>
            </a:r>
            <a:r>
              <a:rPr dirty="0" err="1"/>
              <a:t>urbano</a:t>
            </a:r>
            <a:r>
              <a:rPr dirty="0"/>
              <a:t> y </a:t>
            </a:r>
            <a:r>
              <a:rPr dirty="0" err="1"/>
              <a:t>ambiental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Calibri"/>
              </a:defRPr>
            </a:pPr>
            <a:r>
              <a:rPr dirty="0"/>
              <a:t>  Cali: 3a ciudad de Colombia, ~2.8 M hab., 564 km2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Calibri"/>
              </a:defRPr>
            </a:pPr>
            <a:r>
              <a:rPr dirty="0"/>
              <a:t>  Fuentes: </a:t>
            </a:r>
            <a:r>
              <a:rPr dirty="0" err="1"/>
              <a:t>parque</a:t>
            </a:r>
            <a:r>
              <a:rPr dirty="0"/>
              <a:t> </a:t>
            </a:r>
            <a:r>
              <a:rPr dirty="0" err="1"/>
              <a:t>automotor</a:t>
            </a:r>
            <a:r>
              <a:rPr dirty="0"/>
              <a:t>, </a:t>
            </a:r>
            <a:r>
              <a:rPr dirty="0" err="1"/>
              <a:t>industria</a:t>
            </a:r>
            <a:r>
              <a:rPr dirty="0"/>
              <a:t> Yumbo-</a:t>
            </a:r>
            <a:r>
              <a:rPr dirty="0" err="1"/>
              <a:t>Acopi</a:t>
            </a:r>
            <a:r>
              <a:rPr dirty="0"/>
              <a:t>, </a:t>
            </a:r>
            <a:r>
              <a:rPr dirty="0" err="1"/>
              <a:t>quemas</a:t>
            </a:r>
            <a:r>
              <a:rPr dirty="0"/>
              <a:t> de </a:t>
            </a:r>
            <a:r>
              <a:rPr dirty="0" err="1"/>
              <a:t>cana</a:t>
            </a:r>
            <a:endParaRPr dirty="0"/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Calibri"/>
              </a:defRPr>
            </a:pPr>
            <a:r>
              <a:rPr dirty="0"/>
              <a:t>  </a:t>
            </a:r>
            <a:r>
              <a:rPr dirty="0" err="1"/>
              <a:t>Resolucion</a:t>
            </a:r>
            <a:r>
              <a:rPr dirty="0"/>
              <a:t> 2254/2017: </a:t>
            </a:r>
            <a:r>
              <a:rPr dirty="0" err="1"/>
              <a:t>niveles</a:t>
            </a:r>
            <a:r>
              <a:rPr dirty="0"/>
              <a:t> </a:t>
            </a:r>
            <a:r>
              <a:rPr dirty="0" err="1"/>
              <a:t>maximos</a:t>
            </a:r>
            <a:r>
              <a:rPr dirty="0"/>
              <a:t> </a:t>
            </a:r>
            <a:r>
              <a:rPr dirty="0" err="1"/>
              <a:t>permisibles</a:t>
            </a:r>
            <a:r>
              <a:rPr dirty="0"/>
              <a:t> NO2, SO2, O3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Calibri"/>
              </a:defRPr>
            </a:pPr>
            <a:r>
              <a:rPr dirty="0"/>
              <a:t>  Red DAGMA: solo 9 </a:t>
            </a:r>
            <a:r>
              <a:rPr dirty="0" err="1"/>
              <a:t>estaciones</a:t>
            </a:r>
            <a:r>
              <a:rPr dirty="0"/>
              <a:t>  </a:t>
            </a:r>
            <a:r>
              <a:rPr dirty="0" err="1"/>
              <a:t>cobertura</a:t>
            </a:r>
            <a:r>
              <a:rPr dirty="0"/>
              <a:t> </a:t>
            </a:r>
            <a:r>
              <a:rPr dirty="0" err="1"/>
              <a:t>espacial</a:t>
            </a:r>
            <a:r>
              <a:rPr dirty="0"/>
              <a:t> </a:t>
            </a:r>
            <a:r>
              <a:rPr dirty="0" err="1"/>
              <a:t>insuficiente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6400800" y="12801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Calibri"/>
              </a:defRPr>
            </a:pPr>
            <a:r>
              <a:rPr dirty="0"/>
              <a:t>La </a:t>
            </a:r>
            <a:r>
              <a:rPr dirty="0" err="1"/>
              <a:t>brecha</a:t>
            </a:r>
            <a:r>
              <a:rPr dirty="0"/>
              <a:t> </a:t>
            </a:r>
            <a:r>
              <a:rPr dirty="0" err="1"/>
              <a:t>satelital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6400800" y="16459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Calibri"/>
              </a:defRPr>
            </a:pPr>
            <a:r>
              <a:rPr dirty="0"/>
              <a:t>  Sentinel-5P TROPOMI: gases </a:t>
            </a:r>
            <a:r>
              <a:rPr dirty="0" err="1"/>
              <a:t>traza</a:t>
            </a:r>
            <a:r>
              <a:rPr dirty="0"/>
              <a:t>, ~3.5x5.5 km  no </a:t>
            </a:r>
            <a:r>
              <a:rPr dirty="0" err="1"/>
              <a:t>ve</a:t>
            </a:r>
            <a:r>
              <a:rPr dirty="0"/>
              <a:t> barrios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Calibri"/>
              </a:defRPr>
            </a:pPr>
            <a:r>
              <a:rPr dirty="0"/>
              <a:t>  Sentinel-2 MSI: 10 m </a:t>
            </a:r>
            <a:r>
              <a:rPr dirty="0" err="1"/>
              <a:t>resolucion</a:t>
            </a:r>
            <a:r>
              <a:rPr dirty="0"/>
              <a:t>, </a:t>
            </a:r>
            <a:r>
              <a:rPr dirty="0" err="1"/>
              <a:t>pero</a:t>
            </a:r>
            <a:r>
              <a:rPr dirty="0"/>
              <a:t> NO </a:t>
            </a:r>
            <a:r>
              <a:rPr dirty="0" err="1"/>
              <a:t>mide</a:t>
            </a:r>
            <a:r>
              <a:rPr dirty="0"/>
              <a:t> gases </a:t>
            </a:r>
            <a:r>
              <a:rPr dirty="0" err="1"/>
              <a:t>directamente</a:t>
            </a:r>
            <a:endParaRPr dirty="0"/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Calibri"/>
              </a:defRPr>
            </a:pPr>
            <a:r>
              <a:rPr dirty="0"/>
              <a:t>  </a:t>
            </a:r>
            <a:r>
              <a:rPr dirty="0" err="1"/>
              <a:t>Hipotesis</a:t>
            </a:r>
            <a:r>
              <a:rPr dirty="0"/>
              <a:t>: </a:t>
            </a:r>
            <a:r>
              <a:rPr dirty="0" err="1"/>
              <a:t>fusionar</a:t>
            </a:r>
            <a:r>
              <a:rPr dirty="0"/>
              <a:t> S2 (</a:t>
            </a:r>
            <a:r>
              <a:rPr dirty="0" err="1"/>
              <a:t>contexto</a:t>
            </a:r>
            <a:r>
              <a:rPr dirty="0"/>
              <a:t>) + S5P (</a:t>
            </a:r>
            <a:r>
              <a:rPr dirty="0" err="1"/>
              <a:t>etiqueta</a:t>
            </a:r>
            <a:r>
              <a:rPr dirty="0"/>
              <a:t>) via CLIP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Calibri"/>
              </a:defRPr>
            </a:pPr>
            <a:r>
              <a:rPr dirty="0"/>
              <a:t>  Downscaling </a:t>
            </a:r>
            <a:r>
              <a:rPr dirty="0" err="1"/>
              <a:t>estadistico</a:t>
            </a:r>
            <a:r>
              <a:rPr dirty="0"/>
              <a:t>: de 5.5 km a 10 m de </a:t>
            </a:r>
            <a:r>
              <a:rPr dirty="0" err="1"/>
              <a:t>resolucion</a:t>
            </a:r>
            <a:r>
              <a:rPr dirty="0"/>
              <a:t> </a:t>
            </a:r>
            <a:r>
              <a:rPr dirty="0" err="1"/>
              <a:t>efectiva</a:t>
            </a:r>
            <a:endParaRPr dirty="0"/>
          </a:p>
        </p:txBody>
      </p:sp>
      <p:sp>
        <p:nvSpPr>
          <p:cNvPr id="11" name="Rectangle 10"/>
          <p:cNvSpPr/>
          <p:nvPr/>
        </p:nvSpPr>
        <p:spPr>
          <a:xfrm>
            <a:off x="914400" y="4114800"/>
            <a:ext cx="10332720" cy="914400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400" y="4114800"/>
            <a:ext cx="76200" cy="9144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4160520"/>
            <a:ext cx="9784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rPr dirty="0"/>
              <a:t>Podemos </a:t>
            </a:r>
            <a:r>
              <a:rPr dirty="0" err="1"/>
              <a:t>estimar</a:t>
            </a:r>
            <a:r>
              <a:rPr dirty="0"/>
              <a:t> NO2, SO2 y O3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cualquier</a:t>
            </a:r>
            <a:r>
              <a:rPr dirty="0"/>
              <a:t> (</a:t>
            </a:r>
            <a:r>
              <a:rPr dirty="0" err="1"/>
              <a:t>lat</a:t>
            </a:r>
            <a:r>
              <a:rPr dirty="0"/>
              <a:t>, </a:t>
            </a:r>
            <a:r>
              <a:rPr dirty="0" err="1"/>
              <a:t>lon</a:t>
            </a:r>
            <a:r>
              <a:rPr dirty="0"/>
              <a:t>) de Cali...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526280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9DFF"/>
                </a:solidFill>
                <a:latin typeface="Calibri"/>
              </a:defRPr>
            </a:pPr>
            <a:r>
              <a:rPr dirty="0"/>
              <a:t>...con </a:t>
            </a:r>
            <a:r>
              <a:rPr dirty="0" err="1"/>
              <a:t>incertidumbre</a:t>
            </a:r>
            <a:r>
              <a:rPr dirty="0"/>
              <a:t> </a:t>
            </a:r>
            <a:r>
              <a:rPr dirty="0" err="1"/>
              <a:t>cuantificada</a:t>
            </a:r>
            <a:r>
              <a:rPr dirty="0"/>
              <a:t>, </a:t>
            </a:r>
            <a:r>
              <a:rPr dirty="0" err="1"/>
              <a:t>usando</a:t>
            </a:r>
            <a:r>
              <a:rPr dirty="0"/>
              <a:t> solo </a:t>
            </a:r>
            <a:r>
              <a:rPr dirty="0" err="1"/>
              <a:t>satelites</a:t>
            </a:r>
            <a:r>
              <a:rPr dirty="0"/>
              <a:t> </a:t>
            </a:r>
            <a:r>
              <a:rPr dirty="0" err="1"/>
              <a:t>gratuitos</a:t>
            </a:r>
            <a:r>
              <a:rPr dirty="0"/>
              <a:t> y 9 </a:t>
            </a:r>
            <a:r>
              <a:rPr dirty="0" err="1"/>
              <a:t>estaciones</a:t>
            </a:r>
            <a:r>
              <a:rPr dirty="0"/>
              <a:t> de </a:t>
            </a:r>
            <a:r>
              <a:rPr dirty="0" err="1"/>
              <a:t>validacion</a:t>
            </a:r>
            <a:r>
              <a:rPr dirty="0"/>
              <a:t>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0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9D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rPr dirty="0" err="1"/>
              <a:t>Arquitectura</a:t>
            </a:r>
            <a:r>
              <a:rPr dirty="0"/>
              <a:t> del Proyecto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88"/>
                </a:solidFill>
                <a:latin typeface="Calibri"/>
              </a:defRPr>
            </a:pPr>
            <a:r>
              <a:rPr dirty="0"/>
              <a:t>3 </a:t>
            </a:r>
            <a:r>
              <a:rPr dirty="0" err="1"/>
              <a:t>situaciones</a:t>
            </a:r>
            <a:r>
              <a:rPr dirty="0"/>
              <a:t> </a:t>
            </a:r>
            <a:r>
              <a:rPr dirty="0" err="1"/>
              <a:t>secuenciales</a:t>
            </a:r>
            <a:r>
              <a:rPr dirty="0"/>
              <a:t>  Pesos: 20% + 20% + 30% + 10% + 10% + 10%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11064240" cy="25400"/>
          </a:xfrm>
          <a:prstGeom prst="rect">
            <a:avLst/>
          </a:prstGeom>
          <a:solidFill>
            <a:srgbClr val="22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3611880" cy="4754880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3611880" cy="76200"/>
          </a:xfrm>
          <a:prstGeom prst="rect">
            <a:avLst/>
          </a:prstGeom>
          <a:solidFill>
            <a:srgbClr val="00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4173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DFF"/>
                </a:solidFill>
                <a:latin typeface="Calibri"/>
              </a:defRPr>
            </a:pPr>
            <a:r>
              <a:rPr dirty="0"/>
              <a:t>SIT. 1  PANEL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916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alibri"/>
              </a:defRPr>
            </a:pPr>
            <a:r>
              <a:t>Panel espacio-temporal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34640" y="1417320"/>
            <a:ext cx="1005840" cy="256032"/>
          </a:xfrm>
          <a:prstGeom prst="rect">
            <a:avLst/>
          </a:prstGeom>
          <a:solidFill>
            <a:srgbClr val="00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34640" y="141732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20%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28600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rPr dirty="0"/>
              <a:t>  Panel &gt;50 GB multi-</a:t>
            </a:r>
            <a:r>
              <a:rPr dirty="0" err="1"/>
              <a:t>fuente</a:t>
            </a:r>
            <a:r>
              <a:rPr dirty="0"/>
              <a:t> (7 </a:t>
            </a:r>
            <a:r>
              <a:rPr dirty="0" err="1"/>
              <a:t>fuentes</a:t>
            </a:r>
            <a:r>
              <a:rPr dirty="0"/>
              <a:t>)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rPr dirty="0"/>
              <a:t>  Pipeline ETL </a:t>
            </a:r>
            <a:r>
              <a:rPr dirty="0" err="1"/>
              <a:t>distribuido</a:t>
            </a:r>
            <a:r>
              <a:rPr dirty="0"/>
              <a:t> con </a:t>
            </a:r>
            <a:r>
              <a:rPr dirty="0" err="1"/>
              <a:t>Dask</a:t>
            </a:r>
            <a:endParaRPr dirty="0"/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rPr dirty="0"/>
              <a:t>  Zarr chunked + Parquet </a:t>
            </a:r>
            <a:r>
              <a:rPr dirty="0" err="1"/>
              <a:t>en</a:t>
            </a:r>
            <a:r>
              <a:rPr dirty="0"/>
              <a:t> GCS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rPr dirty="0"/>
              <a:t>  Manifest JSON con hashes MD5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rPr dirty="0"/>
              <a:t>  EDA </a:t>
            </a:r>
            <a:r>
              <a:rPr dirty="0" err="1"/>
              <a:t>exhaustivo</a:t>
            </a:r>
            <a:r>
              <a:rPr dirty="0"/>
              <a:t> (5 notebooks)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rPr dirty="0"/>
              <a:t>  COMPLETADO  66.78 GB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280160"/>
            <a:ext cx="3611880" cy="4754880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97680" y="1280160"/>
            <a:ext cx="3611880" cy="762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34840" y="14173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76"/>
                </a:solidFill>
                <a:latin typeface="Calibri"/>
              </a:defRPr>
            </a:pPr>
            <a:r>
              <a:rPr dirty="0"/>
              <a:t>SIT. 2  CLIP+SAE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16916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alibri"/>
              </a:defRPr>
            </a:pPr>
            <a:r>
              <a:t>Aprendizaje multimodal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1417320"/>
            <a:ext cx="1005840" cy="256032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75120" y="141732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20%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28600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rPr dirty="0"/>
              <a:t>  Dataset 2,276 pares imagen-</a:t>
            </a:r>
            <a:r>
              <a:rPr dirty="0" err="1"/>
              <a:t>texto</a:t>
            </a:r>
            <a:endParaRPr dirty="0"/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rPr dirty="0"/>
              <a:t>  </a:t>
            </a:r>
            <a:r>
              <a:rPr dirty="0" err="1"/>
              <a:t>RemoteCLIP</a:t>
            </a:r>
            <a:r>
              <a:rPr dirty="0"/>
              <a:t> </a:t>
            </a:r>
            <a:r>
              <a:rPr dirty="0" err="1"/>
              <a:t>ViT</a:t>
            </a:r>
            <a:r>
              <a:rPr dirty="0"/>
              <a:t>-B/32 + </a:t>
            </a:r>
            <a:r>
              <a:rPr dirty="0" err="1"/>
              <a:t>MiniLM</a:t>
            </a:r>
            <a:endParaRPr dirty="0"/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rPr dirty="0"/>
              <a:t>  Sparse Autoencoders (SAE)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rPr dirty="0"/>
              <a:t>  </a:t>
            </a:r>
            <a:r>
              <a:rPr dirty="0" err="1"/>
              <a:t>InfoNCE</a:t>
            </a:r>
            <a:r>
              <a:rPr dirty="0"/>
              <a:t> + </a:t>
            </a:r>
            <a:r>
              <a:rPr dirty="0" err="1"/>
              <a:t>regularizacion</a:t>
            </a:r>
            <a:r>
              <a:rPr dirty="0"/>
              <a:t> L1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rPr dirty="0"/>
              <a:t>  </a:t>
            </a:r>
            <a:r>
              <a:rPr dirty="0" err="1"/>
              <a:t>Validacion</a:t>
            </a:r>
            <a:r>
              <a:rPr dirty="0"/>
              <a:t> AFE + AFC </a:t>
            </a:r>
            <a:r>
              <a:rPr dirty="0" err="1"/>
              <a:t>psicometrica</a:t>
            </a:r>
            <a:endParaRPr dirty="0"/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rPr dirty="0"/>
              <a:t>  EN ENTRENAMIENTO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1280160"/>
            <a:ext cx="3611880" cy="4754880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138160" y="1280160"/>
            <a:ext cx="3611880" cy="762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75320" y="14173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  <a:latin typeface="Calibri"/>
              </a:defRPr>
            </a:pPr>
            <a:r>
              <a:rPr dirty="0"/>
              <a:t>SIT. 3  KRIGING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16916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alibri"/>
              </a:defRPr>
            </a:pPr>
            <a:r>
              <a:t>Prediccion geoestadistica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515600" y="1417320"/>
            <a:ext cx="1005840" cy="25603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515600" y="141732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30%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228600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rPr dirty="0"/>
              <a:t>  </a:t>
            </a:r>
            <a:r>
              <a:rPr dirty="0" err="1"/>
              <a:t>ConvLSTM</a:t>
            </a:r>
            <a:r>
              <a:rPr dirty="0"/>
              <a:t> </a:t>
            </a:r>
            <a:r>
              <a:rPr dirty="0" err="1"/>
              <a:t>bidireccional</a:t>
            </a:r>
            <a:r>
              <a:rPr dirty="0"/>
              <a:t> (8 </a:t>
            </a:r>
            <a:r>
              <a:rPr dirty="0" err="1"/>
              <a:t>fechas</a:t>
            </a:r>
            <a:r>
              <a:rPr dirty="0"/>
              <a:t>)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rPr dirty="0"/>
              <a:t>  </a:t>
            </a:r>
            <a:r>
              <a:rPr dirty="0" err="1"/>
              <a:t>Variograma</a:t>
            </a:r>
            <a:r>
              <a:rPr dirty="0"/>
              <a:t> </a:t>
            </a:r>
            <a:r>
              <a:rPr dirty="0" err="1"/>
              <a:t>espacio</a:t>
            </a:r>
            <a:r>
              <a:rPr dirty="0"/>
              <a:t>-temporal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rPr dirty="0"/>
              <a:t>  ST-Kriging  </a:t>
            </a:r>
            <a:r>
              <a:rPr dirty="0" err="1"/>
              <a:t>superficie</a:t>
            </a:r>
            <a:r>
              <a:rPr dirty="0"/>
              <a:t> continua + s2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rPr dirty="0"/>
              <a:t>  LOO-CV vs 9 </a:t>
            </a:r>
            <a:r>
              <a:rPr dirty="0" err="1"/>
              <a:t>estaciones</a:t>
            </a:r>
            <a:r>
              <a:rPr dirty="0"/>
              <a:t> DAGMA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rPr dirty="0"/>
              <a:t>  Moran I + LISA + </a:t>
            </a:r>
            <a:r>
              <a:rPr dirty="0" err="1"/>
              <a:t>mapas</a:t>
            </a:r>
            <a:r>
              <a:rPr dirty="0"/>
              <a:t> de clusters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rPr dirty="0"/>
              <a:t>  PENDIENTE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0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9D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Stack Tecnologico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88"/>
                </a:solidFill>
                <a:latin typeface="Calibri"/>
              </a:defRPr>
            </a:pPr>
            <a:r>
              <a:t>Herramientas por capa del proyecto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11064240" cy="25400"/>
          </a:xfrm>
          <a:prstGeom prst="rect">
            <a:avLst/>
          </a:prstGeom>
          <a:solidFill>
            <a:srgbClr val="22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3611880" cy="2286000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63500" cy="2286000"/>
          </a:xfrm>
          <a:prstGeom prst="rect">
            <a:avLst/>
          </a:prstGeom>
          <a:solidFill>
            <a:srgbClr val="00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371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DFF"/>
                </a:solidFill>
                <a:latin typeface="Calibri"/>
              </a:defRPr>
            </a:pPr>
            <a:r>
              <a:t>Almacenamiento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6916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alibri"/>
              </a:defRPr>
            </a:pPr>
            <a:r>
              <a:t>Google Cloud Storage (GCS)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9842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alibri"/>
              </a:defRPr>
            </a:pPr>
            <a:r>
              <a:t>Zarr (cubos N-D chunked)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27685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alibri"/>
              </a:defRPr>
            </a:pPr>
            <a:r>
              <a:t>Parquet particionado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6946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alibri"/>
              </a:defRPr>
            </a:pPr>
            <a:r>
              <a:t>GeoTIFF (raw)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280160"/>
            <a:ext cx="3611880" cy="2286000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97680" y="1280160"/>
            <a:ext cx="63500" cy="22860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80560" y="1371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Calibri"/>
              </a:defRPr>
            </a:pPr>
            <a:r>
              <a:t>ETL Distribuido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16916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alibri"/>
              </a:defRPr>
            </a:pPr>
            <a:r>
              <a:t>Dask Distributed (4wx2t, 8GB)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19842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alibri"/>
              </a:defRPr>
            </a:pPr>
            <a:r>
              <a:t>Xarray + xee (GEE bridge)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227685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alibri"/>
              </a:defRPr>
            </a:pPr>
            <a:r>
              <a:t>Google Earth Engine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256946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alibri"/>
              </a:defRPr>
            </a:pPr>
            <a:r>
              <a:t>ThreadPoolExecutor (Zarr)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1280160"/>
            <a:ext cx="3611880" cy="2286000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138160" y="1280160"/>
            <a:ext cx="63500" cy="2286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21040" y="1371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Calibri"/>
              </a:defRPr>
            </a:pPr>
            <a:r>
              <a:t>Deep Learning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16916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alibri"/>
              </a:defRPr>
            </a:pPr>
            <a:r>
              <a:t>PyTorch 2.1+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19842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alibri"/>
              </a:defRPr>
            </a:pPr>
            <a:r>
              <a:t>PyTorch Lightning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227685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alibri"/>
              </a:defRPr>
            </a:pPr>
            <a:r>
              <a:t>open-clip (RemoteCLIP)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256946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alibri"/>
              </a:defRPr>
            </a:pPr>
            <a:r>
              <a:t>Transformers (MiniLM)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28620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alibri"/>
              </a:defRPr>
            </a:pPr>
            <a:r>
              <a:t>LoRA (PEFT adapters)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840480"/>
            <a:ext cx="3611880" cy="2286000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57200" y="3840480"/>
            <a:ext cx="63500" cy="2286000"/>
          </a:xfrm>
          <a:prstGeom prst="rect">
            <a:avLst/>
          </a:prstGeom>
          <a:solidFill>
            <a:srgbClr val="FF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" y="3931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3D5A"/>
                </a:solidFill>
                <a:latin typeface="Calibri"/>
              </a:defRPr>
            </a:pPr>
            <a:r>
              <a:t>Geoestadistica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251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alibri"/>
              </a:defRPr>
            </a:pPr>
            <a:r>
              <a:t>PyKrige (OK3D)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45445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alibri"/>
              </a:defRPr>
            </a:pPr>
            <a:r>
              <a:t>PySAL (esda.Moran)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483717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alibri"/>
              </a:defRPr>
            </a:pPr>
            <a:r>
              <a:t>GeoPandas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12978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alibri"/>
              </a:defRPr>
            </a:pPr>
            <a:r>
              <a:t>scikit-learn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4223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alibri"/>
              </a:defRPr>
            </a:pPr>
            <a:r>
              <a:t>factor-analyzer + semopy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97680" y="3840480"/>
            <a:ext cx="3611880" cy="2286000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297680" y="3840480"/>
            <a:ext cx="63500" cy="2286000"/>
          </a:xfrm>
          <a:prstGeom prst="rect">
            <a:avLst/>
          </a:prstGeom>
          <a:solidFill>
            <a:srgbClr val="A8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480560" y="3931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85DFF"/>
                </a:solidFill>
                <a:latin typeface="Calibri"/>
              </a:defRPr>
            </a:pPr>
            <a:r>
              <a:t>Backend / API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80560" y="4251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alibri"/>
              </a:defRPr>
            </a:pPr>
            <a:r>
              <a:t>FastAPI + Uvicorn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80560" y="45445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alibri"/>
              </a:defRPr>
            </a:pPr>
            <a:r>
              <a:t>Python 3.10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80560" y="483717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alibri"/>
              </a:defRPr>
            </a:pPr>
            <a:r>
              <a:t>Docker multi-stage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80560" y="512978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alibri"/>
              </a:defRPr>
            </a:pPr>
            <a:r>
              <a:t>HuggingFace Hub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138160" y="3840480"/>
            <a:ext cx="3611880" cy="2286000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8138160" y="3840480"/>
            <a:ext cx="63500" cy="2286000"/>
          </a:xfrm>
          <a:prstGeom prst="rect">
            <a:avLst/>
          </a:prstGeom>
          <a:solidFill>
            <a:srgbClr val="0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321040" y="3931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0E0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21040" y="4251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alibri"/>
              </a:defRPr>
            </a:pPr>
            <a:r>
              <a:t>Next.js 16 + React 19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45445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alibri"/>
              </a:defRPr>
            </a:pPr>
            <a:r>
              <a:t>Leaflet / React-Leaflet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21040" y="483717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alibri"/>
              </a:defRPr>
            </a:pPr>
            <a:r>
              <a:t>TypeScript + Tailwind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21040" y="512978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alibri"/>
              </a:defRPr>
            </a:pPr>
            <a:r>
              <a:t>Zustand + React Query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21040" y="54223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alibri"/>
              </a:defRPr>
            </a:pPr>
            <a:r>
              <a:t>Modo oscuro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0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9D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rPr dirty="0"/>
              <a:t>Pipeline ETL: Vision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88"/>
                </a:solidFill>
                <a:latin typeface="Calibri"/>
              </a:defRPr>
            </a:pPr>
            <a:r>
              <a:rPr dirty="0"/>
              <a:t>11 </a:t>
            </a:r>
            <a:r>
              <a:rPr dirty="0" err="1"/>
              <a:t>modulos</a:t>
            </a:r>
            <a:r>
              <a:rPr dirty="0"/>
              <a:t>  6 </a:t>
            </a:r>
            <a:r>
              <a:rPr dirty="0" err="1"/>
              <a:t>fuentes</a:t>
            </a:r>
            <a:r>
              <a:rPr dirty="0"/>
              <a:t> </a:t>
            </a:r>
            <a:r>
              <a:rPr dirty="0" err="1"/>
              <a:t>satelitales</a:t>
            </a:r>
            <a:r>
              <a:rPr dirty="0"/>
              <a:t>  28 </a:t>
            </a:r>
            <a:r>
              <a:rPr dirty="0" err="1"/>
              <a:t>ejecuciones</a:t>
            </a:r>
            <a:r>
              <a:rPr dirty="0"/>
              <a:t> </a:t>
            </a:r>
            <a:r>
              <a:rPr dirty="0" err="1"/>
              <a:t>trazadas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11064240" cy="25400"/>
          </a:xfrm>
          <a:prstGeom prst="rect">
            <a:avLst/>
          </a:prstGeom>
          <a:solidFill>
            <a:srgbClr val="22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1783080" cy="1097280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1783080" cy="50800"/>
          </a:xfrm>
          <a:prstGeom prst="rect">
            <a:avLst/>
          </a:prstGeom>
          <a:solidFill>
            <a:srgbClr val="00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7472" y="144475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9DFF"/>
                </a:solidFill>
                <a:latin typeface="Calibri"/>
              </a:defRPr>
            </a:pPr>
            <a:r>
              <a:t>config.py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1737360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BBBBCC"/>
                </a:solidFill>
                <a:latin typeface="Calibri"/>
              </a:defRPr>
            </a:pPr>
            <a:r>
              <a:t>Config central</a:t>
            </a:r>
            <a:br/>
            <a:r>
              <a:t>BBOX, fuentes, Dask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16459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66688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40280" y="1371600"/>
            <a:ext cx="1783080" cy="1097280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240280" y="1371600"/>
            <a:ext cx="1783080" cy="508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313432" y="144475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E676"/>
                </a:solidFill>
                <a:latin typeface="Calibri"/>
              </a:defRPr>
            </a:pPr>
            <a:r>
              <a:t>exportar.py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13432" y="1737360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BBBBCC"/>
                </a:solidFill>
                <a:latin typeface="Calibri"/>
              </a:defRPr>
            </a:pPr>
            <a:r>
              <a:t>Dask: GEE  GCS</a:t>
            </a:r>
            <a:br/>
            <a:r>
              <a:t>MD5 inline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16459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66688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0" y="1371600"/>
            <a:ext cx="1783080" cy="1097280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206240" y="1371600"/>
            <a:ext cx="1783080" cy="50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279392" y="144475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8C00"/>
                </a:solidFill>
                <a:latin typeface="Calibri"/>
              </a:defRPr>
            </a:pPr>
            <a:r>
              <a:t>convertir_zarr.py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79392" y="1737360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BBBBCC"/>
                </a:solidFill>
                <a:latin typeface="Calibri"/>
              </a:defRPr>
            </a:pPr>
            <a:r>
              <a:t>GeoTIFF  Zarr 4D</a:t>
            </a:r>
            <a:br/>
            <a:r>
              <a:t>ThreadPoolExecutor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16459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66688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1371600"/>
            <a:ext cx="1783080" cy="1097280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72200" y="1371600"/>
            <a:ext cx="1783080" cy="50800"/>
          </a:xfrm>
          <a:prstGeom prst="rect">
            <a:avLst/>
          </a:prstGeom>
          <a:solidFill>
            <a:srgbClr val="FF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45352" y="144475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3D5A"/>
                </a:solidFill>
                <a:latin typeface="Calibri"/>
              </a:defRPr>
            </a:pPr>
            <a:r>
              <a:t>validar_zarr.py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45352" y="1737360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BBBBCC"/>
                </a:solidFill>
                <a:latin typeface="Calibri"/>
              </a:defRPr>
            </a:pPr>
            <a:r>
              <a:t>Integridad:</a:t>
            </a:r>
            <a:br/>
            <a:r>
              <a:t>shape, %NaN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80" y="16459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66688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60" y="1371600"/>
            <a:ext cx="1783080" cy="1097280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138160" y="1371600"/>
            <a:ext cx="1783080" cy="50800"/>
          </a:xfrm>
          <a:prstGeom prst="rect">
            <a:avLst/>
          </a:prstGeom>
          <a:solidFill>
            <a:srgbClr val="A8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11312" y="144475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A85DFF"/>
                </a:solidFill>
                <a:latin typeface="Calibri"/>
              </a:defRPr>
            </a:pPr>
            <a:r>
              <a:t>manifest.py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11312" y="1737360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BBBBCC"/>
                </a:solidFill>
                <a:latin typeface="Calibri"/>
              </a:defRPr>
            </a:pPr>
            <a:r>
              <a:t>Manifest global</a:t>
            </a:r>
            <a:br/>
            <a:r>
              <a:t>MD5 consolidado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21240" y="16459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66688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104120" y="1371600"/>
            <a:ext cx="1783080" cy="1097280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0104120" y="1371600"/>
            <a:ext cx="1783080" cy="50800"/>
          </a:xfrm>
          <a:prstGeom prst="rect">
            <a:avLst/>
          </a:prstGeom>
          <a:solidFill>
            <a:srgbClr val="0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177272" y="144475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E0E0"/>
                </a:solidFill>
                <a:latin typeface="Calibri"/>
              </a:defRPr>
            </a:pPr>
            <a:r>
              <a:t>generar_dataset</a:t>
            </a:r>
            <a:br/>
            <a:r>
              <a:t>_sit2_v2.py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77272" y="1737360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BBBBCC"/>
                </a:solidFill>
                <a:latin typeface="Calibri"/>
              </a:defRPr>
            </a:pPr>
            <a:r>
              <a:t>Pares img-txt</a:t>
            </a:r>
            <a:br/>
            <a:r>
              <a:t>Split 70/15/15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27432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DFF"/>
                </a:solidFill>
                <a:latin typeface="Calibri"/>
              </a:defRPr>
            </a:pPr>
            <a:r>
              <a:rPr dirty="0" err="1"/>
              <a:t>Modulos</a:t>
            </a:r>
            <a:r>
              <a:rPr dirty="0"/>
              <a:t> de </a:t>
            </a:r>
            <a:r>
              <a:rPr dirty="0" err="1"/>
              <a:t>soporte</a:t>
            </a:r>
            <a:endParaRPr dirty="0"/>
          </a:p>
        </p:txBody>
      </p:sp>
      <p:sp>
        <p:nvSpPr>
          <p:cNvPr id="37" name="TextBox 36"/>
          <p:cNvSpPr txBox="1"/>
          <p:nvPr/>
        </p:nvSpPr>
        <p:spPr>
          <a:xfrm>
            <a:off x="731520" y="31089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rPr dirty="0"/>
              <a:t>  trazabilidad/sistema.py  Run context manager, </a:t>
            </a:r>
            <a:r>
              <a:rPr dirty="0" err="1"/>
              <a:t>eventos</a:t>
            </a:r>
            <a:r>
              <a:rPr dirty="0"/>
              <a:t> JSONL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rPr dirty="0"/>
              <a:t>  trazabilidad/dask_plugin.py  forwarding de logs workers  </a:t>
            </a:r>
            <a:r>
              <a:rPr dirty="0" err="1"/>
              <a:t>cliente</a:t>
            </a:r>
            <a:endParaRPr dirty="0"/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rPr dirty="0"/>
              <a:t>  silenciar_warnings.py  </a:t>
            </a:r>
            <a:r>
              <a:rPr dirty="0" err="1"/>
              <a:t>suprime</a:t>
            </a:r>
            <a:r>
              <a:rPr dirty="0"/>
              <a:t> warnings de GDAL, </a:t>
            </a:r>
            <a:r>
              <a:rPr dirty="0" err="1"/>
              <a:t>GCloud</a:t>
            </a:r>
            <a:r>
              <a:rPr dirty="0"/>
              <a:t>, etc.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rPr dirty="0"/>
              <a:t>  publicar_hf.py  </a:t>
            </a:r>
            <a:r>
              <a:rPr dirty="0" err="1"/>
              <a:t>subir</a:t>
            </a:r>
            <a:r>
              <a:rPr dirty="0"/>
              <a:t>/</a:t>
            </a:r>
            <a:r>
              <a:rPr dirty="0" err="1"/>
              <a:t>descargar</a:t>
            </a:r>
            <a:r>
              <a:rPr dirty="0"/>
              <a:t> </a:t>
            </a:r>
            <a:r>
              <a:rPr dirty="0" err="1"/>
              <a:t>desde</a:t>
            </a:r>
            <a:r>
              <a:rPr dirty="0"/>
              <a:t> </a:t>
            </a:r>
            <a:r>
              <a:rPr dirty="0" err="1"/>
              <a:t>HuggingFace</a:t>
            </a:r>
            <a:r>
              <a:rPr dirty="0"/>
              <a:t> Hub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rPr dirty="0"/>
              <a:t>  preparar_covariables_convlstm.py  features para Sit. 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27432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Calibri"/>
              </a:defRPr>
            </a:pPr>
            <a:r>
              <a:rPr dirty="0" err="1"/>
              <a:t>Ejecuciones</a:t>
            </a:r>
            <a:r>
              <a:rPr dirty="0"/>
              <a:t> </a:t>
            </a:r>
            <a:r>
              <a:rPr dirty="0" err="1"/>
              <a:t>registradas</a:t>
            </a:r>
            <a:r>
              <a:rPr dirty="0"/>
              <a:t> (runs/)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310896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rPr dirty="0"/>
              <a:t>  28 </a:t>
            </a:r>
            <a:r>
              <a:rPr dirty="0" err="1"/>
              <a:t>directorios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runs/ con timestamp UTC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rPr dirty="0"/>
              <a:t>  Cada run: log.txt + </a:t>
            </a:r>
            <a:r>
              <a:rPr dirty="0" err="1"/>
              <a:t>eventos.jsonl</a:t>
            </a:r>
            <a:r>
              <a:rPr dirty="0"/>
              <a:t> + </a:t>
            </a:r>
            <a:r>
              <a:rPr dirty="0" err="1"/>
              <a:t>system.json</a:t>
            </a:r>
            <a:endParaRPr dirty="0"/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rPr dirty="0"/>
              <a:t>  </a:t>
            </a:r>
            <a:r>
              <a:rPr dirty="0" err="1"/>
              <a:t>Exportar</a:t>
            </a:r>
            <a:r>
              <a:rPr dirty="0"/>
              <a:t>: 14 </a:t>
            </a:r>
            <a:r>
              <a:rPr dirty="0" err="1"/>
              <a:t>ejecuciones</a:t>
            </a:r>
            <a:r>
              <a:rPr dirty="0"/>
              <a:t> (S2, S5P, ERA5, MODIS)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rPr dirty="0"/>
              <a:t>  Dataset Sit2 v1/v2: 10 </a:t>
            </a:r>
            <a:r>
              <a:rPr dirty="0" err="1"/>
              <a:t>ejecuciones</a:t>
            </a:r>
            <a:endParaRPr dirty="0"/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rPr dirty="0"/>
              <a:t>  Validar Zarr: 2 </a:t>
            </a:r>
            <a:r>
              <a:rPr dirty="0" err="1"/>
              <a:t>ejecuciones</a:t>
            </a:r>
            <a:endParaRPr dirty="0"/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rPr dirty="0"/>
              <a:t>  </a:t>
            </a:r>
            <a:r>
              <a:rPr dirty="0" err="1"/>
              <a:t>Publicar</a:t>
            </a:r>
            <a:r>
              <a:rPr dirty="0"/>
              <a:t> HF: 2 </a:t>
            </a:r>
            <a:r>
              <a:rPr dirty="0" err="1"/>
              <a:t>ejecuciones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0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9D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rPr dirty="0"/>
              <a:t>config.py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88"/>
                </a:solidFill>
                <a:latin typeface="Calibri"/>
              </a:defRPr>
            </a:pPr>
            <a:r>
              <a:t>Configuracion central del pipeline (112 lineas)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11064240" cy="25400"/>
          </a:xfrm>
          <a:prstGeom prst="rect">
            <a:avLst/>
          </a:prstGeom>
          <a:solidFill>
            <a:srgbClr val="22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DFF"/>
                </a:solidFill>
                <a:latin typeface="Calibri"/>
              </a:defRPr>
            </a:pPr>
            <a:r>
              <a:rPr dirty="0" err="1"/>
              <a:t>Constantes</a:t>
            </a:r>
            <a:r>
              <a:rPr dirty="0"/>
              <a:t> </a:t>
            </a:r>
            <a:r>
              <a:rPr dirty="0" err="1"/>
              <a:t>globales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00E0E0"/>
                </a:solidFill>
                <a:latin typeface="Calibri"/>
              </a:defRPr>
            </a:pPr>
            <a:r>
              <a:rPr dirty="0"/>
              <a:t>PROJECT_GEE = 'proyecto3ia-494900'</a:t>
            </a:r>
          </a:p>
          <a:p>
            <a:pPr>
              <a:spcAft>
                <a:spcPts val="200"/>
              </a:spcAft>
              <a:defRPr sz="1000">
                <a:solidFill>
                  <a:srgbClr val="00E0E0"/>
                </a:solidFill>
                <a:latin typeface="Calibri"/>
              </a:defRPr>
            </a:pPr>
            <a:r>
              <a:rPr dirty="0"/>
              <a:t>PROJECT_GCP = 'proyecto3ia-494900'</a:t>
            </a:r>
          </a:p>
          <a:p>
            <a:pPr>
              <a:spcAft>
                <a:spcPts val="200"/>
              </a:spcAft>
              <a:defRPr sz="1000">
                <a:solidFill>
                  <a:srgbClr val="00E0E0"/>
                </a:solidFill>
                <a:latin typeface="Calibri"/>
              </a:defRPr>
            </a:pPr>
            <a:r>
              <a:rPr dirty="0"/>
              <a:t>BUCKET = '</a:t>
            </a:r>
            <a:r>
              <a:rPr dirty="0" err="1"/>
              <a:t>geovision-cali</a:t>
            </a:r>
            <a:r>
              <a:rPr dirty="0"/>
              <a:t>'</a:t>
            </a:r>
          </a:p>
          <a:p>
            <a:pPr>
              <a:spcAft>
                <a:spcPts val="200"/>
              </a:spcAft>
              <a:defRPr sz="1000">
                <a:solidFill>
                  <a:srgbClr val="00E0E0"/>
                </a:solidFill>
                <a:latin typeface="Calibri"/>
              </a:defRPr>
            </a:pPr>
            <a:r>
              <a:rPr dirty="0"/>
              <a:t>BBOX = [-76.65, 3.30, -76.30, 3.65]</a:t>
            </a:r>
          </a:p>
          <a:p>
            <a:pPr>
              <a:spcAft>
                <a:spcPts val="200"/>
              </a:spcAft>
              <a:defRPr sz="1000">
                <a:solidFill>
                  <a:srgbClr val="00E0E0"/>
                </a:solidFill>
                <a:latin typeface="Calibri"/>
              </a:defRPr>
            </a:pPr>
            <a:r>
              <a:rPr dirty="0"/>
              <a:t>  (Cali + Yumbo + </a:t>
            </a:r>
            <a:r>
              <a:rPr dirty="0" err="1"/>
              <a:t>Acopi</a:t>
            </a:r>
            <a:r>
              <a:rPr dirty="0"/>
              <a:t>, mas </a:t>
            </a:r>
            <a:r>
              <a:rPr dirty="0" err="1"/>
              <a:t>amplio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consigna</a:t>
            </a:r>
            <a:r>
              <a:rPr dirty="0"/>
              <a:t>)</a:t>
            </a:r>
          </a:p>
          <a:p>
            <a:pPr>
              <a:spcAft>
                <a:spcPts val="200"/>
              </a:spcAft>
              <a:defRPr sz="1000">
                <a:solidFill>
                  <a:srgbClr val="00E0E0"/>
                </a:solidFill>
                <a:latin typeface="Calibri"/>
              </a:defRPr>
            </a:pPr>
            <a:r>
              <a:rPr dirty="0"/>
              <a:t>FECHA_INICIO = '2019-01-01'</a:t>
            </a:r>
          </a:p>
          <a:p>
            <a:pPr>
              <a:spcAft>
                <a:spcPts val="200"/>
              </a:spcAft>
              <a:defRPr sz="1000">
                <a:solidFill>
                  <a:srgbClr val="00E0E0"/>
                </a:solidFill>
                <a:latin typeface="Calibri"/>
              </a:defRPr>
            </a:pPr>
            <a:r>
              <a:rPr dirty="0"/>
              <a:t>FECHA_FIN = '2023-12-31'</a:t>
            </a:r>
          </a:p>
          <a:p>
            <a:pPr>
              <a:spcAft>
                <a:spcPts val="200"/>
              </a:spcAft>
              <a:defRPr sz="1000">
                <a:solidFill>
                  <a:srgbClr val="00E0E0"/>
                </a:solidFill>
                <a:latin typeface="Calibri"/>
              </a:defRPr>
            </a:pPr>
            <a:r>
              <a:rPr dirty="0"/>
              <a:t>DASK_N_WORKERS = 4, DASK_THREADS_PER_WORKER = 2</a:t>
            </a:r>
          </a:p>
          <a:p>
            <a:pPr>
              <a:spcAft>
                <a:spcPts val="200"/>
              </a:spcAft>
              <a:defRPr sz="1000">
                <a:solidFill>
                  <a:srgbClr val="00E0E0"/>
                </a:solidFill>
                <a:latin typeface="Calibri"/>
              </a:defRPr>
            </a:pPr>
            <a:r>
              <a:rPr dirty="0"/>
              <a:t>DASK_MEMORY_LIMIT = '4GB'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188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DFF"/>
                </a:solidFill>
                <a:latin typeface="Calibri"/>
              </a:defRPr>
            </a:pPr>
            <a:r>
              <a:rPr dirty="0" err="1"/>
              <a:t>Diccionario</a:t>
            </a:r>
            <a:r>
              <a:rPr dirty="0"/>
              <a:t> FUENTES (6 </a:t>
            </a:r>
            <a:r>
              <a:rPr dirty="0" err="1"/>
              <a:t>fuentes</a:t>
            </a:r>
            <a:r>
              <a:rPr dirty="0"/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rPr dirty="0"/>
              <a:t>1. S5P/L3_NO2: 3 </a:t>
            </a:r>
            <a:r>
              <a:rPr dirty="0" err="1"/>
              <a:t>bandas</a:t>
            </a:r>
            <a:r>
              <a:rPr dirty="0"/>
              <a:t>, </a:t>
            </a:r>
            <a:r>
              <a:rPr dirty="0" err="1"/>
              <a:t>escala</a:t>
            </a:r>
            <a:r>
              <a:rPr dirty="0"/>
              <a:t> 1113m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rPr dirty="0"/>
              <a:t>2. S5P/L3_SO2: 2 </a:t>
            </a:r>
            <a:r>
              <a:rPr dirty="0" err="1"/>
              <a:t>bandas</a:t>
            </a:r>
            <a:r>
              <a:rPr dirty="0"/>
              <a:t>, </a:t>
            </a:r>
            <a:r>
              <a:rPr dirty="0" err="1"/>
              <a:t>escala</a:t>
            </a:r>
            <a:r>
              <a:rPr dirty="0"/>
              <a:t> 1113m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rPr dirty="0"/>
              <a:t>3. S5P/L3_O3: 2 </a:t>
            </a:r>
            <a:r>
              <a:rPr dirty="0" err="1"/>
              <a:t>bandas</a:t>
            </a:r>
            <a:r>
              <a:rPr dirty="0"/>
              <a:t>, </a:t>
            </a:r>
            <a:r>
              <a:rPr dirty="0" err="1"/>
              <a:t>escala</a:t>
            </a:r>
            <a:r>
              <a:rPr dirty="0"/>
              <a:t> 1113m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rPr dirty="0"/>
              <a:t>4. S2_SR_HARMONIZED: 13 </a:t>
            </a:r>
            <a:r>
              <a:rPr dirty="0" err="1"/>
              <a:t>bandas</a:t>
            </a:r>
            <a:r>
              <a:rPr dirty="0"/>
              <a:t>, 10m, </a:t>
            </a:r>
            <a:r>
              <a:rPr dirty="0" err="1"/>
              <a:t>por_banda</a:t>
            </a:r>
            <a:endParaRPr dirty="0"/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rPr dirty="0"/>
              <a:t>   </a:t>
            </a:r>
            <a:r>
              <a:rPr dirty="0" err="1"/>
              <a:t>Dask</a:t>
            </a:r>
            <a:r>
              <a:rPr dirty="0"/>
              <a:t> override: 2 workers x 1 thread (S2 = 99%)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rPr dirty="0"/>
              <a:t>5. ERA5/HOURLY: 7 </a:t>
            </a:r>
            <a:r>
              <a:rPr dirty="0" err="1"/>
              <a:t>bandas</a:t>
            </a:r>
            <a:r>
              <a:rPr dirty="0"/>
              <a:t>, </a:t>
            </a:r>
            <a:r>
              <a:rPr dirty="0" err="1"/>
              <a:t>escala</a:t>
            </a:r>
            <a:r>
              <a:rPr dirty="0"/>
              <a:t> 27830m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rPr dirty="0"/>
              <a:t>6. MODIS/MCD19A2: 4 </a:t>
            </a:r>
            <a:r>
              <a:rPr dirty="0" err="1"/>
              <a:t>bandas</a:t>
            </a:r>
            <a:r>
              <a:rPr dirty="0"/>
              <a:t>, </a:t>
            </a:r>
            <a:r>
              <a:rPr dirty="0" err="1"/>
              <a:t>escala</a:t>
            </a:r>
            <a:r>
              <a:rPr dirty="0"/>
              <a:t> 927m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endParaRPr dirty="0"/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rPr dirty="0"/>
              <a:t>Cada </a:t>
            </a:r>
            <a:r>
              <a:rPr dirty="0" err="1"/>
              <a:t>fuente</a:t>
            </a:r>
            <a:r>
              <a:rPr dirty="0"/>
              <a:t>: </a:t>
            </a:r>
            <a:r>
              <a:rPr dirty="0" err="1"/>
              <a:t>bandas</a:t>
            </a:r>
            <a:r>
              <a:rPr dirty="0"/>
              <a:t>, </a:t>
            </a:r>
            <a:r>
              <a:rPr dirty="0" err="1"/>
              <a:t>escala</a:t>
            </a:r>
            <a:r>
              <a:rPr dirty="0"/>
              <a:t>, </a:t>
            </a:r>
            <a:r>
              <a:rPr dirty="0" err="1"/>
              <a:t>prefijo</a:t>
            </a:r>
            <a:r>
              <a:rPr dirty="0"/>
              <a:t> GCS, modo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rPr dirty="0"/>
              <a:t>  modo </a:t>
            </a:r>
            <a:r>
              <a:rPr dirty="0" err="1"/>
              <a:t>multibanda</a:t>
            </a:r>
            <a:r>
              <a:rPr dirty="0"/>
              <a:t>: 1 </a:t>
            </a:r>
            <a:r>
              <a:rPr dirty="0" err="1"/>
              <a:t>GeoTIFF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imagen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rPr dirty="0"/>
              <a:t>  modo </a:t>
            </a:r>
            <a:r>
              <a:rPr dirty="0" err="1"/>
              <a:t>por_banda</a:t>
            </a:r>
            <a:r>
              <a:rPr dirty="0"/>
              <a:t>: 1 </a:t>
            </a:r>
            <a:r>
              <a:rPr dirty="0" err="1"/>
              <a:t>GeoTIFF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(imagen, </a:t>
            </a:r>
            <a:r>
              <a:rPr dirty="0" err="1"/>
              <a:t>banda</a:t>
            </a:r>
            <a:r>
              <a:rPr dirty="0"/>
              <a:t>)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rPr dirty="0"/>
              <a:t>    S2  genera 13 </a:t>
            </a:r>
            <a:r>
              <a:rPr dirty="0" err="1"/>
              <a:t>archivos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escena</a:t>
            </a:r>
            <a:r>
              <a:rPr dirty="0"/>
              <a:t>!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endParaRPr dirty="0"/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rPr dirty="0" err="1"/>
              <a:t>get_fuente</a:t>
            </a:r>
            <a:r>
              <a:rPr dirty="0"/>
              <a:t>(): </a:t>
            </a:r>
            <a:r>
              <a:rPr dirty="0" err="1"/>
              <a:t>normaliza</a:t>
            </a:r>
            <a:r>
              <a:rPr dirty="0"/>
              <a:t> alias (no2, s2, era5...)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0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9DF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exportar.py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88"/>
                </a:solidFill>
                <a:latin typeface="Calibri"/>
              </a:defRPr>
            </a:pPr>
            <a:r>
              <a:t>ETL distribuido: GEE  GCS (794 lineas)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11064240" cy="25400"/>
          </a:xfrm>
          <a:prstGeom prst="rect">
            <a:avLst/>
          </a:prstGeom>
          <a:solidFill>
            <a:srgbClr val="22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DFF"/>
                </a:solidFill>
                <a:latin typeface="Calibri"/>
              </a:defRPr>
            </a:pPr>
            <a:r>
              <a:t>Arquitectura de descarga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Clase RegistroArchivo: fuente, img_id, banda, path, md5, size, bbox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Lista imagenes GEE  construye tareas Dask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Cache de 2 niveles: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  Nivel 1: indice prelistado de GCS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  Nivel 2: blob.exists() inline en worker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Broadcast del cache_index a workers (scatter)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Backoff exponencial con jitter para HTTP (429/5xx)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Sidecar MD5: hash calculado durante transmision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Manifest parcial por fuente (manifest_partial.json)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188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Calibri"/>
              </a:defRPr>
            </a:pPr>
            <a:r>
              <a:t>Funciones clave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extraer_fecha(img_id, fuente_id):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  Parseo por fuente: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  S5P: YYYYMMDDTHHMMSS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  S2: YYYYMMDD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  MODIS: YYYYDDD (dia juliano)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  ERA5: YYYYMMDDTHH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_descargar_con_reintento(url, timeout=300s):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  Backoff: 2s, 4s, 8s... hasta 60s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  Jitter +/-25%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  Max 5 reintentos en 429/5xx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construir_tareas():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  multibanda: 1 tarea por imagen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  por_banda: 1 tarea por (imagen, banda)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  S2: 13 tareas por escena!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0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9DFF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rPr dirty="0"/>
              <a:t>exportar.py: </a:t>
            </a:r>
            <a:r>
              <a:rPr dirty="0" err="1"/>
              <a:t>Estrategia</a:t>
            </a:r>
            <a:r>
              <a:rPr dirty="0"/>
              <a:t> de Caching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88"/>
                </a:solidFill>
                <a:latin typeface="Calibri"/>
              </a:defRPr>
            </a:pPr>
            <a:r>
              <a:t>Evita redes cargar 283,437 archivos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11064240" cy="25400"/>
          </a:xfrm>
          <a:prstGeom prst="rect">
            <a:avLst/>
          </a:prstGeom>
          <a:solidFill>
            <a:srgbClr val="22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82880" y="1554480"/>
            <a:ext cx="1828800" cy="1463040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82880" y="1554480"/>
            <a:ext cx="1828800" cy="50800"/>
          </a:xfrm>
          <a:prstGeom prst="rect">
            <a:avLst/>
          </a:prstGeom>
          <a:solidFill>
            <a:srgbClr val="00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56032" y="1627632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9DFF"/>
                </a:solidFill>
                <a:latin typeface="Calibri"/>
              </a:defRPr>
            </a:pPr>
            <a:r>
              <a:t>1. Prelistar GCS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" y="1920240"/>
            <a:ext cx="1691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BBBBCC"/>
                </a:solidFill>
                <a:latin typeface="Calibri"/>
              </a:defRPr>
            </a:pPr>
            <a:r>
              <a:t>Lee prefijo/raw/*.tif</a:t>
            </a:r>
            <a:br/>
            <a:r>
              <a:t>Construye indice:</a:t>
            </a:r>
            <a:br/>
            <a:r>
              <a:t>{nombre: (size, md5)}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01168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6688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94560" y="1554480"/>
            <a:ext cx="1828800" cy="1463040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194560" y="1554480"/>
            <a:ext cx="1828800" cy="508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267712" y="1627632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E676"/>
                </a:solidFill>
                <a:latin typeface="Calibri"/>
              </a:defRPr>
            </a:pPr>
            <a:r>
              <a:t>2. Broadcast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67712" y="1920240"/>
            <a:ext cx="1691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BBBBCC"/>
                </a:solidFill>
                <a:latin typeface="Calibri"/>
              </a:defRPr>
            </a:pPr>
            <a:r>
              <a:rPr dirty="0"/>
              <a:t>Scatter del </a:t>
            </a:r>
            <a:r>
              <a:rPr dirty="0" err="1"/>
              <a:t>indice</a:t>
            </a:r>
            <a:br>
              <a:rPr dirty="0"/>
            </a:br>
            <a:r>
              <a:rPr dirty="0"/>
              <a:t>a </a:t>
            </a:r>
            <a:r>
              <a:rPr dirty="0" err="1"/>
              <a:t>todos</a:t>
            </a:r>
            <a:r>
              <a:rPr dirty="0"/>
              <a:t> </a:t>
            </a:r>
            <a:r>
              <a:rPr dirty="0" err="1"/>
              <a:t>los</a:t>
            </a:r>
            <a:r>
              <a:rPr dirty="0"/>
              <a:t> workers</a:t>
            </a:r>
            <a:br>
              <a:rPr dirty="0"/>
            </a:br>
            <a:r>
              <a:rPr dirty="0" err="1"/>
              <a:t>Dask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4023360" y="201168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6688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0" y="1554480"/>
            <a:ext cx="1828800" cy="1463040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206240" y="1554480"/>
            <a:ext cx="1828800" cy="50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279392" y="1627632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8C00"/>
                </a:solidFill>
                <a:latin typeface="Calibri"/>
              </a:defRPr>
            </a:pPr>
            <a:r>
              <a:t>3. Cache hit?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79392" y="1920240"/>
            <a:ext cx="1691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BBBBCC"/>
                </a:solidFill>
                <a:latin typeface="Calibri"/>
              </a:defRPr>
            </a:pPr>
            <a:r>
              <a:rPr dirty="0"/>
              <a:t>Worker consulta</a:t>
            </a:r>
            <a:br>
              <a:rPr dirty="0"/>
            </a:br>
            <a:r>
              <a:rPr dirty="0" err="1"/>
              <a:t>indice</a:t>
            </a:r>
            <a:r>
              <a:rPr dirty="0"/>
              <a:t> local</a:t>
            </a:r>
            <a:br>
              <a:rPr dirty="0"/>
            </a:br>
            <a:r>
              <a:rPr dirty="0" err="1"/>
              <a:t>Existe</a:t>
            </a:r>
            <a:r>
              <a:rPr dirty="0"/>
              <a:t>? MD5 ok?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201168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6688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1554480"/>
            <a:ext cx="1828800" cy="1463040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17920" y="1554480"/>
            <a:ext cx="1828800" cy="508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91072" y="1627632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E676"/>
                </a:solidFill>
                <a:latin typeface="Calibri"/>
              </a:defRPr>
            </a:pPr>
            <a:r>
              <a:t>4. Si cache hit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91072" y="1920240"/>
            <a:ext cx="1691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BBBBCC"/>
                </a:solidFill>
                <a:latin typeface="Calibri"/>
              </a:defRPr>
            </a:pPr>
            <a:r>
              <a:rPr dirty="0"/>
              <a:t>Registro cache</a:t>
            </a:r>
            <a:br>
              <a:rPr dirty="0"/>
            </a:br>
            <a:r>
              <a:rPr dirty="0"/>
              <a:t>Sin </a:t>
            </a:r>
            <a:r>
              <a:rPr dirty="0" err="1"/>
              <a:t>descarga</a:t>
            </a:r>
            <a:br>
              <a:rPr dirty="0"/>
            </a:br>
            <a:r>
              <a:rPr dirty="0"/>
              <a:t>Sin </a:t>
            </a:r>
            <a:r>
              <a:rPr dirty="0" err="1"/>
              <a:t>costo</a:t>
            </a:r>
            <a:r>
              <a:rPr dirty="0"/>
              <a:t> GEE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201168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6688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1554480"/>
            <a:ext cx="1828800" cy="1463040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229600" y="1554480"/>
            <a:ext cx="1828800" cy="50800"/>
          </a:xfrm>
          <a:prstGeom prst="rect">
            <a:avLst/>
          </a:prstGeom>
          <a:solidFill>
            <a:srgbClr val="FF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02752" y="1627632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3D5A"/>
                </a:solidFill>
                <a:latin typeface="Calibri"/>
              </a:defRPr>
            </a:pPr>
            <a:r>
              <a:t>5. Si cache miss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02752" y="1920240"/>
            <a:ext cx="1691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BBBBCC"/>
                </a:solidFill>
                <a:latin typeface="Calibri"/>
              </a:defRPr>
            </a:pPr>
            <a:r>
              <a:t>Descarga URL GEE</a:t>
            </a:r>
            <a:br/>
            <a:r>
              <a:t>MD5 inline</a:t>
            </a:r>
            <a:br/>
            <a:r>
              <a:t>Subida a GCS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201168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6688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241280" y="1554480"/>
            <a:ext cx="1828800" cy="1463040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0241280" y="1554480"/>
            <a:ext cx="1828800" cy="50800"/>
          </a:xfrm>
          <a:prstGeom prst="rect">
            <a:avLst/>
          </a:prstGeom>
          <a:solidFill>
            <a:srgbClr val="A8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314432" y="1627632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A85DFF"/>
                </a:solidFill>
                <a:latin typeface="Calibri"/>
              </a:defRPr>
            </a:pPr>
            <a:r>
              <a:t>6. Manifest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14432" y="1920240"/>
            <a:ext cx="1691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BBBBCC"/>
                </a:solidFill>
                <a:latin typeface="Calibri"/>
              </a:defRPr>
            </a:pPr>
            <a:r>
              <a:t>Registro descargado</a:t>
            </a:r>
            <a:br/>
            <a:r>
              <a:t>MD5 verificado</a:t>
            </a:r>
            <a:br/>
            <a:r>
              <a:t>flush a JSON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32918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DFF"/>
                </a:solidFill>
                <a:latin typeface="Calibri"/>
              </a:defRPr>
            </a:pPr>
            <a:r>
              <a:rPr dirty="0" err="1"/>
              <a:t>Estadisticas</a:t>
            </a:r>
            <a:r>
              <a:rPr dirty="0"/>
              <a:t> de </a:t>
            </a:r>
            <a:r>
              <a:rPr dirty="0" err="1"/>
              <a:t>exportacion</a:t>
            </a:r>
            <a:endParaRPr dirty="0"/>
          </a:p>
        </p:txBody>
      </p:sp>
      <p:sp>
        <p:nvSpPr>
          <p:cNvPr id="37" name="Rectangle 36"/>
          <p:cNvSpPr/>
          <p:nvPr/>
        </p:nvSpPr>
        <p:spPr>
          <a:xfrm>
            <a:off x="731520" y="3657600"/>
            <a:ext cx="2286000" cy="914400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731520" y="3657600"/>
            <a:ext cx="2286000" cy="50800"/>
          </a:xfrm>
          <a:prstGeom prst="rect">
            <a:avLst/>
          </a:prstGeom>
          <a:solidFill>
            <a:srgbClr val="00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22960" y="376732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9DFF"/>
                </a:solidFill>
                <a:latin typeface="Calibri"/>
              </a:defRPr>
            </a:pPr>
            <a:r>
              <a:rPr dirty="0"/>
              <a:t>283,437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416052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Calibri"/>
              </a:defRPr>
            </a:pPr>
            <a:r>
              <a:t>Archivos exportados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0" y="3657600"/>
            <a:ext cx="2286000" cy="914400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3200400" y="3657600"/>
            <a:ext cx="2286000" cy="508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291840" y="376732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E676"/>
                </a:solidFill>
                <a:latin typeface="Calibri"/>
              </a:defRPr>
            </a:pPr>
            <a:r>
              <a:t>66.78 GB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91840" y="416052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Calibri"/>
              </a:defRPr>
            </a:pPr>
            <a:r>
              <a:t>Peso total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69280" y="3657600"/>
            <a:ext cx="2286000" cy="914400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5669280" y="3657600"/>
            <a:ext cx="2286000" cy="50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760720" y="376732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8C00"/>
                </a:solidFill>
                <a:latin typeface="Calibri"/>
              </a:defRPr>
            </a:pPr>
            <a:r>
              <a:rPr dirty="0"/>
              <a:t>14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760720" y="416052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Calibri"/>
              </a:defRPr>
            </a:pPr>
            <a:r>
              <a:t>Ejecuciones export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138160" y="3657600"/>
            <a:ext cx="2286000" cy="914400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8138160" y="3657600"/>
            <a:ext cx="2286000" cy="50800"/>
          </a:xfrm>
          <a:prstGeom prst="rect">
            <a:avLst/>
          </a:prstGeom>
          <a:solidFill>
            <a:srgbClr val="FF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229600" y="376732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3D5A"/>
                </a:solidFill>
                <a:latin typeface="Calibri"/>
              </a:defRPr>
            </a:pPr>
            <a:r>
              <a:rPr dirty="0"/>
              <a:t>99.45%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416052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Calibri"/>
              </a:defRPr>
            </a:pPr>
            <a:r>
              <a:rPr dirty="0"/>
              <a:t>S2 </a:t>
            </a:r>
            <a:r>
              <a:rPr dirty="0" err="1"/>
              <a:t>domina</a:t>
            </a:r>
            <a:r>
              <a:rPr dirty="0"/>
              <a:t> peso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" y="48463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rPr dirty="0"/>
              <a:t>  S2 modo </a:t>
            </a:r>
            <a:r>
              <a:rPr dirty="0" err="1"/>
              <a:t>por_banda</a:t>
            </a:r>
            <a:r>
              <a:rPr dirty="0"/>
              <a:t>  13 </a:t>
            </a:r>
            <a:r>
              <a:rPr dirty="0" err="1"/>
              <a:t>tareas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escena</a:t>
            </a:r>
            <a:r>
              <a:rPr dirty="0"/>
              <a:t>  19,121 </a:t>
            </a:r>
            <a:r>
              <a:rPr dirty="0" err="1"/>
              <a:t>archivos</a:t>
            </a:r>
            <a:r>
              <a:rPr dirty="0"/>
              <a:t> </a:t>
            </a:r>
            <a:r>
              <a:rPr dirty="0" err="1"/>
              <a:t>generados</a:t>
            </a:r>
            <a:endParaRPr dirty="0"/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rPr dirty="0"/>
              <a:t>  MODIS 140,120 </a:t>
            </a:r>
            <a:r>
              <a:rPr dirty="0" err="1"/>
              <a:t>granulos</a:t>
            </a:r>
            <a:r>
              <a:rPr dirty="0"/>
              <a:t>: mas </a:t>
            </a:r>
            <a:r>
              <a:rPr dirty="0" err="1"/>
              <a:t>archivos</a:t>
            </a:r>
            <a:r>
              <a:rPr dirty="0"/>
              <a:t> </a:t>
            </a:r>
            <a:r>
              <a:rPr dirty="0" err="1"/>
              <a:t>pero</a:t>
            </a:r>
            <a:r>
              <a:rPr dirty="0"/>
              <a:t> mas </a:t>
            </a:r>
            <a:r>
              <a:rPr dirty="0" err="1"/>
              <a:t>pequenos</a:t>
            </a:r>
            <a:endParaRPr dirty="0"/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rPr dirty="0"/>
              <a:t>  </a:t>
            </a:r>
            <a:r>
              <a:rPr dirty="0" err="1"/>
              <a:t>Limite</a:t>
            </a:r>
            <a:r>
              <a:rPr dirty="0"/>
              <a:t> GEE 30 GB/</a:t>
            </a:r>
            <a:r>
              <a:rPr dirty="0" err="1"/>
              <a:t>dia</a:t>
            </a:r>
            <a:r>
              <a:rPr dirty="0"/>
              <a:t>  chunking </a:t>
            </a:r>
            <a:r>
              <a:rPr dirty="0" err="1"/>
              <a:t>mensual</a:t>
            </a:r>
            <a:r>
              <a:rPr dirty="0"/>
              <a:t> + </a:t>
            </a:r>
            <a:r>
              <a:rPr dirty="0" err="1"/>
              <a:t>distribucion</a:t>
            </a:r>
            <a:r>
              <a:rPr dirty="0"/>
              <a:t> temporal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0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9DFF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rPr dirty="0"/>
              <a:t>convertir_zarr.py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88"/>
                </a:solidFill>
                <a:latin typeface="Calibri"/>
              </a:defRPr>
            </a:pPr>
            <a:r>
              <a:t>GeoTIFF  Cubos Zarr 4D (425 lineas)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11064240" cy="25400"/>
          </a:xfrm>
          <a:prstGeom prst="rect">
            <a:avLst/>
          </a:prstGeom>
          <a:solidFill>
            <a:srgbClr val="22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DFF"/>
                </a:solidFill>
                <a:latin typeface="Calibri"/>
              </a:defRPr>
            </a:pPr>
            <a:r>
              <a:rPr dirty="0" err="1"/>
              <a:t>Estrategia</a:t>
            </a:r>
            <a:r>
              <a:rPr dirty="0"/>
              <a:t>: </a:t>
            </a:r>
            <a:r>
              <a:rPr dirty="0" err="1"/>
              <a:t>esqueleto</a:t>
            </a:r>
            <a:r>
              <a:rPr dirty="0"/>
              <a:t> + region writes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rPr dirty="0"/>
              <a:t>  Paso 1: Leer </a:t>
            </a:r>
            <a:r>
              <a:rPr dirty="0" err="1"/>
              <a:t>GeoTIFF</a:t>
            </a:r>
            <a:r>
              <a:rPr dirty="0"/>
              <a:t> </a:t>
            </a:r>
            <a:r>
              <a:rPr dirty="0" err="1"/>
              <a:t>muestra</a:t>
            </a:r>
            <a:r>
              <a:rPr dirty="0"/>
              <a:t> para shape </a:t>
            </a:r>
            <a:r>
              <a:rPr dirty="0" err="1"/>
              <a:t>espacial</a:t>
            </a:r>
            <a:endParaRPr dirty="0"/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rPr dirty="0"/>
              <a:t>  Paso 2: Crear Zarr </a:t>
            </a:r>
            <a:r>
              <a:rPr dirty="0" err="1"/>
              <a:t>vacio</a:t>
            </a:r>
            <a:r>
              <a:rPr dirty="0"/>
              <a:t> (solo </a:t>
            </a:r>
            <a:r>
              <a:rPr dirty="0" err="1"/>
              <a:t>metadatos</a:t>
            </a:r>
            <a:r>
              <a:rPr dirty="0"/>
              <a:t>)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rPr dirty="0"/>
              <a:t>    </a:t>
            </a:r>
            <a:r>
              <a:rPr dirty="0" err="1"/>
              <a:t>xr.Dataset</a:t>
            </a:r>
            <a:r>
              <a:rPr dirty="0"/>
              <a:t> + </a:t>
            </a:r>
            <a:r>
              <a:rPr dirty="0" err="1"/>
              <a:t>darr.zeros</a:t>
            </a:r>
            <a:r>
              <a:rPr dirty="0"/>
              <a:t> + </a:t>
            </a:r>
            <a:r>
              <a:rPr dirty="0" err="1"/>
              <a:t>to_zarr</a:t>
            </a:r>
            <a:r>
              <a:rPr dirty="0"/>
              <a:t>(compute=False)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rPr dirty="0"/>
              <a:t>  Paso 3: </a:t>
            </a:r>
            <a:r>
              <a:rPr dirty="0" err="1"/>
              <a:t>Procesar</a:t>
            </a:r>
            <a:r>
              <a:rPr dirty="0"/>
              <a:t> batches con </a:t>
            </a:r>
            <a:r>
              <a:rPr dirty="0" err="1"/>
              <a:t>ThreadPoolExecutor</a:t>
            </a:r>
            <a:endParaRPr dirty="0"/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rPr dirty="0"/>
              <a:t>    Cada </a:t>
            </a:r>
            <a:r>
              <a:rPr dirty="0" err="1"/>
              <a:t>hilo</a:t>
            </a:r>
            <a:r>
              <a:rPr dirty="0"/>
              <a:t> lee </a:t>
            </a:r>
            <a:r>
              <a:rPr dirty="0" err="1"/>
              <a:t>su</a:t>
            </a:r>
            <a:r>
              <a:rPr dirty="0"/>
              <a:t> item (</a:t>
            </a:r>
            <a:r>
              <a:rPr dirty="0" err="1"/>
              <a:t>GeoTIFF</a:t>
            </a:r>
            <a:r>
              <a:rPr dirty="0"/>
              <a:t>  </a:t>
            </a:r>
            <a:r>
              <a:rPr dirty="0" err="1"/>
              <a:t>ndarray</a:t>
            </a:r>
            <a:r>
              <a:rPr dirty="0"/>
              <a:t> float32)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rPr dirty="0"/>
              <a:t>    Escribe region temporal con </a:t>
            </a:r>
            <a:r>
              <a:rPr dirty="0" err="1"/>
              <a:t>to_zarr</a:t>
            </a:r>
            <a:r>
              <a:rPr dirty="0"/>
              <a:t>(region=...)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rPr dirty="0"/>
              <a:t>  Paso 4: </a:t>
            </a:r>
            <a:r>
              <a:rPr dirty="0" err="1"/>
              <a:t>Consolidar</a:t>
            </a:r>
            <a:r>
              <a:rPr dirty="0"/>
              <a:t> </a:t>
            </a:r>
            <a:r>
              <a:rPr dirty="0" err="1"/>
              <a:t>metadatos</a:t>
            </a:r>
            <a:r>
              <a:rPr dirty="0"/>
              <a:t> (</a:t>
            </a:r>
            <a:r>
              <a:rPr dirty="0" err="1"/>
              <a:t>zarr.consolidate_metadata</a:t>
            </a:r>
            <a:r>
              <a:rPr dirty="0"/>
              <a:t>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188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Calibri"/>
              </a:defRPr>
            </a:pPr>
            <a:r>
              <a:rPr dirty="0" err="1"/>
              <a:t>Detalles</a:t>
            </a:r>
            <a:r>
              <a:rPr dirty="0"/>
              <a:t> </a:t>
            </a:r>
            <a:r>
              <a:rPr dirty="0" err="1"/>
              <a:t>tecnicos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rPr dirty="0"/>
              <a:t>Chunking </a:t>
            </a:r>
            <a:r>
              <a:rPr dirty="0" err="1"/>
              <a:t>adaptativo</a:t>
            </a:r>
            <a:r>
              <a:rPr dirty="0"/>
              <a:t>: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rPr dirty="0"/>
              <a:t>  </a:t>
            </a:r>
            <a:r>
              <a:rPr dirty="0" err="1"/>
              <a:t>chunk_time</a:t>
            </a:r>
            <a:r>
              <a:rPr dirty="0"/>
              <a:t> = max(1, 268435456 // (b*H*W*4))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rPr dirty="0"/>
              <a:t>  Cada chunk ~256 MB </a:t>
            </a:r>
            <a:r>
              <a:rPr dirty="0" err="1"/>
              <a:t>en</a:t>
            </a:r>
            <a:r>
              <a:rPr dirty="0"/>
              <a:t> RAM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rPr dirty="0"/>
              <a:t>  </a:t>
            </a:r>
            <a:r>
              <a:rPr dirty="0" err="1"/>
              <a:t>Optimizado</a:t>
            </a:r>
            <a:r>
              <a:rPr dirty="0"/>
              <a:t> para </a:t>
            </a:r>
            <a:r>
              <a:rPr dirty="0" err="1"/>
              <a:t>lecturas</a:t>
            </a:r>
            <a:r>
              <a:rPr dirty="0"/>
              <a:t> </a:t>
            </a:r>
            <a:r>
              <a:rPr dirty="0" err="1"/>
              <a:t>parciales</a:t>
            </a:r>
            <a:endParaRPr dirty="0"/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endParaRPr dirty="0"/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rPr dirty="0"/>
              <a:t>Thread-local storage: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rPr dirty="0"/>
              <a:t>  _</a:t>
            </a:r>
            <a:r>
              <a:rPr dirty="0" err="1"/>
              <a:t>bucket_thread_local</a:t>
            </a:r>
            <a:r>
              <a:rPr dirty="0"/>
              <a:t>() </a:t>
            </a:r>
            <a:r>
              <a:rPr dirty="0" err="1"/>
              <a:t>reutiliza</a:t>
            </a:r>
            <a:endParaRPr dirty="0"/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rPr dirty="0"/>
              <a:t>  </a:t>
            </a:r>
            <a:r>
              <a:rPr dirty="0" err="1"/>
              <a:t>storage.Client</a:t>
            </a:r>
            <a:r>
              <a:rPr dirty="0"/>
              <a:t> y Bucket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hilo</a:t>
            </a:r>
            <a:endParaRPr dirty="0"/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endParaRPr dirty="0"/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rPr dirty="0" err="1"/>
              <a:t>Modos</a:t>
            </a:r>
            <a:r>
              <a:rPr dirty="0"/>
              <a:t> de </a:t>
            </a:r>
            <a:r>
              <a:rPr dirty="0" err="1"/>
              <a:t>agrupacion</a:t>
            </a:r>
            <a:r>
              <a:rPr dirty="0"/>
              <a:t>: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rPr dirty="0"/>
              <a:t>  </a:t>
            </a:r>
            <a:r>
              <a:rPr dirty="0" err="1"/>
              <a:t>multibanda</a:t>
            </a:r>
            <a:r>
              <a:rPr dirty="0"/>
              <a:t>: 1 </a:t>
            </a:r>
            <a:r>
              <a:rPr dirty="0" err="1"/>
              <a:t>GeoTIFF</a:t>
            </a:r>
            <a:r>
              <a:rPr dirty="0"/>
              <a:t> = 1 item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rPr dirty="0"/>
              <a:t>  </a:t>
            </a:r>
            <a:r>
              <a:rPr dirty="0" err="1"/>
              <a:t>por_banda</a:t>
            </a:r>
            <a:r>
              <a:rPr dirty="0"/>
              <a:t>: N </a:t>
            </a:r>
            <a:r>
              <a:rPr dirty="0" err="1"/>
              <a:t>GeoTIFFs</a:t>
            </a:r>
            <a:r>
              <a:rPr dirty="0"/>
              <a:t> (</a:t>
            </a:r>
            <a:r>
              <a:rPr dirty="0" err="1"/>
              <a:t>misma</a:t>
            </a:r>
            <a:r>
              <a:rPr dirty="0"/>
              <a:t> </a:t>
            </a:r>
            <a:r>
              <a:rPr dirty="0" err="1"/>
              <a:t>img_id</a:t>
            </a:r>
            <a:r>
              <a:rPr dirty="0"/>
              <a:t>)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rPr dirty="0"/>
              <a:t>    se </a:t>
            </a:r>
            <a:r>
              <a:rPr dirty="0" err="1"/>
              <a:t>stackean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orden</a:t>
            </a:r>
            <a:r>
              <a:rPr dirty="0"/>
              <a:t> de </a:t>
            </a:r>
            <a:r>
              <a:rPr dirty="0" err="1"/>
              <a:t>bandas</a:t>
            </a:r>
            <a:endParaRPr dirty="0"/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endParaRPr dirty="0"/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rPr dirty="0" err="1"/>
              <a:t>ThreadPoolExecutor</a:t>
            </a:r>
            <a:r>
              <a:rPr dirty="0"/>
              <a:t> (NO </a:t>
            </a:r>
            <a:r>
              <a:rPr dirty="0" err="1"/>
              <a:t>Dask</a:t>
            </a:r>
            <a:r>
              <a:rPr dirty="0"/>
              <a:t>):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rPr dirty="0"/>
              <a:t>  </a:t>
            </a:r>
            <a:r>
              <a:rPr dirty="0" err="1"/>
              <a:t>Dask</a:t>
            </a:r>
            <a:r>
              <a:rPr dirty="0"/>
              <a:t> overhead alto para IO </a:t>
            </a:r>
            <a:r>
              <a:rPr dirty="0" err="1"/>
              <a:t>intensivo</a:t>
            </a:r>
            <a:endParaRPr dirty="0"/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rPr dirty="0"/>
              <a:t>  8 workers default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0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9DFF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rPr dirty="0"/>
              <a:t>manifest.py + validar_zarr.py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88"/>
                </a:solidFill>
                <a:latin typeface="Calibri"/>
              </a:defRPr>
            </a:pPr>
            <a:r>
              <a:t>Gobernanza y aseguramiento de calidad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11064240" cy="25400"/>
          </a:xfrm>
          <a:prstGeom prst="rect">
            <a:avLst/>
          </a:prstGeom>
          <a:solidFill>
            <a:srgbClr val="22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DFF"/>
                </a:solidFill>
                <a:latin typeface="Calibri"/>
              </a:defRPr>
            </a:pPr>
            <a:r>
              <a:rPr dirty="0"/>
              <a:t>manifest.py (180 </a:t>
            </a:r>
            <a:r>
              <a:rPr dirty="0" err="1"/>
              <a:t>lineas</a:t>
            </a:r>
            <a:r>
              <a:rPr dirty="0"/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5029200" cy="1805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rPr dirty="0"/>
              <a:t> </a:t>
            </a:r>
            <a:r>
              <a:rPr lang="es-CO" dirty="0"/>
              <a:t>Consolida </a:t>
            </a:r>
            <a:r>
              <a:rPr lang="es-CO" dirty="0" err="1"/>
              <a:t>manifests</a:t>
            </a:r>
            <a:r>
              <a:rPr lang="es-CO" dirty="0"/>
              <a:t> parciales de todas las fuentes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rPr lang="es-CO" dirty="0"/>
              <a:t>  Descarga cada </a:t>
            </a:r>
            <a:r>
              <a:rPr lang="es-CO" dirty="0" err="1"/>
              <a:t>manifest_partial.json</a:t>
            </a:r>
            <a:r>
              <a:rPr lang="es-CO" dirty="0"/>
              <a:t> desde GCS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rPr lang="es-CO" dirty="0"/>
              <a:t>  Campos por archivo: ruta, MD5, </a:t>
            </a:r>
            <a:r>
              <a:rPr lang="es-CO" dirty="0" err="1"/>
              <a:t>size_bytes</a:t>
            </a:r>
            <a:r>
              <a:rPr lang="es-CO" dirty="0"/>
              <a:t>, fecha, </a:t>
            </a:r>
            <a:r>
              <a:rPr lang="es-CO" dirty="0" err="1"/>
              <a:t>bbox</a:t>
            </a:r>
            <a:r>
              <a:rPr lang="es-CO" dirty="0"/>
              <a:t>, escala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rPr lang="es-CO" dirty="0"/>
              <a:t>  Ordenamiento: (fuente, </a:t>
            </a:r>
            <a:r>
              <a:rPr lang="es-CO" dirty="0" err="1"/>
              <a:t>img_id</a:t>
            </a:r>
            <a:r>
              <a:rPr lang="es-CO" dirty="0"/>
              <a:t>, banda)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rPr lang="es-CO" dirty="0"/>
              <a:t>  Reporta fuentes faltantes en campo faltantes[]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rPr lang="es-CO" dirty="0"/>
              <a:t>  </a:t>
            </a:r>
            <a:r>
              <a:rPr lang="es-CO" dirty="0" err="1"/>
              <a:t>Estadisticas</a:t>
            </a:r>
            <a:r>
              <a:rPr lang="es-CO" dirty="0"/>
              <a:t>: </a:t>
            </a:r>
            <a:r>
              <a:rPr lang="es-CO" dirty="0" err="1"/>
              <a:t>n_archivos</a:t>
            </a:r>
            <a:r>
              <a:rPr lang="es-CO" dirty="0"/>
              <a:t>, </a:t>
            </a:r>
            <a:r>
              <a:rPr lang="es-CO" dirty="0" err="1"/>
              <a:t>size_bytes_total</a:t>
            </a:r>
            <a:r>
              <a:rPr lang="es-CO" dirty="0"/>
              <a:t> por fuente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rPr lang="es-CO" dirty="0"/>
              <a:t>  CLI: --subir-a-</a:t>
            </a:r>
            <a:r>
              <a:rPr lang="es-CO" dirty="0" err="1"/>
              <a:t>gcs</a:t>
            </a:r>
            <a:r>
              <a:rPr lang="es-CO" dirty="0"/>
              <a:t>, --salida-local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rPr dirty="0"/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188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  <a:latin typeface="Calibri"/>
              </a:defRPr>
            </a:pPr>
            <a:r>
              <a:rPr dirty="0"/>
              <a:t>validar_zarr.py (180 </a:t>
            </a:r>
            <a:r>
              <a:rPr dirty="0" err="1"/>
              <a:t>lineas</a:t>
            </a:r>
            <a:r>
              <a:rPr dirty="0"/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rPr dirty="0"/>
              <a:t>  </a:t>
            </a:r>
            <a:r>
              <a:rPr dirty="0" err="1"/>
              <a:t>Verifica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fuente</a:t>
            </a:r>
            <a:r>
              <a:rPr dirty="0"/>
              <a:t>: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rPr dirty="0"/>
              <a:t>    Zarr </a:t>
            </a:r>
            <a:r>
              <a:rPr dirty="0" err="1"/>
              <a:t>existe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GCS (consolidated=True)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rPr dirty="0"/>
              <a:t>    </a:t>
            </a:r>
            <a:r>
              <a:rPr dirty="0" err="1"/>
              <a:t>Dimensiones</a:t>
            </a:r>
            <a:r>
              <a:rPr dirty="0"/>
              <a:t>: time, band, y, x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rPr dirty="0"/>
              <a:t>    Bandas </a:t>
            </a:r>
            <a:r>
              <a:rPr dirty="0" err="1"/>
              <a:t>coinciden</a:t>
            </a:r>
            <a:r>
              <a:rPr dirty="0"/>
              <a:t> con </a:t>
            </a:r>
            <a:r>
              <a:rPr dirty="0" err="1"/>
              <a:t>configuracion</a:t>
            </a:r>
            <a:endParaRPr dirty="0"/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rPr dirty="0"/>
              <a:t>    Rango temporal (min/max)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rPr dirty="0"/>
              <a:t>    Chunks y </a:t>
            </a:r>
            <a:r>
              <a:rPr dirty="0" err="1"/>
              <a:t>dtype</a:t>
            </a:r>
            <a:endParaRPr dirty="0"/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rPr dirty="0"/>
              <a:t>    %</a:t>
            </a:r>
            <a:r>
              <a:rPr dirty="0" err="1"/>
              <a:t>NaN</a:t>
            </a:r>
            <a:r>
              <a:rPr dirty="0"/>
              <a:t> </a:t>
            </a:r>
            <a:r>
              <a:rPr dirty="0" err="1"/>
              <a:t>muestreado</a:t>
            </a:r>
            <a:r>
              <a:rPr dirty="0"/>
              <a:t> (4 pasos </a:t>
            </a:r>
            <a:r>
              <a:rPr dirty="0" err="1"/>
              <a:t>equiespaciados</a:t>
            </a:r>
            <a:r>
              <a:rPr dirty="0"/>
              <a:t>)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rPr dirty="0"/>
              <a:t>  Exit code 0 </a:t>
            </a:r>
            <a:r>
              <a:rPr dirty="0" err="1"/>
              <a:t>si</a:t>
            </a:r>
            <a:r>
              <a:rPr dirty="0"/>
              <a:t> </a:t>
            </a:r>
            <a:r>
              <a:rPr dirty="0" err="1"/>
              <a:t>todo</a:t>
            </a:r>
            <a:r>
              <a:rPr dirty="0"/>
              <a:t> OK, 1 </a:t>
            </a:r>
            <a:r>
              <a:rPr dirty="0" err="1"/>
              <a:t>si</a:t>
            </a:r>
            <a:r>
              <a:rPr dirty="0"/>
              <a:t> </a:t>
            </a:r>
            <a:r>
              <a:rPr dirty="0" err="1"/>
              <a:t>corrupta</a:t>
            </a:r>
            <a:endParaRPr dirty="0"/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rPr dirty="0"/>
              <a:t>  Modo --</a:t>
            </a:r>
            <a:r>
              <a:rPr dirty="0" err="1"/>
              <a:t>json</a:t>
            </a:r>
            <a:r>
              <a:rPr dirty="0"/>
              <a:t> para </a:t>
            </a:r>
            <a:r>
              <a:rPr dirty="0" err="1"/>
              <a:t>integracion</a:t>
            </a:r>
            <a:r>
              <a:rPr dirty="0"/>
              <a:t> </a:t>
            </a:r>
            <a:r>
              <a:rPr dirty="0" err="1"/>
              <a:t>automatizada</a:t>
            </a:r>
            <a:endParaRPr dirty="0"/>
          </a:p>
        </p:txBody>
      </p:sp>
      <p:sp>
        <p:nvSpPr>
          <p:cNvPr id="11" name="Rectangle 10"/>
          <p:cNvSpPr/>
          <p:nvPr/>
        </p:nvSpPr>
        <p:spPr>
          <a:xfrm>
            <a:off x="457200" y="4206240"/>
            <a:ext cx="1645920" cy="292608"/>
          </a:xfrm>
          <a:prstGeom prst="rect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420624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Fuente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03120" y="4206240"/>
            <a:ext cx="2286000" cy="292608"/>
          </a:xfrm>
          <a:prstGeom prst="rect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103120" y="420624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Shape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4206240"/>
            <a:ext cx="1371600" cy="292608"/>
          </a:xfrm>
          <a:prstGeom prst="rect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89120" y="420624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Bandas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60720" y="4206240"/>
            <a:ext cx="1371600" cy="292608"/>
          </a:xfrm>
          <a:prstGeom prst="rect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760720" y="420624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Tiempos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32320" y="4206240"/>
            <a:ext cx="1371600" cy="292608"/>
          </a:xfrm>
          <a:prstGeom prst="rect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32320" y="420624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%NaN est.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03920" y="4206240"/>
            <a:ext cx="1097280" cy="292608"/>
          </a:xfrm>
          <a:prstGeom prst="rect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03920" y="420624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Estado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498848"/>
            <a:ext cx="164592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449884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S5P NO2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03120" y="4498848"/>
            <a:ext cx="22860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103120" y="449884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(28,303, 3, 36, 36)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89120" y="4498848"/>
            <a:ext cx="13716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389120" y="449884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3/3 ok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60720" y="4498848"/>
            <a:ext cx="13716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760720" y="449884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2019-2023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0" y="4498848"/>
            <a:ext cx="13716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132320" y="449884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&lt;1%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03920" y="4498848"/>
            <a:ext cx="109728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503920" y="449884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OK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754880"/>
            <a:ext cx="164592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7200" y="475488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S5P SO2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03120" y="4754880"/>
            <a:ext cx="228600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103120" y="47548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(26,280, 2, 36, 36)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89120" y="4754880"/>
            <a:ext cx="137160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389120" y="475488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2/2 ok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760720" y="4754880"/>
            <a:ext cx="137160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760720" y="475488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2019-2023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132320" y="4754880"/>
            <a:ext cx="137160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132320" y="475488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rPr dirty="0"/>
              <a:t>&lt;1%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503920" y="4754880"/>
            <a:ext cx="109728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503920" y="475488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OK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5010912"/>
            <a:ext cx="164592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57200" y="501091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S5P O3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103120" y="5010912"/>
            <a:ext cx="22860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103120" y="501091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(25,798, 2, 36, 36)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389120" y="5010912"/>
            <a:ext cx="13716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389120" y="501091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2/2 ok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760720" y="5010912"/>
            <a:ext cx="13716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760720" y="501091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2019-2023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132320" y="5010912"/>
            <a:ext cx="13716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132320" y="501091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&lt;1%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503920" y="5010912"/>
            <a:ext cx="109728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503920" y="501091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OK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7200" y="5266944"/>
            <a:ext cx="164592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57200" y="526694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ERA5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103120" y="5266944"/>
            <a:ext cx="228600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2103120" y="526694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(43,815, 7, 5, 5)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389120" y="5266944"/>
            <a:ext cx="137160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389120" y="526694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7/7 ok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760720" y="5266944"/>
            <a:ext cx="137160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760720" y="526694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2019-2023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132320" y="5266944"/>
            <a:ext cx="137160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7132320" y="526694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&lt;5%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503920" y="5266944"/>
            <a:ext cx="109728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8503920" y="526694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OK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57200" y="5522976"/>
            <a:ext cx="164592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457200" y="552297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MODIS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103120" y="5522976"/>
            <a:ext cx="22860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2103120" y="552297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(140,120, 4, 5, 5)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389120" y="5522976"/>
            <a:ext cx="13716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4389120" y="552297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4/4 ok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760720" y="5522976"/>
            <a:ext cx="13716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5760720" y="552297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2019-2023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132320" y="5522976"/>
            <a:ext cx="13716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7132320" y="552297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&lt;10%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503920" y="5522976"/>
            <a:ext cx="109728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8503920" y="552297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OK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0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9DFF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Sistema de Trazabilidad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88"/>
                </a:solidFill>
                <a:latin typeface="Calibri"/>
              </a:defRPr>
            </a:pPr>
            <a:r>
              <a:t>trazabilidad/sistema.py + dask_plugin.py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11064240" cy="25400"/>
          </a:xfrm>
          <a:prstGeom prst="rect">
            <a:avLst/>
          </a:prstGeom>
          <a:solidFill>
            <a:srgbClr val="22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DFF"/>
                </a:solidFill>
                <a:latin typeface="Calibri"/>
              </a:defRPr>
            </a:pPr>
            <a:r>
              <a:t>Clase Run (209 lineas)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Context manager que representa una corrida del pipeline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Crea: runs/&lt;YYYYMMDDTHHMMSS&gt;_&lt;nombre&gt;/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  log.txt  logging humano con timestamps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  eventos.jsonl  JSON estructurado (1 por linea)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Metodos: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  Run(nombre, contexto)  init + ContextVar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  .evento(nombre, **kw)  evento estructurado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  .info(), .warning(), .debug(), .error()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  .medir(nombre)  context manager con duracion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Usa contextvars.ContextVar para hilos/async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Sin dependencias externas (solo stdlib)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188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Calibri"/>
              </a:defRPr>
            </a:pPr>
            <a:r>
              <a:t>Plugin Dask (60 lineas)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forward_logs(client):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  Registra callback en setup de workers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  Cada worker: logging a stdout con [worker]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  Silencia: distributed, urllib3, googleapiclient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3 niveles de fallback defensivo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  register_worker_callbacks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  client.run()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  warning sin romper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2004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  <a:latin typeface="Calibri"/>
              </a:defRPr>
            </a:pPr>
            <a:r>
              <a:t>Eventos registrados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5661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Ejemplo eventos en eventos.jsonl: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  {"evento": "run_inicio", "ts": "...", "nombre": "exportar"}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  {"evento": "tarea_fin", "estado": "cache", "md5": "..."}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  {"evento": "medir", "duracion_s": 123.4}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  {"evento": "run_fin", "duracion_s": 3600, "exito": true}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28 ejecuciones registradas  historial completo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0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9DFF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rPr dirty="0" err="1"/>
              <a:t>Modulos</a:t>
            </a:r>
            <a:r>
              <a:rPr dirty="0"/>
              <a:t> </a:t>
            </a:r>
            <a:r>
              <a:rPr dirty="0" err="1"/>
              <a:t>Auxiliares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18872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88"/>
                </a:solidFill>
                <a:latin typeface="Calibri"/>
              </a:defRPr>
            </a:pPr>
            <a:r>
              <a:t>publicar_hf.py + silenciar_warnings.py + preparar_covariables_convlstm.py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11064240" cy="25400"/>
          </a:xfrm>
          <a:prstGeom prst="rect">
            <a:avLst/>
          </a:prstGeom>
          <a:solidFill>
            <a:srgbClr val="22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DFF"/>
                </a:solidFill>
                <a:latin typeface="Calibri"/>
              </a:defRPr>
            </a:pPr>
            <a:r>
              <a:rPr dirty="0"/>
              <a:t>publicar_hf.py (333 </a:t>
            </a:r>
            <a:r>
              <a:rPr dirty="0" err="1"/>
              <a:t>lineas</a:t>
            </a:r>
            <a:r>
              <a:rPr dirty="0"/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rPr dirty="0"/>
              <a:t>  Sube/</a:t>
            </a:r>
            <a:r>
              <a:rPr dirty="0" err="1"/>
              <a:t>descarga</a:t>
            </a:r>
            <a:r>
              <a:rPr dirty="0"/>
              <a:t> dataset </a:t>
            </a:r>
            <a:r>
              <a:rPr dirty="0" err="1"/>
              <a:t>desde</a:t>
            </a:r>
            <a:r>
              <a:rPr dirty="0"/>
              <a:t> </a:t>
            </a:r>
            <a:r>
              <a:rPr dirty="0" err="1"/>
              <a:t>HuggingFace</a:t>
            </a:r>
            <a:r>
              <a:rPr dirty="0"/>
              <a:t> Hub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rPr dirty="0"/>
              <a:t>  </a:t>
            </a:r>
            <a:r>
              <a:rPr dirty="0" err="1"/>
              <a:t>Excluye</a:t>
            </a:r>
            <a:r>
              <a:rPr dirty="0"/>
              <a:t> </a:t>
            </a:r>
            <a:r>
              <a:rPr dirty="0" err="1"/>
              <a:t>siempre</a:t>
            </a:r>
            <a:r>
              <a:rPr dirty="0"/>
              <a:t> TIFFs crudos (**/raw/**)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rPr dirty="0"/>
              <a:t>  Modo ligero: </a:t>
            </a:r>
            <a:r>
              <a:rPr dirty="0" err="1"/>
              <a:t>excluye</a:t>
            </a:r>
            <a:r>
              <a:rPr dirty="0"/>
              <a:t> S2 (~66 GB)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rPr dirty="0"/>
              <a:t>  Modo </a:t>
            </a:r>
            <a:r>
              <a:rPr dirty="0" err="1"/>
              <a:t>ambiental</a:t>
            </a:r>
            <a:r>
              <a:rPr dirty="0"/>
              <a:t>: solo ERA5 + MODIS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rPr dirty="0"/>
              <a:t>  Usa </a:t>
            </a:r>
            <a:r>
              <a:rPr dirty="0" err="1"/>
              <a:t>upload_folder</a:t>
            </a:r>
            <a:r>
              <a:rPr dirty="0"/>
              <a:t> de </a:t>
            </a:r>
            <a:r>
              <a:rPr dirty="0" err="1"/>
              <a:t>huggingface_hub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6400800" y="1188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  <a:latin typeface="Calibri"/>
              </a:defRPr>
            </a:pPr>
            <a:r>
              <a:rPr dirty="0"/>
              <a:t>silenciar_warnings.py (105 </a:t>
            </a:r>
            <a:r>
              <a:rPr dirty="0" err="1"/>
              <a:t>lineas</a:t>
            </a:r>
            <a:r>
              <a:rPr dirty="0"/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rPr dirty="0"/>
              <a:t>  </a:t>
            </a:r>
            <a:r>
              <a:rPr dirty="0" err="1"/>
              <a:t>Suprime</a:t>
            </a:r>
            <a:r>
              <a:rPr dirty="0"/>
              <a:t> warnings de: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rPr dirty="0"/>
              <a:t>    </a:t>
            </a:r>
            <a:r>
              <a:rPr dirty="0" err="1"/>
              <a:t>google.auth._default</a:t>
            </a:r>
            <a:r>
              <a:rPr dirty="0"/>
              <a:t> (</a:t>
            </a:r>
            <a:r>
              <a:rPr dirty="0" err="1"/>
              <a:t>credenciales</a:t>
            </a:r>
            <a:r>
              <a:rPr dirty="0"/>
              <a:t> Cloud)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rPr dirty="0"/>
              <a:t>    </a:t>
            </a:r>
            <a:r>
              <a:rPr dirty="0" err="1"/>
              <a:t>google.api_core</a:t>
            </a:r>
            <a:r>
              <a:rPr dirty="0"/>
              <a:t> (</a:t>
            </a:r>
            <a:r>
              <a:rPr dirty="0" err="1"/>
              <a:t>FutureWarning</a:t>
            </a:r>
            <a:r>
              <a:rPr dirty="0"/>
              <a:t> Python 3.10)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rPr dirty="0"/>
              <a:t>    </a:t>
            </a:r>
            <a:r>
              <a:rPr dirty="0" err="1"/>
              <a:t>pkg_resources</a:t>
            </a:r>
            <a:r>
              <a:rPr dirty="0"/>
              <a:t> (</a:t>
            </a:r>
            <a:r>
              <a:rPr dirty="0" err="1"/>
              <a:t>DeprecationWarning</a:t>
            </a:r>
            <a:r>
              <a:rPr dirty="0"/>
              <a:t>)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rPr dirty="0"/>
              <a:t>    GDAL/</a:t>
            </a:r>
            <a:r>
              <a:rPr dirty="0" err="1"/>
              <a:t>libtiff</a:t>
            </a:r>
            <a:r>
              <a:rPr dirty="0"/>
              <a:t> (</a:t>
            </a:r>
            <a:r>
              <a:rPr dirty="0" err="1"/>
              <a:t>CE_Warning</a:t>
            </a:r>
            <a:r>
              <a:rPr dirty="0"/>
              <a:t> </a:t>
            </a:r>
            <a:r>
              <a:rPr dirty="0" err="1"/>
              <a:t>SamplesPerPixel</a:t>
            </a:r>
            <a:r>
              <a:rPr dirty="0"/>
              <a:t>)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rPr dirty="0"/>
              <a:t>  </a:t>
            </a:r>
            <a:r>
              <a:rPr dirty="0" err="1"/>
              <a:t>Configura</a:t>
            </a:r>
            <a:r>
              <a:rPr dirty="0"/>
              <a:t> PYTHONWARNINGS para </a:t>
            </a:r>
            <a:r>
              <a:rPr dirty="0" err="1"/>
              <a:t>procesos</a:t>
            </a:r>
            <a:r>
              <a:rPr dirty="0"/>
              <a:t> </a:t>
            </a:r>
            <a:r>
              <a:rPr dirty="0" err="1"/>
              <a:t>hijos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731520" y="32004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DFF"/>
                </a:solidFill>
                <a:latin typeface="Calibri"/>
              </a:defRPr>
            </a:pPr>
            <a:r>
              <a:t>preparar_covariables_convlstm.py (366 lineas)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56616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rPr dirty="0"/>
              <a:t>  Carga </a:t>
            </a:r>
            <a:r>
              <a:rPr dirty="0" err="1"/>
              <a:t>metadatos.parquet</a:t>
            </a:r>
            <a:r>
              <a:rPr dirty="0"/>
              <a:t> + </a:t>
            </a:r>
            <a:r>
              <a:rPr dirty="0" err="1"/>
              <a:t>percentiles.json</a:t>
            </a:r>
            <a:endParaRPr dirty="0"/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rPr dirty="0"/>
              <a:t>  Features: </a:t>
            </a:r>
            <a:r>
              <a:rPr dirty="0" err="1"/>
              <a:t>doy_sin</a:t>
            </a:r>
            <a:r>
              <a:rPr dirty="0"/>
              <a:t>/cos, </a:t>
            </a:r>
            <a:r>
              <a:rPr dirty="0" err="1"/>
              <a:t>mes_sin</a:t>
            </a:r>
            <a:r>
              <a:rPr dirty="0"/>
              <a:t>/cos (circular encoding)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rPr dirty="0"/>
              <a:t>  </a:t>
            </a:r>
            <a:r>
              <a:rPr dirty="0" err="1"/>
              <a:t>Posicion</a:t>
            </a:r>
            <a:r>
              <a:rPr dirty="0"/>
              <a:t> z-score: </a:t>
            </a:r>
            <a:r>
              <a:rPr dirty="0" err="1"/>
              <a:t>lat_norm</a:t>
            </a:r>
            <a:r>
              <a:rPr dirty="0"/>
              <a:t>, </a:t>
            </a:r>
            <a:r>
              <a:rPr dirty="0" err="1"/>
              <a:t>lon_norm</a:t>
            </a:r>
            <a:endParaRPr dirty="0"/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rPr dirty="0"/>
              <a:t>  </a:t>
            </a:r>
            <a:r>
              <a:rPr dirty="0" err="1"/>
              <a:t>Contaminantes</a:t>
            </a:r>
            <a:r>
              <a:rPr dirty="0"/>
              <a:t> </a:t>
            </a:r>
            <a:r>
              <a:rPr dirty="0" err="1"/>
              <a:t>normalizados</a:t>
            </a:r>
            <a:r>
              <a:rPr dirty="0"/>
              <a:t>: no2_norm, so2_norm, o3_norm (p50/p90)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rPr dirty="0"/>
              <a:t>  Conversion mol/m2  ug/m3 (</a:t>
            </a:r>
            <a:r>
              <a:rPr dirty="0" err="1"/>
              <a:t>asumiendo</a:t>
            </a:r>
            <a:r>
              <a:rPr dirty="0"/>
              <a:t> 8 km </a:t>
            </a:r>
            <a:r>
              <a:rPr dirty="0" err="1"/>
              <a:t>troposfera</a:t>
            </a:r>
            <a:r>
              <a:rPr dirty="0"/>
              <a:t> Cali)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rPr dirty="0"/>
              <a:t>  Gap temporal </a:t>
            </a:r>
            <a:r>
              <a:rPr dirty="0" err="1"/>
              <a:t>desde</a:t>
            </a:r>
            <a:r>
              <a:rPr dirty="0"/>
              <a:t> tile anterior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misma</a:t>
            </a:r>
            <a:r>
              <a:rPr dirty="0"/>
              <a:t> </a:t>
            </a:r>
            <a:r>
              <a:rPr dirty="0" err="1"/>
              <a:t>celda</a:t>
            </a:r>
            <a:r>
              <a:rPr dirty="0"/>
              <a:t> 0.05 </a:t>
            </a:r>
            <a:r>
              <a:rPr dirty="0" err="1"/>
              <a:t>grados</a:t>
            </a:r>
            <a:endParaRPr dirty="0"/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rPr dirty="0"/>
              <a:t>  </a:t>
            </a:r>
            <a:r>
              <a:rPr dirty="0" err="1"/>
              <a:t>Opcional</a:t>
            </a:r>
            <a:r>
              <a:rPr dirty="0"/>
              <a:t>: ERA5 (T2m, BLH, </a:t>
            </a:r>
            <a:r>
              <a:rPr dirty="0" err="1"/>
              <a:t>viento</a:t>
            </a:r>
            <a:r>
              <a:rPr dirty="0"/>
              <a:t>, </a:t>
            </a:r>
            <a:r>
              <a:rPr dirty="0" err="1"/>
              <a:t>presion</a:t>
            </a:r>
            <a:r>
              <a:rPr dirty="0"/>
              <a:t>) y MODIS AOD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rPr dirty="0"/>
              <a:t>  Salida: </a:t>
            </a:r>
            <a:r>
              <a:rPr dirty="0" err="1"/>
              <a:t>covariables.parquet</a:t>
            </a:r>
            <a:r>
              <a:rPr dirty="0"/>
              <a:t> con ~20 columnas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0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9DFF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Manifest Global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88"/>
                </a:solidFill>
                <a:latin typeface="Calibri"/>
              </a:defRPr>
            </a:pPr>
            <a:r>
              <a:t>66.78 GB  283,437 archivos  MD5 verificables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11064240" cy="25400"/>
          </a:xfrm>
          <a:prstGeom prst="rect">
            <a:avLst/>
          </a:prstGeom>
          <a:solidFill>
            <a:srgbClr val="22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2743200" cy="292608"/>
          </a:xfrm>
          <a:prstGeom prst="rect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Fuente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1371600"/>
            <a:ext cx="1828800" cy="292608"/>
          </a:xfrm>
          <a:prstGeom prst="rect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74720" y="137160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Archivos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0" y="1371600"/>
            <a:ext cx="1828800" cy="292608"/>
          </a:xfrm>
          <a:prstGeom prst="rect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03520" y="137160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Tamano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0" y="1371600"/>
            <a:ext cx="1371600" cy="292608"/>
          </a:xfrm>
          <a:prstGeom prst="rect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0" y="137160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% Peso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1664208"/>
            <a:ext cx="27432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166420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Sentinel-2 SR Harmonized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0" y="1664208"/>
            <a:ext cx="18288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74720" y="166420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19,121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03520" y="1664208"/>
            <a:ext cx="18288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03520" y="166420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66.41 GB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0" y="1664208"/>
            <a:ext cx="13716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32320" y="166420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99.45%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1920240"/>
            <a:ext cx="274320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192024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S5P NO2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74720" y="1920240"/>
            <a:ext cx="182880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474720" y="192024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28,303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03520" y="1920240"/>
            <a:ext cx="182880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303520" y="192024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0.08 GB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32320" y="1920240"/>
            <a:ext cx="137160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132320" y="192024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0.11%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2176272"/>
            <a:ext cx="27432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1520" y="217627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S5P SO2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74720" y="2176272"/>
            <a:ext cx="18288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474720" y="217627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26,280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303520" y="2176272"/>
            <a:ext cx="18288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303520" y="217627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0.03 GB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32320" y="2176272"/>
            <a:ext cx="13716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132320" y="217627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0.05%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2432304"/>
            <a:ext cx="274320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31520" y="243230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S5P O3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474720" y="2432304"/>
            <a:ext cx="182880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474720" y="243230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25,798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303520" y="2432304"/>
            <a:ext cx="182880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303520" y="243230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0.06 GB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132320" y="2432304"/>
            <a:ext cx="137160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132320" y="243230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0.08%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1520" y="2688336"/>
            <a:ext cx="27432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31520" y="268833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MODIS MCD19A2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474720" y="2688336"/>
            <a:ext cx="18288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474720" y="268833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140,120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303520" y="2688336"/>
            <a:ext cx="18288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303520" y="268833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0.11 GB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132320" y="2688336"/>
            <a:ext cx="13716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132320" y="268833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0.16%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31520" y="2944368"/>
            <a:ext cx="274320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31520" y="294436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ERA5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474720" y="2944368"/>
            <a:ext cx="182880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3474720" y="294436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43,815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303520" y="2944368"/>
            <a:ext cx="182880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303520" y="294436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0.10 GB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132320" y="2944368"/>
            <a:ext cx="137160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7132320" y="294436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0.15%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31520" y="3200400"/>
            <a:ext cx="27432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31520" y="320040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TOTAL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474720" y="3200400"/>
            <a:ext cx="18288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3474720" y="320040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283,437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303520" y="3200400"/>
            <a:ext cx="18288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303520" y="320040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66.78 GB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132320" y="3200400"/>
            <a:ext cx="13716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7132320" y="320040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31520" y="36576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DFF"/>
                </a:solidFill>
                <a:latin typeface="Calibri"/>
              </a:defRPr>
            </a:pPr>
            <a:r>
              <a:t>Metadatos globales del manifest v1.0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31520" y="402336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Bucket: gs://geovision-cali (proyecto: proyecto3ia-494900)</a:t>
            </a:r>
          </a:p>
          <a:p>
            <a:pPr>
              <a:spcAft>
                <a:spcPts val="2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BBox: [-76.65, 3.30, -76.30, 3.65] (WGS84)</a:t>
            </a:r>
          </a:p>
          <a:p>
            <a:pPr>
              <a:spcAft>
                <a:spcPts val="2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Ventana temporal: 2019-01-01 a 2023-12-31</a:t>
            </a:r>
          </a:p>
          <a:p>
            <a:pPr>
              <a:spcAft>
                <a:spcPts val="2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Umbral 50 GB: CUMPLIDO (66.78 GB = +33.6% margen)</a:t>
            </a:r>
          </a:p>
          <a:p>
            <a:pPr>
              <a:spcAft>
                <a:spcPts val="2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Reproducibilidad: Docker (python:3.11-slim multi-stage)</a:t>
            </a:r>
          </a:p>
          <a:p>
            <a:pPr>
              <a:spcAft>
                <a:spcPts val="2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  requirements.txt congelado, seed fija 42</a:t>
            </a:r>
          </a:p>
          <a:p>
            <a:pPr>
              <a:spcAft>
                <a:spcPts val="2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Cada archivo en manifest:</a:t>
            </a:r>
          </a:p>
          <a:p>
            <a:pPr>
              <a:spcAft>
                <a:spcPts val="2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  fuente, img_id, banda, path GCS, MD5 hex, size_bytes,</a:t>
            </a:r>
          </a:p>
          <a:p>
            <a:pPr>
              <a:spcAft>
                <a:spcPts val="2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  fecha_adquisicion ISO, bbox, escala_m, estado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0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9DFF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EDA: Vision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88"/>
                </a:solidFill>
                <a:latin typeface="Calibri"/>
              </a:defRPr>
            </a:pPr>
            <a:r>
              <a:t>5 notebooks  30+ visualizaciones  7 fuentes de datos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11064240" cy="25400"/>
          </a:xfrm>
          <a:prstGeom prst="rect">
            <a:avLst/>
          </a:prstGeom>
          <a:solidFill>
            <a:srgbClr val="22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2286000" cy="914400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2286000" cy="50800"/>
          </a:xfrm>
          <a:prstGeom prst="rect">
            <a:avLst/>
          </a:prstGeom>
          <a:solidFill>
            <a:srgbClr val="00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38988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9D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78308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Calibri"/>
              </a:defRPr>
            </a:pPr>
            <a:r>
              <a:t>Notebooks EDA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26080" y="1280160"/>
            <a:ext cx="2286000" cy="914400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926080" y="1280160"/>
            <a:ext cx="2286000" cy="508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17520" y="138988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E676"/>
                </a:solidFill>
                <a:latin typeface="Calibri"/>
              </a:defRPr>
            </a:pPr>
            <a:r>
              <a:t>30+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178308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Calibri"/>
              </a:defRPr>
            </a:pPr>
            <a:r>
              <a:t>Visualizaciones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94960" y="1280160"/>
            <a:ext cx="2286000" cy="914400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394960" y="1280160"/>
            <a:ext cx="2286000" cy="50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0" y="138988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8C00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178308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Calibri"/>
              </a:defRPr>
            </a:pPr>
            <a:r>
              <a:t>Fuentes analizadas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63840" y="1280160"/>
            <a:ext cx="2286000" cy="914400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863840" y="1280160"/>
            <a:ext cx="2286000" cy="50800"/>
          </a:xfrm>
          <a:prstGeom prst="rect">
            <a:avLst/>
          </a:prstGeom>
          <a:solidFill>
            <a:srgbClr val="A8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55280" y="138988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A85DFF"/>
                </a:solidFill>
                <a:latin typeface="Calibri"/>
              </a:defRPr>
            </a:pPr>
            <a:r>
              <a:t>8+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0" y="178308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Calibri"/>
              </a:defRPr>
            </a:pPr>
            <a:r>
              <a:t>Hallazgos clave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332720" y="1280160"/>
            <a:ext cx="1371600" cy="914400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0332720" y="1280160"/>
            <a:ext cx="1371600" cy="50800"/>
          </a:xfrm>
          <a:prstGeom prst="rect">
            <a:avLst/>
          </a:prstGeom>
          <a:solidFill>
            <a:srgbClr val="0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424160" y="1389888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E0E0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178308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Calibri"/>
              </a:defRPr>
            </a:pPr>
            <a:r>
              <a:t>CSV generados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2468880"/>
            <a:ext cx="2011680" cy="292608"/>
          </a:xfrm>
          <a:prstGeom prst="rect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65760" y="246888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Notebook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377440" y="2468880"/>
            <a:ext cx="1645920" cy="292608"/>
          </a:xfrm>
          <a:prstGeom prst="rect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377440" y="246888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Fuente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023360" y="2468880"/>
            <a:ext cx="1828800" cy="292608"/>
          </a:xfrm>
          <a:prstGeom prst="rect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023360" y="246888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Variables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52160" y="2468880"/>
            <a:ext cx="548640" cy="292608"/>
          </a:xfrm>
          <a:prstGeom prst="rect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852160" y="2468880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Viz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2468880"/>
            <a:ext cx="4389120" cy="292608"/>
          </a:xfrm>
          <a:prstGeom prst="rect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00800" y="2468880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Hallazgos clave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2761488"/>
            <a:ext cx="201168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65760" y="276148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EDA_Sentinel5P.ipynb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377440" y="2761488"/>
            <a:ext cx="164592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377440" y="276148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S5P NO2/SO2/O3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023360" y="2761488"/>
            <a:ext cx="18288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023360" y="276148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3 gases, 28k escenas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852160" y="2761488"/>
            <a:ext cx="54864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852160" y="276148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0" y="2761488"/>
            <a:ext cx="438912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400800" y="2761488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Cobertura 7-53%, estacionalidad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017520"/>
            <a:ext cx="201168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65760" y="301752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EDA_Sentinel2.ipynb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377440" y="3017520"/>
            <a:ext cx="164592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377440" y="301752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S2 MSI L2A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023360" y="3017520"/>
            <a:ext cx="182880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023360" y="301752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13 bandas, indices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852160" y="3017520"/>
            <a:ext cx="54864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852160" y="3017520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00800" y="3017520"/>
            <a:ext cx="438912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400800" y="301752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Nubosidad 67%, separabilidad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" y="3273552"/>
            <a:ext cx="201168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365760" y="327355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MODIS_MCD19A2_.ipynb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377440" y="3273552"/>
            <a:ext cx="164592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2377440" y="327355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MODIS AOD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023360" y="3273552"/>
            <a:ext cx="18288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023360" y="327355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4 bandas AOD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52160" y="3273552"/>
            <a:ext cx="54864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852160" y="3273552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00800" y="3273552"/>
            <a:ext cx="438912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400800" y="3273552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Hotspot Yumbo, AOD ~0.28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65760" y="3529584"/>
            <a:ext cx="201168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365760" y="352958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ERA5_.ipynb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377440" y="3529584"/>
            <a:ext cx="164592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2377440" y="352958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ERA5-Land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023360" y="3529584"/>
            <a:ext cx="182880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4023360" y="352958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T2m, viento, BLH, HR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852160" y="3529584"/>
            <a:ext cx="54864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5852160" y="3529584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400800" y="3529584"/>
            <a:ext cx="438912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6400800" y="3529584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BLH vs NO2 r=-0.52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65760" y="3785616"/>
            <a:ext cx="201168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365760" y="378561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EDA_DAGMA.ipynb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377440" y="3785616"/>
            <a:ext cx="164592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2377440" y="378561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DAGMA SVCASC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023360" y="3785616"/>
            <a:ext cx="18288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4023360" y="378561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33,580 reg, 87 cols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852160" y="3785616"/>
            <a:ext cx="54864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5852160" y="3785616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400800" y="3785616"/>
            <a:ext cx="438912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6400800" y="3785616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NO2 solo Univalle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31520" y="45720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DFF"/>
                </a:solidFill>
                <a:latin typeface="Calibri"/>
              </a:defRPr>
            </a:pPr>
            <a:r>
              <a:t>Objetivos del EDA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31520" y="493776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  Caracterizar cobertura temporal real (impacto nubes tropicales)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  Calibrar percentiles S5P sobre Cali para etiquetado semi-supervisado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  Detectar huecos y limitaciones del ground truth DAGMA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  Identificar correlaciones entre contaminantes y meteorologia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  Justificar decisiones de filtrado (SCL, umbrales de nubosidad)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0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9DFF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EDA: Sentinel-5P TROPOMI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88"/>
                </a:solidFill>
                <a:latin typeface="Calibri"/>
              </a:defRPr>
            </a:pPr>
            <a:r>
              <a:t>28,303 escenas NO2  26,280 SO2  25,798 O3 (2019-2023)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11064240" cy="25400"/>
          </a:xfrm>
          <a:prstGeom prst="rect">
            <a:avLst/>
          </a:prstGeom>
          <a:solidFill>
            <a:srgbClr val="22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DFF"/>
                </a:solidFill>
                <a:latin typeface="Calibri"/>
              </a:defRPr>
            </a:pPr>
            <a:r>
              <a:t>Cobertura y disponibilidad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Colecciones: COPERNICUS/S5P/OFFL/L3_{NO2,SO2,O3}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Zarr: gs://geovision-cali/Sentinel5P/{NO2,SO2,O3}/panel.zarr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Cobertura efectiva (pixeles validos):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NO2: ~25%  impacto severo de nubes tropicales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SO2: ~53%  mejor cobertura entre los 3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O3:  ~7%  muy sensible a nubosidad en tropicos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Patron orbital: ~25-45 escenas/mes (regular)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Parseo system:index  YYYYMMDDTHHMMSS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188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  <a:latin typeface="Calibri"/>
              </a:defRPr>
            </a:pPr>
            <a:r>
              <a:t>Series temporales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NO2: picos en jul-ago (quemas de cana de azucar)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Caida 18% en 2020 (COVID-19 lockdown)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Recuperacion al 92% en 2023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SO2: correlacion con NO2 (r=0.38)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Fuentes compartidas: transporte + industria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O3: anticorrelacion con NO2 (r=-0.42)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Titulacion fotoquimica: NO + O3  NO2 + O2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Tipico de ambientes urbanos con NOx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CV espacial: SO2 ~28.8% (alto), O3 ~0.35% (bajo)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0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9DFF"/>
                </a:solidFill>
                <a:latin typeface="Calibri"/>
              </a:defRPr>
            </a:pPr>
            <a: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EDA: Sentinel-2 MSI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88"/>
                </a:solidFill>
                <a:latin typeface="Calibri"/>
              </a:defRPr>
            </a:pPr>
            <a:r>
              <a:t>13 bandas  10/20/60 m  736 escenas (2019-2023)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11064240" cy="25400"/>
          </a:xfrm>
          <a:prstGeom prst="rect">
            <a:avLst/>
          </a:prstGeom>
          <a:solidFill>
            <a:srgbClr val="22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DFF"/>
                </a:solidFill>
                <a:latin typeface="Calibri"/>
              </a:defRPr>
            </a:pPr>
            <a:r>
              <a:t>Nubosidad y disponibilidad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Coleccion: COPERNICUS/S2_SR_HARMONIZED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736 escenas (S2A+S2B) en 5 anos, 6 tiles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Solo 242 (32.9%) con &lt;60% de nubosidad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Promedio: 4.2 escenas utiles/mes (max ~12)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Minimos en abril-mayo y octubre-noviembre (lluvias)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Mejores meses: junio-agosto (temporada seca)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188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  <a:latin typeface="Calibri"/>
              </a:defRPr>
            </a:pPr>
            <a:r>
              <a:t>Indices espectrales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NDVI = (B8-B4)/(B8+B4)  vegetacion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Yumbo Industrial: 0.1-0.2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Cali Urbano: 0.3-0.5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Pance Rural: 0.6-0.8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BSI = ((B11+B4)-(B8+B2))/((B11+B4)+(B8+B2))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suelo desnudo, corredor Yumbo-Acopi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NDBI = (B11-B8)/(B11+B8)  superficie construida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576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DFF"/>
                </a:solidFill>
                <a:latin typeface="Calibri"/>
              </a:defRPr>
            </a:pPr>
            <a:r>
              <a:t>Perfiles espectrales y separabilidad de clases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02336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4 clases de cobertura: vegetacion densa, suelo desnudo, agua, zona construida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Separacion 0.12-0.18 uds reflectancia en banda 8 (NIR, 842 nm)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SWIR (B11-B12) discrimina suelo desnudo de zona construida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3 bloques alta correlacion: Visible (B2-B4, r&gt;0.98), RedEdge+NIR, SWIR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Fundamenta S2 como fuente de covariables proxy para downscaling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0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9DFF"/>
                </a:solidFill>
                <a:latin typeface="Calibri"/>
              </a:defRPr>
            </a:pPr>
            <a: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EDA: MODIS MCD19A2 (AOD)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88"/>
                </a:solidFill>
                <a:latin typeface="Calibri"/>
              </a:defRPr>
            </a:pPr>
            <a:r>
              <a:t>140,120 granulos  Profundidad optica de aerosoles  2019-2023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11064240" cy="25400"/>
          </a:xfrm>
          <a:prstGeom prst="rect">
            <a:avLst/>
          </a:prstGeom>
          <a:solidFill>
            <a:srgbClr val="22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DFF"/>
                </a:solidFill>
                <a:latin typeface="Calibri"/>
              </a:defRPr>
            </a:pPr>
            <a:r>
              <a:t>Parametros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Coleccion: MODIS/061/MCD19A2_GRANULES (MAIAC)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Bandas: Optical_Depth_047, _055, AOD_Uncertainty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Escala nativa: 927 m (1 km), diaria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Factor de escala: x0.001 para valores fisicos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152,458 granulos totales sobre Cali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Proxy indirecto de PM2.5 y PM10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Cuota GEE tier no comercial alcanzada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188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Calibri"/>
              </a:defRPr>
            </a:pPr>
            <a:r>
              <a:t>Hallazgos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AOD 550 nm promedio: ~0.28 sobre Cali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Maximos estacionales: ~0.45 en jul-ago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Coincide con temporada de quemas de cana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Hotspot: Corredor Yumbo-Acopi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AOD ~0.12 superior al promedio urbano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Consistente con fuentes industriales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AOD_047 sistematicamente mayor que AOD_055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Gradiente espacial: Oeste bajo (0.1-0.2)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Centro/Este alto (0.3-0.5)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0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9DFF"/>
                </a:solidFill>
                <a:latin typeface="Calibri"/>
              </a:defRPr>
            </a:pPr>
            <a: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EDA: ERA5-Land (Meteorologia)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88"/>
                </a:solidFill>
                <a:latin typeface="Calibri"/>
              </a:defRPr>
            </a:pPr>
            <a:r>
              <a:t>43,815 archivos horarios  292 bandas  2019-2023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11064240" cy="25400"/>
          </a:xfrm>
          <a:prstGeom prst="rect">
            <a:avLst/>
          </a:prstGeom>
          <a:solidFill>
            <a:srgbClr val="22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DFF"/>
                </a:solidFill>
                <a:latin typeface="Calibri"/>
              </a:defRPr>
            </a:pPr>
            <a:r>
              <a:t>Variables seleccionadas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temperature_2m (T2m)  C (K-273.15)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boundary_layer_height (BLH) en metros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u_component_of_wind_10m, v_component_of_wind_10m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total_precipitation  mm (x1000)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relative_humidity % (formula Magnus)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Escala: ~0.25 grados (~28 km)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188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  <a:latin typeface="Calibri"/>
              </a:defRPr>
            </a:pPr>
            <a:r>
              <a:t>Correlaciones clave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BLH vs NO2: r = -0.52  LA MAS PREDICTIVA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BLH baja (inversion termica) atrapa contaminantes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T2m vs NO2: r = -0.38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Temperaturas altas aceleran reacciones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HR vs O3: r = 0.41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Mayor humedad  mas ozono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Viento vs SO2: r = -0.29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Vientos fuertes dispersan SO2 industrial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14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DFF"/>
                </a:solidFill>
                <a:latin typeface="Calibri"/>
              </a:defRPr>
            </a:pPr>
            <a:r>
              <a:t>Climatologia de Cali (2019-2023)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4805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Temperatura media: 22-24 C, muy estable interanualmente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BLH: 240-300 m, correlacion positiva fuerte con T2m (r~0.8)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Humedad relativa: 80-85% promedio, alta todo el ano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Viento predominante: SW (~285 grados), baja velocidad (~0.7 m/s)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Precipitacion estacional: abril-mayo y octubre-noviembre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0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9DFF"/>
                </a:solidFill>
                <a:latin typeface="Calibri"/>
              </a:defRPr>
            </a:pPr>
            <a: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EDA: Ground Truth DAGMA/SVCASC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88"/>
                </a:solidFill>
                <a:latin typeface="Calibri"/>
              </a:defRPr>
            </a:pPr>
            <a:r>
              <a:t>33,580 registros  9 estaciones  2020-2023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11064240" cy="25400"/>
          </a:xfrm>
          <a:prstGeom prst="rect">
            <a:avLst/>
          </a:prstGeom>
          <a:solidFill>
            <a:srgbClr val="22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2011680" cy="292608"/>
          </a:xfrm>
          <a:prstGeom prst="rect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37160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Estacion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377440" y="1371600"/>
            <a:ext cx="731520" cy="292608"/>
          </a:xfrm>
          <a:prstGeom prst="rect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377440" y="137160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Lat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0" y="1371600"/>
            <a:ext cx="731520" cy="292608"/>
          </a:xfrm>
          <a:prstGeom prst="rect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108960" y="137160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Lon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0" y="1371600"/>
            <a:ext cx="3657600" cy="292608"/>
          </a:xfrm>
          <a:prstGeom prst="rect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40480" y="137160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Contaminantes disponibles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664208"/>
            <a:ext cx="201168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60" y="166420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Base Aerea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7440" y="1664208"/>
            <a:ext cx="73152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377440" y="166420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3.4646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08960" y="1664208"/>
            <a:ext cx="73152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108960" y="166420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-76.5142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0" y="1664208"/>
            <a:ext cx="36576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840480" y="166420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O3, PM10, meteorologia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1920240"/>
            <a:ext cx="201168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5760" y="192024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Canaveralejo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77440" y="1920240"/>
            <a:ext cx="73152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377440" y="192024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3.4189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08960" y="1920240"/>
            <a:ext cx="73152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108960" y="192024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-76.5417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40480" y="1920240"/>
            <a:ext cx="365760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840480" y="192024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SO2, O3, PM, meteo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2176272"/>
            <a:ext cx="201168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65760" y="217627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Compartir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377440" y="2176272"/>
            <a:ext cx="73152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377440" y="2176272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3.4306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108960" y="2176272"/>
            <a:ext cx="73152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108960" y="2176272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-76.4764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40480" y="2176272"/>
            <a:ext cx="36576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840480" y="217627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O3, PM10, meteo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2432304"/>
            <a:ext cx="201168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65760" y="243230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La Ermita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377440" y="2432304"/>
            <a:ext cx="73152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377440" y="243230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3.4515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08960" y="2432304"/>
            <a:ext cx="73152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108960" y="243230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-76.5322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840480" y="2432304"/>
            <a:ext cx="365760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840480" y="243230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SO2, O3, PM, meteo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2688336"/>
            <a:ext cx="201168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65760" y="268833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La Flora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377440" y="2688336"/>
            <a:ext cx="73152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377440" y="2688336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3.4918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108960" y="2688336"/>
            <a:ext cx="73152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108960" y="2688336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-76.5142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840480" y="2688336"/>
            <a:ext cx="36576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840480" y="2688336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SO2, O3, PM, meteo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2944368"/>
            <a:ext cx="201168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65760" y="294436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ERA Obrero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377440" y="2944368"/>
            <a:ext cx="73152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377440" y="29443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3.4537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108960" y="2944368"/>
            <a:ext cx="73152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108960" y="29443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-76.5208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840480" y="2944368"/>
            <a:ext cx="365760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3840480" y="294436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O3, PM, meteo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65760" y="3200400"/>
            <a:ext cx="201168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365760" y="320040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Pance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377440" y="3200400"/>
            <a:ext cx="73152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2377440" y="320040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3.3278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108960" y="3200400"/>
            <a:ext cx="73152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3108960" y="320040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-76.5486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840480" y="3200400"/>
            <a:ext cx="36576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3840480" y="320040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O3, PM10, meteo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65760" y="3456432"/>
            <a:ext cx="201168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365760" y="345643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Transitoria Navarro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377440" y="3456432"/>
            <a:ext cx="73152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2377440" y="3456432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3.4789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108960" y="3456432"/>
            <a:ext cx="73152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3108960" y="3456432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-76.4892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840480" y="3456432"/>
            <a:ext cx="365760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3840480" y="345643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O3, PM10, meteo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65760" y="3712464"/>
            <a:ext cx="201168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365760" y="371246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Univalle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377440" y="3712464"/>
            <a:ext cx="73152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2377440" y="371246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3.3779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108960" y="3712464"/>
            <a:ext cx="73152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3108960" y="371246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-76.5338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840480" y="3712464"/>
            <a:ext cx="36576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3840480" y="371246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NO2, SO2, O3, PM, meteo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808976" y="131191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Calibri"/>
              </a:defRPr>
            </a:pPr>
            <a:r>
              <a:rPr dirty="0" err="1"/>
              <a:t>Cobertura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variable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08976" y="1664208"/>
            <a:ext cx="3803904" cy="1502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rPr dirty="0"/>
              <a:t>NO2: SOLO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Univalle</a:t>
            </a:r>
            <a:r>
              <a:rPr dirty="0"/>
              <a:t> (69% </a:t>
            </a:r>
            <a:r>
              <a:rPr dirty="0" err="1"/>
              <a:t>cobertura</a:t>
            </a:r>
            <a:r>
              <a:rPr dirty="0"/>
              <a:t>)  CRITICO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rPr dirty="0"/>
              <a:t>O3: 6 </a:t>
            </a:r>
            <a:r>
              <a:rPr dirty="0" err="1"/>
              <a:t>estaciones</a:t>
            </a:r>
            <a:r>
              <a:rPr dirty="0"/>
              <a:t> (48-83%)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rPr dirty="0"/>
              <a:t>SO2: 5 </a:t>
            </a:r>
            <a:r>
              <a:rPr dirty="0" err="1"/>
              <a:t>estaciones</a:t>
            </a:r>
            <a:r>
              <a:rPr dirty="0"/>
              <a:t> (9-88%)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rPr dirty="0"/>
              <a:t>PM2.5: 3 </a:t>
            </a:r>
            <a:r>
              <a:rPr dirty="0" err="1"/>
              <a:t>estaciones</a:t>
            </a:r>
            <a:r>
              <a:rPr dirty="0"/>
              <a:t> (62-83%)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rPr dirty="0"/>
              <a:t>PM10: 7 </a:t>
            </a:r>
            <a:r>
              <a:rPr dirty="0" err="1"/>
              <a:t>estaciones</a:t>
            </a:r>
            <a:r>
              <a:rPr dirty="0"/>
              <a:t> (80-89%)  </a:t>
            </a:r>
            <a:r>
              <a:rPr dirty="0" err="1"/>
              <a:t>mejor</a:t>
            </a:r>
            <a:r>
              <a:rPr dirty="0"/>
              <a:t> </a:t>
            </a:r>
            <a:r>
              <a:rPr dirty="0" err="1"/>
              <a:t>cubierto</a:t>
            </a:r>
            <a:endParaRPr dirty="0"/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rPr dirty="0"/>
              <a:t>Black Carbon: 3% (&lt;5%  </a:t>
            </a:r>
            <a:r>
              <a:rPr dirty="0" err="1"/>
              <a:t>excluido</a:t>
            </a:r>
            <a:r>
              <a:rPr dirty="0"/>
              <a:t>)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rPr dirty="0"/>
              <a:t>UV-PM: 3% (&lt;5%  </a:t>
            </a:r>
            <a:r>
              <a:rPr dirty="0" err="1"/>
              <a:t>excluido</a:t>
            </a:r>
            <a:r>
              <a:rPr dirty="0"/>
              <a:t>)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rPr dirty="0" err="1"/>
              <a:t>Meteo</a:t>
            </a:r>
            <a:r>
              <a:rPr dirty="0"/>
              <a:t> (temp, HR, </a:t>
            </a:r>
            <a:r>
              <a:rPr dirty="0" err="1"/>
              <a:t>viento</a:t>
            </a:r>
            <a:r>
              <a:rPr dirty="0"/>
              <a:t>): 6-9 </a:t>
            </a:r>
            <a:r>
              <a:rPr dirty="0" err="1"/>
              <a:t>estaciones</a:t>
            </a:r>
            <a:endParaRPr dirty="0"/>
          </a:p>
        </p:txBody>
      </p:sp>
      <p:sp>
        <p:nvSpPr>
          <p:cNvPr id="89" name="TextBox 88"/>
          <p:cNvSpPr txBox="1"/>
          <p:nvPr/>
        </p:nvSpPr>
        <p:spPr>
          <a:xfrm>
            <a:off x="731520" y="45720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DFF"/>
                </a:solidFill>
                <a:latin typeface="Calibri"/>
              </a:defRPr>
            </a:pPr>
            <a:r>
              <a:rPr dirty="0" err="1"/>
              <a:t>Hallazgos</a:t>
            </a:r>
            <a:r>
              <a:rPr dirty="0"/>
              <a:t> </a:t>
            </a:r>
            <a:r>
              <a:rPr dirty="0" err="1"/>
              <a:t>principales</a:t>
            </a:r>
            <a:endParaRPr dirty="0"/>
          </a:p>
        </p:txBody>
      </p:sp>
      <p:sp>
        <p:nvSpPr>
          <p:cNvPr id="90" name="TextBox 89"/>
          <p:cNvSpPr txBox="1"/>
          <p:nvPr/>
        </p:nvSpPr>
        <p:spPr>
          <a:xfrm>
            <a:off x="731520" y="493776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rPr dirty="0"/>
              <a:t>  </a:t>
            </a:r>
            <a:r>
              <a:rPr dirty="0" err="1"/>
              <a:t>Correlacion</a:t>
            </a:r>
            <a:r>
              <a:rPr dirty="0"/>
              <a:t> NO2-O3: r = -0.42 (</a:t>
            </a:r>
            <a:r>
              <a:rPr dirty="0" err="1"/>
              <a:t>titulacion</a:t>
            </a:r>
            <a:r>
              <a:rPr dirty="0"/>
              <a:t> </a:t>
            </a:r>
            <a:r>
              <a:rPr dirty="0" err="1"/>
              <a:t>fotoquimica</a:t>
            </a:r>
            <a:r>
              <a:rPr dirty="0"/>
              <a:t>, </a:t>
            </a:r>
            <a:r>
              <a:rPr dirty="0" err="1"/>
              <a:t>consistente</a:t>
            </a:r>
            <a:r>
              <a:rPr dirty="0"/>
              <a:t> con S5P)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rPr dirty="0"/>
              <a:t>  O3-temperatura: r ~ 0.6 (</a:t>
            </a:r>
            <a:r>
              <a:rPr dirty="0" err="1"/>
              <a:t>formacion</a:t>
            </a:r>
            <a:r>
              <a:rPr dirty="0"/>
              <a:t> </a:t>
            </a:r>
            <a:r>
              <a:rPr dirty="0" err="1"/>
              <a:t>fotoquimica</a:t>
            </a:r>
            <a:r>
              <a:rPr dirty="0"/>
              <a:t> de </a:t>
            </a:r>
            <a:r>
              <a:rPr dirty="0" err="1"/>
              <a:t>ozono</a:t>
            </a:r>
            <a:r>
              <a:rPr dirty="0"/>
              <a:t>)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rPr dirty="0"/>
              <a:t>  </a:t>
            </a:r>
            <a:r>
              <a:rPr dirty="0" err="1"/>
              <a:t>Efecto</a:t>
            </a:r>
            <a:r>
              <a:rPr dirty="0"/>
              <a:t> COVID-19: </a:t>
            </a:r>
            <a:r>
              <a:rPr dirty="0" err="1"/>
              <a:t>reduccion</a:t>
            </a:r>
            <a:r>
              <a:rPr dirty="0"/>
              <a:t> NO2 y PM </a:t>
            </a:r>
            <a:r>
              <a:rPr dirty="0" err="1"/>
              <a:t>en</a:t>
            </a:r>
            <a:r>
              <a:rPr dirty="0"/>
              <a:t> 2020, </a:t>
            </a:r>
            <a:r>
              <a:rPr dirty="0" err="1"/>
              <a:t>recuperacion</a:t>
            </a:r>
            <a:r>
              <a:rPr dirty="0"/>
              <a:t> 2021-2023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rPr dirty="0"/>
              <a:t>  </a:t>
            </a:r>
            <a:r>
              <a:rPr dirty="0" err="1"/>
              <a:t>Episodios</a:t>
            </a:r>
            <a:r>
              <a:rPr dirty="0"/>
              <a:t> </a:t>
            </a:r>
            <a:r>
              <a:rPr dirty="0" err="1"/>
              <a:t>extremos</a:t>
            </a:r>
            <a:r>
              <a:rPr dirty="0"/>
              <a:t>: SO2 hasta 479 ug/m3 </a:t>
            </a:r>
            <a:r>
              <a:rPr dirty="0" err="1"/>
              <a:t>en</a:t>
            </a:r>
            <a:r>
              <a:rPr dirty="0"/>
              <a:t> Ermita, PM10 hasta 225.6 ug/m3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rPr dirty="0"/>
              <a:t>  Ciclo </a:t>
            </a:r>
            <a:r>
              <a:rPr dirty="0" err="1"/>
              <a:t>diurno</a:t>
            </a:r>
            <a:r>
              <a:rPr dirty="0"/>
              <a:t> y </a:t>
            </a:r>
            <a:r>
              <a:rPr dirty="0" err="1"/>
              <a:t>estacional</a:t>
            </a:r>
            <a:r>
              <a:rPr dirty="0"/>
              <a:t>: O3 </a:t>
            </a:r>
            <a:r>
              <a:rPr dirty="0" err="1"/>
              <a:t>pico</a:t>
            </a:r>
            <a:r>
              <a:rPr dirty="0"/>
              <a:t> </a:t>
            </a:r>
            <a:r>
              <a:rPr dirty="0" err="1"/>
              <a:t>mitad</a:t>
            </a:r>
            <a:r>
              <a:rPr dirty="0"/>
              <a:t> de </a:t>
            </a:r>
            <a:r>
              <a:rPr dirty="0" err="1"/>
              <a:t>ano</a:t>
            </a:r>
            <a:r>
              <a:rPr dirty="0"/>
              <a:t>, PM </a:t>
            </a:r>
            <a:r>
              <a:rPr dirty="0" err="1"/>
              <a:t>en</a:t>
            </a:r>
            <a:r>
              <a:rPr dirty="0"/>
              <a:t> meses </a:t>
            </a:r>
            <a:r>
              <a:rPr dirty="0" err="1"/>
              <a:t>secos</a:t>
            </a:r>
            <a:r>
              <a:rPr dirty="0"/>
              <a:t> (Dic-Mar)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0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9DFF"/>
                </a:solidFill>
                <a:latin typeface="Calibri"/>
              </a:defRPr>
            </a:pPr>
            <a: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EDA: Barrios de Cali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88"/>
                </a:solidFill>
                <a:latin typeface="Calibri"/>
              </a:defRPr>
            </a:pPr>
            <a:r>
              <a:t>339 barrios  22 comunas  Shapefile oficial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11064240" cy="25400"/>
          </a:xfrm>
          <a:prstGeom prst="rect">
            <a:avLst/>
          </a:prstGeom>
          <a:solidFill>
            <a:srgbClr val="22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DFF"/>
                </a:solidFill>
                <a:latin typeface="Calibri"/>
              </a:defRPr>
            </a:pPr>
            <a:r>
              <a:t>Datos geograficos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Fuente: Shapefile oficial mc_barrios.shp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CRS original: EPSG:6249 (MAGNA-SIRGAS / Cali-Valle 2009)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Reproyectado a EPSG:4326 (WGS84) para la app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339 poligonos (barrios) en 22 comunas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Columnas: id_barrio, barrio, comuna, shape_leng, shape_area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Area total: ~120 km2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Extension WGS84: lon [-76.5908, -76.4613], lat [3.3318, 3.5019]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Sin IDs duplicados ni nombres vacios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188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  <a:latin typeface="Calibri"/>
              </a:defRPr>
            </a:pPr>
            <a:r>
              <a:t>Estadisticas por comuna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Comuna 19: mas barrios (33, 9.7%)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Comuna 01: menos barrios (4, 1.2%)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Comuna 17: mayor area (12.68 km2, 10.6%)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Barrio mas grande: Parcelaciones Pance (7.97 km2)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Barrio mas pequeno: La Playa (0.025 km2)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Visualizaciones: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Area por comuna (barras)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Distribucion de areas (histograma)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Mapa barrios coloreado por comuna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Mapa comunas disueltas con centroides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Coropleta de area por barrio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3891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DFF"/>
                </a:solidFill>
                <a:latin typeface="Calibri"/>
              </a:defRPr>
            </a:pPr>
            <a:r>
              <a:t>Integracion con la aplicacion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7548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GeoJSON en app/geo-vision-clip-application/public/geo/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Hook useBarriosGeo.ts para carga en frontend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Tooltip hover: nombre de barrio + comuna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Base para analisis de equidad espacial (+4 pts bonif.)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0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9DFF"/>
                </a:solidFill>
                <a:latin typeface="Calibri"/>
              </a:defRPr>
            </a:pPr>
            <a:r>
              <a:t>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Hallazgos Clave del EDA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88"/>
                </a:solidFill>
                <a:latin typeface="Calibri"/>
              </a:defRPr>
            </a:pPr>
            <a:r>
              <a:t>8 conclusiones principales que guian el modelo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11064240" cy="25400"/>
          </a:xfrm>
          <a:prstGeom prst="rect">
            <a:avLst/>
          </a:prstGeom>
          <a:solidFill>
            <a:srgbClr val="22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5486400" cy="1143000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63500" cy="1143000"/>
          </a:xfrm>
          <a:prstGeom prst="rect">
            <a:avLst/>
          </a:prstGeom>
          <a:solidFill>
            <a:srgbClr val="FF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23444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3D5A"/>
                </a:solidFill>
                <a:latin typeface="Calibri"/>
              </a:defRPr>
            </a:pPr>
            <a:r>
              <a:t>Nubosidad critica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463040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alibri"/>
              </a:defRPr>
            </a:pPr>
            <a:r>
              <a:t>Solo 32.9% escenas S2 y 7-25% pixeles S5P validos.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188720"/>
            <a:ext cx="5486400" cy="1143000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188720"/>
            <a:ext cx="63500" cy="1143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55080" y="123444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  <a:latin typeface="Calibri"/>
              </a:defRPr>
            </a:pPr>
            <a:r>
              <a:t>Hotspot de aerosoles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463040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alibri"/>
              </a:defRPr>
            </a:pPr>
            <a:r>
              <a:t>Yumbo-Acopi: AOD ~0.12 superior al promedio.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514600"/>
            <a:ext cx="5486400" cy="1143000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2514600"/>
            <a:ext cx="63500" cy="11430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256032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76"/>
                </a:solidFill>
                <a:latin typeface="Calibri"/>
              </a:defRPr>
            </a:pPr>
            <a:r>
              <a:t>BLH: predictor clave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2788920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alibri"/>
              </a:defRPr>
            </a:pPr>
            <a:r>
              <a:t>r = -0.52 con NO2. Covariable N 1.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2514600"/>
            <a:ext cx="5486400" cy="1143000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17920" y="2514600"/>
            <a:ext cx="63500" cy="1143000"/>
          </a:xfrm>
          <a:prstGeom prst="rect">
            <a:avLst/>
          </a:prstGeom>
          <a:solidFill>
            <a:srgbClr val="00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55080" y="256032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DFF"/>
                </a:solidFill>
                <a:latin typeface="Calibri"/>
              </a:defRPr>
            </a:pPr>
            <a:r>
              <a:t>Separabilidad espectral S2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788920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alibri"/>
              </a:defRPr>
            </a:pPr>
            <a:r>
              <a:t>NIR y SWIR discriminan 4 clases.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840480"/>
            <a:ext cx="5486400" cy="1143000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3840480"/>
            <a:ext cx="63500" cy="1143000"/>
          </a:xfrm>
          <a:prstGeom prst="rect">
            <a:avLst/>
          </a:prstGeom>
          <a:solidFill>
            <a:srgbClr val="A8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388620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85DFF"/>
                </a:solidFill>
                <a:latin typeface="Calibri"/>
              </a:defRPr>
            </a:pPr>
            <a:r>
              <a:t>Correlacion NO2-O3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4114800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alibri"/>
              </a:defRPr>
            </a:pPr>
            <a:r>
              <a:t>r = -0.42 (titulacion fotoquimica).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3840480"/>
            <a:ext cx="5486400" cy="1143000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17920" y="3840480"/>
            <a:ext cx="63500" cy="1143000"/>
          </a:xfrm>
          <a:prstGeom prst="rect">
            <a:avLst/>
          </a:prstGeom>
          <a:solidFill>
            <a:srgbClr val="0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55080" y="388620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0E0"/>
                </a:solidFill>
                <a:latin typeface="Calibri"/>
              </a:defRPr>
            </a:pPr>
            <a:r>
              <a:t>Tendencia COVID-19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4114800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alibri"/>
              </a:defRPr>
            </a:pPr>
            <a:r>
              <a:t>Caida 18% NO2 en 2020, recuperacion al 92%.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166360"/>
            <a:ext cx="5486400" cy="1143000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57200" y="5166360"/>
            <a:ext cx="63500" cy="1143000"/>
          </a:xfrm>
          <a:prstGeom prst="rect">
            <a:avLst/>
          </a:prstGeom>
          <a:solidFill>
            <a:srgbClr val="FF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94360" y="521208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3D5A"/>
                </a:solidFill>
                <a:latin typeface="Calibri"/>
              </a:defRPr>
            </a:pPr>
            <a:r>
              <a:t>NO2 limitado en DAGMA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5440680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alibri"/>
              </a:defRPr>
            </a:pPr>
            <a:r>
              <a:t>Solo Univalle. Datos = predicciones de modelo.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5166360"/>
            <a:ext cx="5486400" cy="1143000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217920" y="5166360"/>
            <a:ext cx="63500" cy="1143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55080" y="521208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  <a:latin typeface="Calibri"/>
              </a:defRPr>
            </a:pPr>
            <a:r>
              <a:t>Estacionalidad marcada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5440680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alibri"/>
              </a:defRPr>
            </a:pPr>
            <a:r>
              <a:t>NO2 picos jul-ago, O3 mitad de ano, PM secos.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0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9DFF"/>
                </a:solidFill>
                <a:latin typeface="Calibri"/>
              </a:defRPr>
            </a:pPr>
            <a:r>
              <a:t>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Correlaciones Cruzadas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88"/>
                </a:solidFill>
                <a:latin typeface="Calibri"/>
              </a:defRPr>
            </a:pPr>
            <a:r>
              <a:t>Entre contaminantes, meteorologia y covariables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11064240" cy="25400"/>
          </a:xfrm>
          <a:prstGeom prst="rect">
            <a:avLst/>
          </a:prstGeom>
          <a:solidFill>
            <a:srgbClr val="22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1828800" cy="292608"/>
          </a:xfrm>
          <a:prstGeom prst="rect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28016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Variable 1</a:t>
            </a:r>
          </a:p>
        </p:txBody>
      </p:sp>
      <p:sp>
        <p:nvSpPr>
          <p:cNvPr id="9" name="Rectangle 8"/>
          <p:cNvSpPr/>
          <p:nvPr/>
        </p:nvSpPr>
        <p:spPr>
          <a:xfrm>
            <a:off x="2194560" y="1280160"/>
            <a:ext cx="1828800" cy="292608"/>
          </a:xfrm>
          <a:prstGeom prst="rect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194560" y="128016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Variable 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0" y="1280160"/>
            <a:ext cx="1371600" cy="292608"/>
          </a:xfrm>
          <a:prstGeom prst="rect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023360" y="128016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r de Pearson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94960" y="1280160"/>
            <a:ext cx="5029200" cy="292608"/>
          </a:xfrm>
          <a:prstGeom prst="rect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94960" y="128016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Interpretacion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572768"/>
            <a:ext cx="18288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60" y="157276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BLH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94560" y="1572768"/>
            <a:ext cx="18288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194560" y="157276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NO2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23360" y="1572768"/>
            <a:ext cx="13716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023360" y="157276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-0.52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94960" y="1572768"/>
            <a:ext cx="50292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394960" y="157276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Mas predictiva. BLH baja atrapa contaminantes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1828800"/>
            <a:ext cx="182880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5760" y="182880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T2m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94560" y="1828800"/>
            <a:ext cx="182880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194560" y="182880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NO2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023360" y="1828800"/>
            <a:ext cx="137160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023360" y="182880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-0.38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94960" y="1828800"/>
            <a:ext cx="502920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394960" y="182880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Calor acelera consumo fotoquimico de NO2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2084832"/>
            <a:ext cx="18288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65760" y="208483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HR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94560" y="2084832"/>
            <a:ext cx="18288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194560" y="208483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O3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023360" y="2084832"/>
            <a:ext cx="13716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023360" y="208483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+0.41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394960" y="2084832"/>
            <a:ext cx="50292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394960" y="208483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Humedad alta correlaciona con mas ozono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2340864"/>
            <a:ext cx="182880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65760" y="234086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Viento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194560" y="2340864"/>
            <a:ext cx="182880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194560" y="234086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SO2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023360" y="2340864"/>
            <a:ext cx="137160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023360" y="234086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-0.29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394960" y="2340864"/>
            <a:ext cx="502920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394960" y="234086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Viento dispersa SO2 industrial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2596896"/>
            <a:ext cx="18288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65760" y="259689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NO2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194560" y="2596896"/>
            <a:ext cx="18288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194560" y="259689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O3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023360" y="2596896"/>
            <a:ext cx="13716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023360" y="259689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-0.42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394960" y="2596896"/>
            <a:ext cx="50292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394960" y="259689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Titulacion fotoquimica: NO + O3  NO2 + O2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2852928"/>
            <a:ext cx="182880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65760" y="285292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NO2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194560" y="2852928"/>
            <a:ext cx="182880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194560" y="285292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SO2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023360" y="2852928"/>
            <a:ext cx="137160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023360" y="28529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+0.38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394960" y="2852928"/>
            <a:ext cx="502920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394960" y="285292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Fuentes compartidas: transporte + industria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65760" y="3108960"/>
            <a:ext cx="18288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365760" y="310896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T2m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194560" y="3108960"/>
            <a:ext cx="18288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2194560" y="310896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BLH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023360" y="3108960"/>
            <a:ext cx="13716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4023360" y="31089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+0.80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394960" y="3108960"/>
            <a:ext cx="50292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394960" y="310896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Temperatura y BLH fuertemente acopladas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65760" y="3364992"/>
            <a:ext cx="182880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365760" y="336499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O3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194560" y="3364992"/>
            <a:ext cx="182880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2194560" y="336499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Temperatura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023360" y="3364992"/>
            <a:ext cx="137160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4023360" y="33649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+0.60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394960" y="3364992"/>
            <a:ext cx="502920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5394960" y="336499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Formacion fotoquimica con calor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31520" y="4114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DFF"/>
                </a:solidFill>
                <a:latin typeface="Calibri"/>
              </a:defRPr>
            </a:pPr>
            <a:r>
              <a:t>Implicaciones para el modelo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31520" y="44805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  BLH como covariable forzada en ConvLSTM (r=-0.52 justifica su inclusion)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  ERA5 no es opcional: la meteorologia modula la contaminacion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  Anti-correlacion NO2-O3: el modelo debe aprender dinamica fotoquimica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  Correlacion entre contaminantes valida el enfoque multi-output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  Separabilidad S2 + correlaciones meteorologicas = base del downscaling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0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9DFF"/>
                </a:solidFill>
                <a:latin typeface="Calibri"/>
              </a:defRPr>
            </a:pPr>
            <a:r>
              <a:t>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rPr dirty="0"/>
              <a:t>Ground Truth: </a:t>
            </a:r>
            <a:r>
              <a:rPr dirty="0" err="1"/>
              <a:t>Limitaciones</a:t>
            </a:r>
            <a:r>
              <a:rPr dirty="0"/>
              <a:t> y </a:t>
            </a:r>
            <a:r>
              <a:rPr dirty="0" err="1"/>
              <a:t>Transparencia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18872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88"/>
                </a:solidFill>
                <a:latin typeface="Calibri"/>
              </a:defRPr>
            </a:pPr>
            <a:r>
              <a:t>Datos SVCASC: lo que son y lo que no 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11064240" cy="25400"/>
          </a:xfrm>
          <a:prstGeom prst="rect">
            <a:avLst/>
          </a:prstGeom>
          <a:solidFill>
            <a:srgbClr val="22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DFF"/>
                </a:solidFill>
                <a:latin typeface="Calibri"/>
              </a:defRPr>
            </a:pPr>
            <a:r>
              <a:t>Que son los datos SVCASC?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SVCASC.FT.50 = Sistema de Vigilancia de Calidad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del Aire de Santiago de Cali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NO son mediciones directas de sensores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Son SALIDAS DE MODELOS DE PREDICCION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Reflejan patrones medios, no eventos agudos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Ventana limitada: 2020-2023 (4 anos)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Satelites cubren 2019-2023 (5 anos)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Extrapolar 2019 = datos sinteticos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Decision correcta: trabajar con 4 anos reales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188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3D5A"/>
                </a:solidFill>
                <a:latin typeface="Calibri"/>
              </a:defRPr>
            </a:pPr>
            <a:r>
              <a:t>Limitaciones documentadas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rPr dirty="0"/>
              <a:t>1. NO2 </a:t>
            </a:r>
            <a:r>
              <a:rPr dirty="0" err="1"/>
              <a:t>restringido</a:t>
            </a:r>
            <a:r>
              <a:rPr dirty="0"/>
              <a:t> a </a:t>
            </a:r>
            <a:r>
              <a:rPr dirty="0" err="1"/>
              <a:t>Univalle</a:t>
            </a: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rPr dirty="0"/>
              <a:t>   </a:t>
            </a:r>
            <a:r>
              <a:rPr dirty="0" err="1"/>
              <a:t>Imposible</a:t>
            </a:r>
            <a:r>
              <a:rPr dirty="0"/>
              <a:t> </a:t>
            </a:r>
            <a:r>
              <a:rPr dirty="0" err="1"/>
              <a:t>validar</a:t>
            </a:r>
            <a:r>
              <a:rPr dirty="0"/>
              <a:t> </a:t>
            </a:r>
            <a:r>
              <a:rPr dirty="0" err="1"/>
              <a:t>distribucion</a:t>
            </a:r>
            <a:r>
              <a:rPr dirty="0"/>
              <a:t> </a:t>
            </a:r>
            <a:r>
              <a:rPr dirty="0" err="1"/>
              <a:t>espacial</a:t>
            </a: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rPr dirty="0"/>
              <a:t>   Solo 1 punto para LOO-CV </a:t>
            </a:r>
            <a:r>
              <a:rPr dirty="0" err="1"/>
              <a:t>espacial</a:t>
            </a: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rPr dirty="0"/>
              <a:t>2. Datos </a:t>
            </a:r>
            <a:r>
              <a:rPr dirty="0" err="1"/>
              <a:t>generados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modelos</a:t>
            </a: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rPr dirty="0"/>
              <a:t>   No </a:t>
            </a:r>
            <a:r>
              <a:rPr dirty="0" err="1"/>
              <a:t>capturan</a:t>
            </a:r>
            <a:r>
              <a:rPr dirty="0"/>
              <a:t> </a:t>
            </a:r>
            <a:r>
              <a:rPr dirty="0" err="1"/>
              <a:t>episodios</a:t>
            </a:r>
            <a:r>
              <a:rPr dirty="0"/>
              <a:t> </a:t>
            </a:r>
            <a:r>
              <a:rPr dirty="0" err="1"/>
              <a:t>agudos</a:t>
            </a:r>
            <a:r>
              <a:rPr dirty="0"/>
              <a:t> reales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rPr dirty="0"/>
              <a:t>   </a:t>
            </a:r>
            <a:r>
              <a:rPr dirty="0" err="1"/>
              <a:t>Suavizan</a:t>
            </a:r>
            <a:r>
              <a:rPr dirty="0"/>
              <a:t> la </a:t>
            </a:r>
            <a:r>
              <a:rPr dirty="0" err="1"/>
              <a:t>variabilidad</a:t>
            </a:r>
            <a:r>
              <a:rPr dirty="0"/>
              <a:t> real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rPr dirty="0"/>
              <a:t>3. </a:t>
            </a:r>
            <a:r>
              <a:rPr dirty="0" err="1"/>
              <a:t>Desbalance</a:t>
            </a:r>
            <a:r>
              <a:rPr dirty="0"/>
              <a:t> temporal: 4 vs 5 </a:t>
            </a:r>
            <a:r>
              <a:rPr dirty="0" err="1"/>
              <a:t>anos</a:t>
            </a: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rPr dirty="0"/>
              <a:t>   Reduce </a:t>
            </a:r>
            <a:r>
              <a:rPr dirty="0" err="1"/>
              <a:t>ventana</a:t>
            </a:r>
            <a:r>
              <a:rPr dirty="0"/>
              <a:t> de </a:t>
            </a:r>
            <a:r>
              <a:rPr dirty="0" err="1"/>
              <a:t>validacion</a:t>
            </a:r>
            <a:r>
              <a:rPr dirty="0"/>
              <a:t> </a:t>
            </a:r>
            <a:r>
              <a:rPr dirty="0" err="1"/>
              <a:t>cruzada</a:t>
            </a: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rPr dirty="0"/>
              <a:t>4. Variables con </a:t>
            </a:r>
            <a:r>
              <a:rPr dirty="0" err="1"/>
              <a:t>cobertura</a:t>
            </a:r>
            <a:r>
              <a:rPr dirty="0"/>
              <a:t> &lt;5%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rPr dirty="0"/>
              <a:t>   Black Carbon (3%), UV-PM (3%)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rPr dirty="0"/>
              <a:t>   </a:t>
            </a:r>
            <a:r>
              <a:rPr dirty="0" err="1"/>
              <a:t>Excluidas</a:t>
            </a:r>
            <a:r>
              <a:rPr dirty="0"/>
              <a:t> del </a:t>
            </a:r>
            <a:r>
              <a:rPr dirty="0" err="1"/>
              <a:t>analisis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731520" y="45720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Calibri"/>
              </a:defRPr>
            </a:pPr>
            <a:r>
              <a:t>Estrategia de mitigacion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3776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  CLIP se entrena con pseudo-labels de S5P (percentiles), NO con DAGMA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  DAGMA se usa solo para validacion externa en LOO-CV (Sit. 3)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  SVCASC sigue siendo la mejor aproximacion disponible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0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9DFF"/>
                </a:solidFill>
                <a:latin typeface="Calibri"/>
              </a:defRPr>
            </a:pPr>
            <a:r>
              <a:t>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Dataset Situacion 2: Vision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88"/>
                </a:solidFill>
                <a:latin typeface="Calibri"/>
              </a:defRPr>
            </a:pPr>
            <a:r>
              <a:t>2,276 pares imagen-texto  5 clases  Split 70/15/15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11064240" cy="25400"/>
          </a:xfrm>
          <a:prstGeom prst="rect">
            <a:avLst/>
          </a:prstGeom>
          <a:solidFill>
            <a:srgbClr val="22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2103120" cy="914400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2103120" cy="508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389888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E676"/>
                </a:solidFill>
                <a:latin typeface="Calibri"/>
              </a:defRPr>
            </a:pPr>
            <a:r>
              <a:t>2,276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78308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Calibri"/>
              </a:defRPr>
            </a:pPr>
            <a:r>
              <a:t>Pares generados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1280160"/>
            <a:ext cx="2103120" cy="914400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43200" y="1280160"/>
            <a:ext cx="2103120" cy="50800"/>
          </a:xfrm>
          <a:prstGeom prst="rect">
            <a:avLst/>
          </a:prstGeom>
          <a:solidFill>
            <a:srgbClr val="00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34640" y="1389888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9DFF"/>
                </a:solidFill>
                <a:latin typeface="Calibri"/>
              </a:defRPr>
            </a:pPr>
            <a:r>
              <a:t>227%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178308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Calibri"/>
              </a:defRPr>
            </a:pPr>
            <a:r>
              <a:t>Del minimo (1000)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1280160"/>
            <a:ext cx="2103120" cy="914400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029200" y="1280160"/>
            <a:ext cx="2103120" cy="50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120640" y="1389888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8C00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178308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Calibri"/>
              </a:defRPr>
            </a:pPr>
            <a:r>
              <a:t>Clases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0" y="1280160"/>
            <a:ext cx="2103120" cy="914400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315200" y="1280160"/>
            <a:ext cx="2103120" cy="50800"/>
          </a:xfrm>
          <a:prstGeom prst="rect">
            <a:avLst/>
          </a:prstGeom>
          <a:solidFill>
            <a:srgbClr val="A8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06640" y="1389888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A85DFF"/>
                </a:solidFill>
                <a:latin typeface="Calibri"/>
              </a:defRPr>
            </a:pPr>
            <a:r>
              <a:t>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178308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Calibri"/>
              </a:defRPr>
            </a:pPr>
            <a:r>
              <a:t>Secuencias 8 fechas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01200" y="1280160"/>
            <a:ext cx="2103120" cy="914400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601200" y="1280160"/>
            <a:ext cx="2103120" cy="50800"/>
          </a:xfrm>
          <a:prstGeom prst="rect">
            <a:avLst/>
          </a:prstGeom>
          <a:solidFill>
            <a:srgbClr val="0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92640" y="1389888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E0E0"/>
                </a:solidFill>
                <a:latin typeface="Calibri"/>
              </a:defRPr>
            </a:pPr>
            <a:r>
              <a:t>SEED=42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0" y="178308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Calibri"/>
              </a:defRPr>
            </a:pPr>
            <a:r>
              <a:t>Split 70/15/15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24688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DFF"/>
                </a:solidFill>
                <a:latin typeface="Calibri"/>
              </a:defRPr>
            </a:pPr>
            <a:r>
              <a:t>Conceptos clave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28346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Tile: recorte 64x64 px (~640 m) de escena Sentinel-2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13 bandas (B1-B12 + SCL), resolucion 10/20/60 m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1 escena S2  hasta 40 tiles (stride 32 px)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Descripcion: texto en espanol por plantillas v2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Pseudo-label: percentil S5P sobre el centroide del tile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Ventana S5P: +/-7 dias alrededor de fecha S2 (nanmax)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468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  <a:latin typeface="Calibri"/>
              </a:defRPr>
            </a:pPr>
            <a:r>
              <a:t>Las 5 clases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2834640"/>
            <a:ext cx="2560320" cy="292608"/>
          </a:xfrm>
          <a:prstGeom prst="rect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0" y="283464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Clase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61120" y="2834640"/>
            <a:ext cx="1097280" cy="292608"/>
          </a:xfrm>
          <a:prstGeom prst="rect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961120" y="283464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Cantidad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058400" y="2834640"/>
            <a:ext cx="2286000" cy="292608"/>
          </a:xfrm>
          <a:prstGeom prst="rect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058400" y="283464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Criterio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3127248"/>
            <a:ext cx="256032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00800" y="312724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contaminacion_alta_NO2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961120" y="3127248"/>
            <a:ext cx="109728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961120" y="312724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500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058400" y="3127248"/>
            <a:ext cx="22860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058400" y="312724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Exceso NO2 vs percentil Cali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3383280"/>
            <a:ext cx="256032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00800" y="338328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contaminacion_alta_SO2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961120" y="3383280"/>
            <a:ext cx="109728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961120" y="338328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276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058400" y="3383280"/>
            <a:ext cx="228600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058400" y="33832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Score v2: mayor exceso relativo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0" y="3639312"/>
            <a:ext cx="256032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400800" y="363931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ozono_anomalo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961120" y="3639312"/>
            <a:ext cx="109728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961120" y="363931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500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058400" y="3639312"/>
            <a:ext cx="22860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0058400" y="363931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O3 vs p90/p25 segun contexto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00800" y="3895344"/>
            <a:ext cx="256032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400800" y="389534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vegetacion_densa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961120" y="3895344"/>
            <a:ext cx="109728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961120" y="389534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500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058400" y="3895344"/>
            <a:ext cx="228600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0058400" y="389534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NDVI &gt;= 0.45, BSI bajo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400800" y="4151376"/>
            <a:ext cx="256032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400800" y="4151376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suelo_urbano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961120" y="4151376"/>
            <a:ext cx="109728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961120" y="415137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500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058400" y="4151376"/>
            <a:ext cx="22860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10058400" y="415137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NDVI &lt;= 0.35, NDBI alto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0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9DFF"/>
                </a:solidFill>
                <a:latin typeface="Calibri"/>
              </a:defRPr>
            </a:pPr>
            <a:r>
              <a:t>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Pipeline de Generacion del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88"/>
                </a:solidFill>
                <a:latin typeface="Calibri"/>
              </a:defRPr>
            </a:pPr>
            <a:r>
              <a:t>generar_dataset_sit2_v2.py  1,218 lineas  Score-based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11064240" cy="25400"/>
          </a:xfrm>
          <a:prstGeom prst="rect">
            <a:avLst/>
          </a:prstGeom>
          <a:solidFill>
            <a:srgbClr val="22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82880" y="1554480"/>
            <a:ext cx="1828800" cy="1371600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82880" y="1554480"/>
            <a:ext cx="1828800" cy="50800"/>
          </a:xfrm>
          <a:prstGeom prst="rect">
            <a:avLst/>
          </a:prstGeom>
          <a:solidFill>
            <a:srgbClr val="00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56032" y="1627632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9DFF"/>
                </a:solidFill>
                <a:latin typeface="Calibri"/>
              </a:defRPr>
            </a:pPr>
            <a:r>
              <a:t>1. Percentiles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" y="1920240"/>
            <a:ext cx="1691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BBBBCC"/>
                </a:solidFill>
                <a:latin typeface="Calibri"/>
              </a:defRPr>
            </a:pPr>
            <a:r>
              <a:t>Lee Zarr S5P de GCS</a:t>
            </a:r>
            <a:br/>
            <a:r>
              <a:t>Step=8 temporal, step=2</a:t>
            </a:r>
            <a:br/>
            <a:r>
              <a:t>p25/p50/p75/p90/p99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01168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6688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94560" y="1554480"/>
            <a:ext cx="1828800" cy="1371600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194560" y="1554480"/>
            <a:ext cx="1828800" cy="508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267712" y="1627632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E676"/>
                </a:solidFill>
                <a:latin typeface="Calibri"/>
              </a:defRPr>
            </a:pPr>
            <a:r>
              <a:t>2. Barrido S2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67712" y="1920240"/>
            <a:ext cx="1691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BBBBCC"/>
                </a:solidFill>
                <a:latin typeface="Calibri"/>
              </a:defRPr>
            </a:pPr>
            <a:r>
              <a:t>Itera escenas S2</a:t>
            </a:r>
            <a:br/>
            <a:r>
              <a:t>ThreadPoolExecutor</a:t>
            </a:r>
            <a:br/>
            <a:r>
              <a:t>Filtro SCL nube/claro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201168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6688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0" y="1554480"/>
            <a:ext cx="1828800" cy="1371600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206240" y="1554480"/>
            <a:ext cx="1828800" cy="50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279392" y="1627632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8C00"/>
                </a:solidFill>
                <a:latin typeface="Calibri"/>
              </a:defRPr>
            </a:pPr>
            <a:r>
              <a:t>3. Tiles 64x64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79392" y="1920240"/>
            <a:ext cx="1691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BBBBCC"/>
                </a:solidFill>
                <a:latin typeface="Calibri"/>
              </a:defRPr>
            </a:pPr>
            <a:r>
              <a:t>Genera tiles con stride</a:t>
            </a:r>
            <a:br/>
            <a:r>
              <a:t>Evalua cada candidato</a:t>
            </a:r>
            <a:br/>
            <a:r>
              <a:t>NDVI, BSI, NDBI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201168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6688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1554480"/>
            <a:ext cx="1828800" cy="1371600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17920" y="1554480"/>
            <a:ext cx="1828800" cy="50800"/>
          </a:xfrm>
          <a:prstGeom prst="rect">
            <a:avLst/>
          </a:prstGeom>
          <a:solidFill>
            <a:srgbClr val="FF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91072" y="1627632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3D5A"/>
                </a:solidFill>
                <a:latin typeface="Calibri"/>
              </a:defRPr>
            </a:pPr>
            <a:r>
              <a:t>4. Clase score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91072" y="1920240"/>
            <a:ext cx="1691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BBBBCC"/>
                </a:solidFill>
                <a:latin typeface="Calibri"/>
              </a:defRPr>
            </a:pPr>
            <a:r>
              <a:t>Score = valor/umbral p90</a:t>
            </a:r>
            <a:br/>
            <a:r>
              <a:t>Maximo score  clase</a:t>
            </a:r>
            <a:br/>
            <a:r>
              <a:t>Balance tracking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201168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6688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1554480"/>
            <a:ext cx="1828800" cy="1371600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229600" y="1554480"/>
            <a:ext cx="1828800" cy="50800"/>
          </a:xfrm>
          <a:prstGeom prst="rect">
            <a:avLst/>
          </a:prstGeom>
          <a:solidFill>
            <a:srgbClr val="A8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02752" y="1627632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A85DFF"/>
                </a:solidFill>
                <a:latin typeface="Calibri"/>
              </a:defRPr>
            </a:pPr>
            <a:r>
              <a:t>5. Descripcion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02752" y="1920240"/>
            <a:ext cx="1691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BBBBCC"/>
                </a:solidFill>
                <a:latin typeface="Calibri"/>
              </a:defRPr>
            </a:pPr>
            <a:r>
              <a:t>Plantillas v2 distintivas</a:t>
            </a:r>
            <a:br/>
            <a:r>
              <a:t>Incluye exceso_*, ndbi</a:t>
            </a:r>
            <a:br/>
            <a:r>
              <a:t>Fecha, lat, lon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201168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6688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241280" y="1554480"/>
            <a:ext cx="1828800" cy="1371600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0241280" y="1554480"/>
            <a:ext cx="1828800" cy="50800"/>
          </a:xfrm>
          <a:prstGeom prst="rect">
            <a:avLst/>
          </a:prstGeom>
          <a:solidFill>
            <a:srgbClr val="0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314432" y="1627632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E0E0"/>
                </a:solidFill>
                <a:latin typeface="Calibri"/>
              </a:defRPr>
            </a:pPr>
            <a:r>
              <a:t>6. Split+flush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14432" y="1920240"/>
            <a:ext cx="1691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BBBBCC"/>
                </a:solidFill>
                <a:latin typeface="Calibri"/>
              </a:defRPr>
            </a:pPr>
            <a:r>
              <a:t>70/15/15 estratificado</a:t>
            </a:r>
            <a:br/>
            <a:r>
              <a:t>Secuencias temporales</a:t>
            </a:r>
            <a:br/>
            <a:r>
              <a:t>Zarr incremental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32004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DFF"/>
                </a:solidFill>
                <a:latin typeface="Calibri"/>
              </a:defRPr>
            </a:pPr>
            <a:r>
              <a:t>Clase _AccesoS5P  Caching inteligente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356616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Cachea los 3 Zarr de S5P (NO2, SO2, O3) en memoria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mapa_compuesto(fecha)  mapa 2D por contaminante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valor_en(lat, lon, fecha)  punto exacto o mediana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buffer 2px si no cae exacto en la grilla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nanmax para agregar multiples orbitas en +/-7 dias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32004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  <a:latin typeface="Calibri"/>
              </a:defRPr>
            </a:pPr>
            <a:r>
              <a:t>Clase IncrementalTilesZarr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356616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Escribe tiles.zarr por lotes, sin acumular todo en RAM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Buffer de N tiles + flush periodico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Redimensiona el Zarr conforme crece (resize)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Thread-safe para escritura concurrente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0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9DFF"/>
                </a:solidFill>
                <a:latin typeface="Calibri"/>
              </a:defRPr>
            </a:pPr>
            <a:r>
              <a:t>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Dataset: v1 vs v2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88"/>
                </a:solidFill>
                <a:latin typeface="Calibri"/>
              </a:defRPr>
            </a:pPr>
            <a:r>
              <a:t>Evolucion del pipeline de generacion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11064240" cy="25400"/>
          </a:xfrm>
          <a:prstGeom prst="rect">
            <a:avLst/>
          </a:prstGeom>
          <a:solidFill>
            <a:srgbClr val="22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2286000" cy="292608"/>
          </a:xfrm>
          <a:prstGeom prst="rect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37160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Caracteristica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371600"/>
            <a:ext cx="4114800" cy="292608"/>
          </a:xfrm>
          <a:prstGeom prst="rect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651760" y="137160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v1 (par_imagen_texto.py)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1371600"/>
            <a:ext cx="4114800" cy="292608"/>
          </a:xfrm>
          <a:prstGeom prst="rect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66560" y="137160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v2 (dataset_sit2_v2.py)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664208"/>
            <a:ext cx="22860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166420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Asignacion clase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51760" y="1664208"/>
            <a:ext cx="41148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651760" y="1664208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Prioridad fija NO2&gt;SO2&gt;O3&gt;Veg&gt;Urb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0" y="1664208"/>
            <a:ext cx="41148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66560" y="1664208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Score-based: max exceso relativo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1920240"/>
            <a:ext cx="228600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5760" y="19202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Indices espectrales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51760" y="1920240"/>
            <a:ext cx="411480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651760" y="192024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NDVI, BSI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66560" y="1920240"/>
            <a:ext cx="411480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766560" y="192024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NDVI, BSI, NDBI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176272"/>
            <a:ext cx="22860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5760" y="217627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Columnas diagnostico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51760" y="2176272"/>
            <a:ext cx="41148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651760" y="2176272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66560" y="2176272"/>
            <a:ext cx="41148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766560" y="2176272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exceso_*, ndbi, p90_*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2432304"/>
            <a:ext cx="228600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65760" y="243230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Descripciones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51760" y="2432304"/>
            <a:ext cx="411480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651760" y="2432304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Genericas, poco distintivas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66560" y="2432304"/>
            <a:ext cx="411480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766560" y="2432304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Mas distintivas, incluyen scores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2688336"/>
            <a:ext cx="22860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65760" y="268833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Balance tracking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651760" y="2688336"/>
            <a:ext cx="41148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651760" y="268833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No (limite duro por clase)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766560" y="2688336"/>
            <a:ext cx="41148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766560" y="268833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Pre-cap por escena + tracking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2944368"/>
            <a:ext cx="228600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65760" y="294436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Lineas codigo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651760" y="2944368"/>
            <a:ext cx="411480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2651760" y="2944368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1,406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766560" y="2944368"/>
            <a:ext cx="411480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766560" y="2944368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1,218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" y="38404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DFF"/>
                </a:solidFill>
                <a:latin typeface="Calibri"/>
              </a:defRPr>
            </a:pPr>
            <a:r>
              <a:t>Impacto de las mejoras v2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" y="420624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  Score-based elimina sesgo de prioridad fija (NO2 ya no siempre gana)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  NDBI mejora discriminacion urbano vs industrial vs vegetacion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  Descripciones mas distintivas  embeddings de texto mas separables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  Columnas de diagnostico permiten analizar causas de error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0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9DFF"/>
                </a:solidFill>
                <a:latin typeface="Calibri"/>
              </a:defRPr>
            </a:pPr>
            <a:r>
              <a:t>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Percentiles Globales S5P (Cali, 5 anos)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88"/>
                </a:solidFill>
                <a:latin typeface="Calibri"/>
              </a:defRPr>
            </a:pPr>
            <a:r>
              <a:t>Umbrales para etiquetado semi-supervisado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11064240" cy="25400"/>
          </a:xfrm>
          <a:prstGeom prst="rect">
            <a:avLst/>
          </a:prstGeom>
          <a:solidFill>
            <a:srgbClr val="22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71600" y="1371600"/>
            <a:ext cx="1828800" cy="292608"/>
          </a:xfrm>
          <a:prstGeom prst="rect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137160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Contaminante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371600"/>
            <a:ext cx="1828800" cy="292608"/>
          </a:xfrm>
          <a:prstGeom prst="rect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0" y="137160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p25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1371600"/>
            <a:ext cx="1828800" cy="292608"/>
          </a:xfrm>
          <a:prstGeom prst="rect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0" y="137160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p50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0" y="1371600"/>
            <a:ext cx="1828800" cy="292608"/>
          </a:xfrm>
          <a:prstGeom prst="rect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0" y="137160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p75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371600"/>
            <a:ext cx="1828800" cy="292608"/>
          </a:xfrm>
          <a:prstGeom prst="rect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0" y="137160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p90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515600" y="1371600"/>
            <a:ext cx="1828800" cy="292608"/>
          </a:xfrm>
          <a:prstGeom prst="rect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515600" y="137160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p99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71600" y="1664208"/>
            <a:ext cx="18288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371600" y="166420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NO2 (mol/m2)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0" y="1664208"/>
            <a:ext cx="18288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200400" y="166420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1.76e-5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0" y="1664208"/>
            <a:ext cx="18288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0" y="166420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2.40e-5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1664208"/>
            <a:ext cx="18288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0" y="166420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3.27e-5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0" y="1664208"/>
            <a:ext cx="18288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86800" y="166420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4.57e-5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515600" y="1664208"/>
            <a:ext cx="18288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515600" y="166420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8.56e-5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371600" y="1920240"/>
            <a:ext cx="182880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371600" y="192024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SO2 (mol/m2)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0" y="1920240"/>
            <a:ext cx="182880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200400" y="192024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1.27e-4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0" y="1920240"/>
            <a:ext cx="182880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029200" y="192024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2.04e-4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0" y="1920240"/>
            <a:ext cx="182880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858000" y="192024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3.25e-4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686800" y="1920240"/>
            <a:ext cx="182880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686800" y="192024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5.90e-4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515600" y="1920240"/>
            <a:ext cx="182880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515600" y="192024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1.28e-3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371600" y="2176272"/>
            <a:ext cx="18288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371600" y="217627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O3 (mol/m2)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0" y="2176272"/>
            <a:ext cx="18288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200400" y="217627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0.113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0" y="2176272"/>
            <a:ext cx="18288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029200" y="217627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0.115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858000" y="2176272"/>
            <a:ext cx="18288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858000" y="217627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0.118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686800" y="2176272"/>
            <a:ext cx="18288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686800" y="217627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0.122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515600" y="2176272"/>
            <a:ext cx="18288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0515600" y="217627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0.129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1520" y="27432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DFF"/>
                </a:solidFill>
                <a:latin typeface="Calibri"/>
              </a:defRPr>
            </a:pPr>
            <a:r>
              <a:t>Como se usan los percentiles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1520" y="310896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  Muestreo: step temporal 8, step espacial 2 sobre Zarr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  Ventana temporal: +/-7 dias alrededor de fecha S2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  Agregacion: nanmax (maximo de orbitas disponibles)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  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  Regla de etiquetado v2 (score-based):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    score_NO2 = valor_NO2 / p90_NO2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    score_SO2 = valor_SO2 / p90_SO2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    score_O3 = valor_O3 / p90_O3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    Clase = argmax(score) si max(score) &gt; 1.0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    Si no: evaluar NDVI/BSI/NDBI para vegetacion/urbano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  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  Ventaja: NO2 deja de tener prioridad absoluta sobre SO2/O3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0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9DFF"/>
                </a:solidFill>
                <a:latin typeface="Calibri"/>
              </a:defRPr>
            </a:pPr>
            <a:r>
              <a:t>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Estructura del Dataset Generado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88"/>
                </a:solidFill>
                <a:latin typeface="Calibri"/>
              </a:defRPr>
            </a:pPr>
            <a:r>
              <a:t>Archivos de salida en dataset_sit2/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11064240" cy="25400"/>
          </a:xfrm>
          <a:prstGeom prst="rect">
            <a:avLst/>
          </a:prstGeom>
          <a:solidFill>
            <a:srgbClr val="22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DFF"/>
                </a:solidFill>
                <a:latin typeface="Calibri"/>
              </a:defRPr>
            </a:pPr>
            <a:r>
              <a:t>Archivos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tiles.zarr: (2276, 13, 64, 64) int16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metadatos.parquet: 2276 filas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percentiles.json: umbrales p25-p99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secuencias.json: 30 secuencias x 8 fechas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resumen.json: estadisticas globales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188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  <a:latin typeface="Calibri"/>
              </a:defRPr>
            </a:pPr>
            <a:r>
              <a:t>Columnas del Parquet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tile_id, clase, descripcion, split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centroide_lat, centroide_lon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ndvi, bsi, ndbi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no2, so2, o3 (valores S5P)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exceso_NO2, exceso_SO2, exceso_O3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p90_NO2, p90_SO2, p90_O3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fecha, frac_nubes, frac_claros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valid_ratio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14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DFF"/>
                </a:solidFill>
                <a:latin typeface="Calibri"/>
              </a:defRPr>
            </a:pPr>
            <a:r>
              <a:t>Split estratificado (70/15/15)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4805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  Train: 1,593 tiles  Val: 341 tiles  Test: 342 tiles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  Estratificado por clase: cada clase mantiene proporcion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  Semilla fija SEED=42  reproducible entre integrantes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  Secuencias temporales agrupadas por celda 0.1 grado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  30 secuencias de 8 fechas cuasi-consecutivas para ConvLSTM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0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9DFF"/>
                </a:solidFill>
                <a:latin typeface="Calibri"/>
              </a:defRPr>
            </a:pPr>
            <a:r>
              <a:t>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EDA del Dataset: Calidad y Problemas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88"/>
                </a:solidFill>
                <a:latin typeface="Calibri"/>
              </a:defRPr>
            </a:pPr>
            <a:r>
              <a:t>sit2_EDA_pares_dataset.ipynb  2,613 lineas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11064240" cy="25400"/>
          </a:xfrm>
          <a:prstGeom prst="rect">
            <a:avLst/>
          </a:prstGeom>
          <a:solidFill>
            <a:srgbClr val="22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DFF"/>
                </a:solidFill>
                <a:latin typeface="Calibri"/>
              </a:defRPr>
            </a:pPr>
            <a:r>
              <a:t>Analisis de calidad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Balance global y por split (barras por clase)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Estadisticas por clase: NDVI, BSI, NO2, SO2 (boxplots)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Matriz de correlacion entre variables numericas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Distribucion temporal de adquisiciones por split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Muestras RGB: 4 tiles aleatorios por clase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146 tiles de baja calidad identificados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Filtro estricto: 88.91% pasa (nubes&lt;=0.15, claros&gt;=0.90)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188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3D5A"/>
                </a:solidFill>
                <a:latin typeface="Calibri"/>
              </a:defRPr>
            </a:pPr>
            <a:r>
              <a:t>Problemas detectados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DATA LEAKAGE: 100% escenas val en train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  180 escenas S2 compartidas train/val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  Recall optimista: el modelo memoriza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Textos casi identicos dentro de cada clase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  Embeddings de texto colapsan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~38 tiles con clase inconsistente con lo visual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  Ruido en pseudo-labels por escala S5P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Ozono alto vs bajo: mismo template textual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~4.5% tiles casi negros (poca informacion)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5720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DFF"/>
                </a:solidFill>
                <a:latin typeface="Calibri"/>
              </a:defRPr>
            </a:pPr>
            <a:r>
              <a:t>Completitud temporal para Sit.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3776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Grilla 0.05 grados  ~863 secuencias deslizantes posibles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30 secuencias de 8 fechas generadas (minimo consigna)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0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9DFF"/>
                </a:solidFill>
                <a:latin typeface="Calibri"/>
              </a:defRPr>
            </a:pPr>
            <a:r>
              <a:t>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Diagnostico y Plan de Mejora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88"/>
                </a:solidFill>
                <a:latin typeface="Calibri"/>
              </a:defRPr>
            </a:pPr>
            <a:r>
              <a:t>INFORME_DIAGNOSTICO_SIT2.md  340 lineas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11064240" cy="25400"/>
          </a:xfrm>
          <a:prstGeom prst="rect">
            <a:avLst/>
          </a:prstGeom>
          <a:solidFill>
            <a:srgbClr val="22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3611880" cy="1645920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3611880" cy="50800"/>
          </a:xfrm>
          <a:prstGeom prst="rect">
            <a:avLst/>
          </a:prstGeom>
          <a:solidFill>
            <a:srgbClr val="FF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1627632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3D5A"/>
                </a:solidFill>
                <a:latin typeface="Calibri"/>
              </a:defRPr>
            </a:pPr>
            <a:r>
              <a:t>Causa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828800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Textos no discriminativos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05740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BBCC"/>
                </a:solidFill>
                <a:latin typeface="Calibri"/>
              </a:defRPr>
            </a:pPr>
            <a:r>
              <a:t>Embeddings de texto de la misma clase casi identicos  espacio contrastivo no puede alinear imagenes distintas con textos indistinguibles.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554480"/>
            <a:ext cx="3611880" cy="1645920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97680" y="1554480"/>
            <a:ext cx="3611880" cy="50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07408" y="1627632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00"/>
                </a:solidFill>
                <a:latin typeface="Calibri"/>
              </a:defRPr>
            </a:pPr>
            <a:r>
              <a:t>Causa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7408" y="1828800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Data leakage train/val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8" y="205740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BBCC"/>
                </a:solidFill>
                <a:latin typeface="Calibri"/>
              </a:defRPr>
            </a:pPr>
            <a:r>
              <a:t>100% escenas val en train  modelo memoriza en lugar de generalizar  Recall optimista.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1554480"/>
            <a:ext cx="3611880" cy="1645920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38160" y="1554480"/>
            <a:ext cx="3611880" cy="50800"/>
          </a:xfrm>
          <a:prstGeom prst="rect">
            <a:avLst/>
          </a:prstGeom>
          <a:solidFill>
            <a:srgbClr val="A8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47888" y="1627632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85DFF"/>
                </a:solidFill>
                <a:latin typeface="Calibri"/>
              </a:defRPr>
            </a:pPr>
            <a:r>
              <a:t>Causa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1828800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SAE lineal sin ReLU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7888" y="205740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BBCC"/>
                </a:solidFill>
                <a:latin typeface="Calibri"/>
              </a:defRPr>
            </a:pPr>
            <a:r>
              <a:t>Encoder lineal produce z gaussiano  sparsity techo ~5%. Sparsity 70% imposible sin no-linealidad.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4747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DFF"/>
                </a:solidFill>
                <a:latin typeface="Calibri"/>
              </a:defRPr>
            </a:pPr>
            <a:r>
              <a:t>Recomendaciones del informe diagnostico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8404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E676"/>
                </a:solidFill>
                <a:latin typeface="Calibri"/>
              </a:defRPr>
            </a:pPr>
            <a:r>
              <a:t>R-D1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840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alibri"/>
              </a:defRPr>
            </a:pPr>
            <a:r>
              <a:t>Split por escena S2, no por tile  elimina leakage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38404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E676"/>
                </a:solidFill>
                <a:latin typeface="Calibri"/>
              </a:defRPr>
            </a:pPr>
            <a:r>
              <a:t>R-D2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3840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alibri"/>
              </a:defRPr>
            </a:pPr>
            <a:r>
              <a:t>Filtros SCL mas estrictos: solo pixeles claros (clases 4-7)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22452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E676"/>
                </a:solidFill>
                <a:latin typeface="Calibri"/>
              </a:defRPr>
            </a:pPr>
            <a:r>
              <a:t>R-D3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22452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alibri"/>
              </a:defRPr>
            </a:pPr>
            <a:r>
              <a:t>Aumentar diversidad de descripciones (mas plantillas)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422452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E676"/>
                </a:solidFill>
                <a:latin typeface="Calibri"/>
              </a:defRPr>
            </a:pPr>
            <a:r>
              <a:t>R-D4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422452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alibri"/>
              </a:defRPr>
            </a:pPr>
            <a:r>
              <a:t>Verificar coherencia visual-S5P con buffer espacial mayor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608576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E676"/>
                </a:solidFill>
                <a:latin typeface="Calibri"/>
              </a:defRPr>
            </a:pPr>
            <a:r>
              <a:t>R-D5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460857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alibri"/>
              </a:defRPr>
            </a:pPr>
            <a:r>
              <a:t>Expandir ventana S5P a +/-14 dias para mejorar cobertura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4608576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9DFF"/>
                </a:solidFill>
                <a:latin typeface="Calibri"/>
              </a:defRPr>
            </a:pPr>
            <a:r>
              <a:t>R-M1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460857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alibri"/>
              </a:defRPr>
            </a:pPr>
            <a:r>
              <a:t>ReLU en encoder SAE + lambda L1 mas agresivo (sparsity &gt;=70%)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992624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9DFF"/>
                </a:solidFill>
                <a:latin typeface="Calibri"/>
              </a:defRPr>
            </a:pPr>
            <a:r>
              <a:t>R-M2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99262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alibri"/>
              </a:defRPr>
            </a:pPr>
            <a:r>
              <a:t>Split por escena + early stopping con paciencia reducida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4992624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9DFF"/>
                </a:solidFill>
                <a:latin typeface="Calibri"/>
              </a:defRPr>
            </a:pPr>
            <a:r>
              <a:t>R-M3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499262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alibri"/>
              </a:defRPr>
            </a:pPr>
            <a:r>
              <a:t>LoRA rank 16 en bloques 6-11 de ViT y texto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37667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9DFF"/>
                </a:solidFill>
                <a:latin typeface="Calibri"/>
              </a:defRPr>
            </a:pPr>
            <a:r>
              <a:t>R-M4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537667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alibri"/>
              </a:defRPr>
            </a:pPr>
            <a:r>
              <a:t>12 bandas opticas con conv1 multiespectral (no true-color)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0" y="537667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9DFF"/>
                </a:solidFill>
                <a:latin typeface="Calibri"/>
              </a:defRPr>
            </a:pPr>
            <a:r>
              <a:t>R-M5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75120" y="537667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alibri"/>
              </a:defRPr>
            </a:pPr>
            <a:r>
              <a:t>Prompts ES+EN: ~10 variantes por clase para diversidad textual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0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9DFF"/>
                </a:solidFill>
                <a:latin typeface="Calibri"/>
              </a:defRPr>
            </a:pPr>
            <a:r>
              <a:t>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Modelo GeoVision-CLIP + SAE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88"/>
                </a:solidFill>
                <a:latin typeface="Calibri"/>
              </a:defRPr>
            </a:pPr>
            <a:r>
              <a:t>Arquitectura multimodal contrastiva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11064240" cy="25400"/>
          </a:xfrm>
          <a:prstGeom prst="rect">
            <a:avLst/>
          </a:prstGeom>
          <a:solidFill>
            <a:srgbClr val="22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2103120" cy="1188720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2103120" cy="50800"/>
          </a:xfrm>
          <a:prstGeom prst="rect">
            <a:avLst/>
          </a:prstGeom>
          <a:solidFill>
            <a:srgbClr val="00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" y="146304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Imagen S2</a:t>
            </a:r>
            <a:br/>
            <a:r>
              <a:t>Tile 64x64</a:t>
            </a:r>
            <a:br/>
            <a:r>
              <a:t>13 bandas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17373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66688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06040" y="1371600"/>
            <a:ext cx="2103120" cy="1188720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606040" y="1371600"/>
            <a:ext cx="2103120" cy="50800"/>
          </a:xfrm>
          <a:prstGeom prst="rect">
            <a:avLst/>
          </a:prstGeom>
          <a:solidFill>
            <a:srgbClr val="0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651760" y="146304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Conv 13-&gt;3</a:t>
            </a:r>
            <a:br/>
            <a:r>
              <a:t>true-color</a:t>
            </a:r>
            <a:br/>
            <a:r>
              <a:t>B4,B3,B2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17373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66688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37760" y="1371600"/>
            <a:ext cx="2103120" cy="1188720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937760" y="1371600"/>
            <a:ext cx="2103120" cy="508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983480" y="146304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ViT-B/32</a:t>
            </a:r>
            <a:br/>
            <a:r>
              <a:t>RemoteCLIP</a:t>
            </a:r>
            <a:br/>
            <a:r>
              <a:t>768-d frozen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17373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66688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69480" y="1371600"/>
            <a:ext cx="2103120" cy="1188720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269480" y="1371600"/>
            <a:ext cx="2103120" cy="50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0" y="146304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SAE_img</a:t>
            </a:r>
            <a:br/>
            <a:r>
              <a:t>512-&gt;512</a:t>
            </a:r>
            <a:br/>
            <a:r>
              <a:t>Sparse AE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17373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66688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01200" y="1371600"/>
            <a:ext cx="2103120" cy="1188720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601200" y="1371600"/>
            <a:ext cx="2103120" cy="50800"/>
          </a:xfrm>
          <a:prstGeom prst="rect">
            <a:avLst/>
          </a:prstGeom>
          <a:solidFill>
            <a:srgbClr val="FF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46920" y="146304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Proj Head</a:t>
            </a:r>
            <a:br/>
            <a:r>
              <a:t>512-&gt;256</a:t>
            </a:r>
            <a:br/>
            <a:r>
              <a:t>Espacio 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2926080"/>
            <a:ext cx="2103120" cy="1188720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74320" y="2926080"/>
            <a:ext cx="2103120" cy="508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20040" y="301752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Texto ES</a:t>
            </a:r>
            <a:br/>
            <a:r>
              <a:t>Descripcion</a:t>
            </a:r>
            <a:br/>
            <a:r>
              <a:t>max 256 tok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40" y="32918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66688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06040" y="2926080"/>
            <a:ext cx="2103120" cy="1188720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606040" y="2926080"/>
            <a:ext cx="2103120" cy="50800"/>
          </a:xfrm>
          <a:prstGeom prst="rect">
            <a:avLst/>
          </a:prstGeom>
          <a:solidFill>
            <a:srgbClr val="0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651760" y="301752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MiniLM-L12</a:t>
            </a:r>
            <a:br/>
            <a:r>
              <a:t>384-d</a:t>
            </a:r>
            <a:br/>
            <a:r>
              <a:t>Multilingue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09160" y="32918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66688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37760" y="2926080"/>
            <a:ext cx="2103120" cy="1188720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937760" y="2926080"/>
            <a:ext cx="2103120" cy="50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983480" y="301752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Linear</a:t>
            </a:r>
            <a:br/>
            <a:r>
              <a:t>384-&gt;512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0880" y="32918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66688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269480" y="2926080"/>
            <a:ext cx="2103120" cy="1188720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269480" y="2926080"/>
            <a:ext cx="2103120" cy="50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315200" y="301752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SAE_txt</a:t>
            </a:r>
            <a:br/>
            <a:r>
              <a:t>512-&gt;512</a:t>
            </a:r>
            <a:br/>
            <a:r>
              <a:t>Sparse AE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72600" y="32918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66688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601200" y="2926080"/>
            <a:ext cx="2103120" cy="1188720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9601200" y="2926080"/>
            <a:ext cx="2103120" cy="50800"/>
          </a:xfrm>
          <a:prstGeom prst="rect">
            <a:avLst/>
          </a:prstGeom>
          <a:solidFill>
            <a:srgbClr val="FF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646920" y="301752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Proj Head</a:t>
            </a:r>
            <a:br/>
            <a:r>
              <a:t>512-&gt;256</a:t>
            </a:r>
            <a:br/>
            <a:r>
              <a:t>Espacio C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14800" y="4389120"/>
            <a:ext cx="3931920" cy="1097280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4114800" y="4389120"/>
            <a:ext cx="3931920" cy="508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206240" y="448056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E676"/>
                </a:solidFill>
                <a:latin typeface="Calibri"/>
              </a:defRPr>
            </a:pPr>
            <a:r>
              <a:t>InfoNCE Contrastive Loss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06240" y="4754880"/>
            <a:ext cx="3749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L = L_InfoNCE + a*(L_SAE_img + L_SAE_txt)</a:t>
            </a:r>
            <a:br/>
            <a:r>
              <a:t>L_SAE = MSE(x, xh) + l*||z||1</a:t>
            </a:r>
            <a:br/>
            <a:r>
              <a:t>t=0.07 (learnable)  a=0.1  l=1e-3</a:t>
            </a:r>
            <a:br/>
            <a:r>
              <a:t>d=512 SAE  dim contrastiva=256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" y="57607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8C00"/>
                </a:solidFill>
                <a:latin typeface="Calibri"/>
              </a:defRPr>
            </a:pPr>
            <a:r>
              <a:t>Frozen parcial: ViT congelado, fine-tune condicional en capas finales. SAE y projection heads entrenables.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0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9DFF"/>
                </a:solidFill>
                <a:latin typeface="Calibri"/>
              </a:defRPr>
            </a:pPr>
            <a:r>
              <a:t>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Rama Imagen: RemoteCLIP + SAE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88"/>
                </a:solidFill>
                <a:latin typeface="Calibri"/>
              </a:defRPr>
            </a:pPr>
            <a:r>
              <a:t>Encoder visual con adaptacion multiespectral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11064240" cy="25400"/>
          </a:xfrm>
          <a:prstGeom prst="rect">
            <a:avLst/>
          </a:prstGeom>
          <a:solidFill>
            <a:srgbClr val="22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DFF"/>
                </a:solidFill>
                <a:latin typeface="Calibri"/>
              </a:defRPr>
            </a:pPr>
            <a:r>
              <a:t>Arquitectura detallada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Entrada: Tile (13, 64, 64)  13 bandas Sentinel-2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Paso 1  Adaptacion espectral: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  Conv2d 3-&gt;12 canales (pesos RemoteCLIP)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  True-color: B4-&gt;R, B3-&gt;G, B2-&gt;B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  9 canales restantes: media RGB * (3/12)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  Interpolacion bilineal a 224x224 px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Paso 2  ViT-B/32 RemoteCLIP: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  Congelado (frozen) durante entrenamiento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  Fine-tune condicional con LoRA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  Salida: embedding 768-d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Paso 3  SAE visual: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  Encoder: Linear(768, 512)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  Decoder: Linear(512, 768)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  Sparsity target: &gt;70%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Paso 4  Projection head: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  Linear(512, 256) sin bias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  Normalizacion L2  espacio unitario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188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Calibri"/>
              </a:defRPr>
            </a:pPr>
            <a:r>
              <a:t>LoRA adapters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Implementacion: LoRALinear (nn.Module custom)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Rank: 8 (experimental)  16 (en mejora)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Aplica desde bloque 6 del ViT en adelante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Solo pesos query/value de atencion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Inferencia: Wx + (B*A)x, sin overhead extra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Ventaja: adaptar RemoteCLIP al dominio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  Sentinel-2 sin perder representaciones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  pre-entrenadas en imagenes de satelite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0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9DFF"/>
                </a:solidFill>
                <a:latin typeface="Calibri"/>
              </a:defRPr>
            </a:pPr>
            <a:r>
              <a:t>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Rama Texto: MiniLM + SAE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88"/>
                </a:solidFill>
                <a:latin typeface="Calibri"/>
              </a:defRPr>
            </a:pPr>
            <a:r>
              <a:t>Encoder textual multilingue para descripciones en espanol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11064240" cy="25400"/>
          </a:xfrm>
          <a:prstGeom prst="rect">
            <a:avLst/>
          </a:prstGeom>
          <a:solidFill>
            <a:srgbClr val="22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DFF"/>
                </a:solidFill>
                <a:latin typeface="Calibri"/>
              </a:defRPr>
            </a:pPr>
            <a:r>
              <a:t>Arquitectura detallada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Entrada: Descripcion textual en espanol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  Max tokens: 256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  Tokenizer: multilingue (sentencepiece)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Paso 1  MiniLM-L12: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  paraphrase-multilingual-MiniLM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  12 capas, 384-d hidden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  Congelado (frozen): solo LoRA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  Salida: embedding 384-d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Paso 2  Linear adapter: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  Linear(384, 512) para igualar SAE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Paso 3  SAE texto: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  Encoder: Linear(512, 512)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  Decoder: Linear(512, 512)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  Misma arquitectura que SAE visual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Paso 4  Projection head: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  Linear(512, 256) sin bias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  Normalizacion L2  mismo espacio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188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  <a:latin typeface="Calibri"/>
              </a:defRPr>
            </a:pPr>
            <a:r>
              <a:t>Ejemplos descripciones v2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BBBBCC"/>
                </a:solidFill>
                <a:latin typeface="Calibri"/>
              </a:defRPr>
            </a:pPr>
            <a:r>
              <a:t>contaminacion_alta_NO2:</a:t>
            </a:r>
          </a:p>
          <a:p>
            <a:pPr>
              <a:spcAft>
                <a:spcPts val="200"/>
              </a:spcAft>
              <a:defRPr sz="900">
                <a:solidFill>
                  <a:srgbClr val="BBBBCC"/>
                </a:solidFill>
                <a:latin typeface="Calibri"/>
              </a:defRPr>
            </a:pPr>
            <a:r>
              <a:t>  'Imagen satelital de Cali con contaminacion</a:t>
            </a:r>
          </a:p>
          <a:p>
            <a:pPr>
              <a:spcAft>
                <a:spcPts val="200"/>
              </a:spcAft>
              <a:defRPr sz="900">
                <a:solidFill>
                  <a:srgbClr val="BBBBCC"/>
                </a:solidFill>
                <a:latin typeface="Calibri"/>
              </a:defRPr>
            </a:pPr>
            <a:r>
              <a:t>  alta de NO2. Nivel excede el percentil 90</a:t>
            </a:r>
          </a:p>
          <a:p>
            <a:pPr>
              <a:spcAft>
                <a:spcPts val="200"/>
              </a:spcAft>
              <a:defRPr sz="900">
                <a:solidFill>
                  <a:srgbClr val="BBBBCC"/>
                </a:solidFill>
                <a:latin typeface="Calibri"/>
              </a:defRPr>
            </a:pPr>
            <a:r>
              <a:t>  de la distribucion historica (4.57e-5).'</a:t>
            </a:r>
          </a:p>
          <a:p>
            <a:pPr>
              <a:spcAft>
                <a:spcPts val="200"/>
              </a:spcAft>
              <a:defRPr sz="900">
                <a:solidFill>
                  <a:srgbClr val="BBBBCC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900">
                <a:solidFill>
                  <a:srgbClr val="BBBBCC"/>
                </a:solidFill>
                <a:latin typeface="Calibri"/>
              </a:defRPr>
            </a:pPr>
            <a:r>
              <a:t>contaminacion_alta_SO2:</a:t>
            </a:r>
          </a:p>
          <a:p>
            <a:pPr>
              <a:spcAft>
                <a:spcPts val="200"/>
              </a:spcAft>
              <a:defRPr sz="900">
                <a:solidFill>
                  <a:srgbClr val="BBBBCC"/>
                </a:solidFill>
                <a:latin typeface="Calibri"/>
              </a:defRPr>
            </a:pPr>
            <a:r>
              <a:t>  'Tile con concentracion critica de SO2.</a:t>
            </a:r>
          </a:p>
          <a:p>
            <a:pPr>
              <a:spcAft>
                <a:spcPts val="200"/>
              </a:spcAft>
              <a:defRPr sz="900">
                <a:solidFill>
                  <a:srgbClr val="BBBBCC"/>
                </a:solidFill>
                <a:latin typeface="Calibri"/>
              </a:defRPr>
            </a:pPr>
            <a:r>
              <a:t>  Valor: 6.02e-4 mol/m2. Probable fuente:</a:t>
            </a:r>
          </a:p>
          <a:p>
            <a:pPr>
              <a:spcAft>
                <a:spcPts val="200"/>
              </a:spcAft>
              <a:defRPr sz="900">
                <a:solidFill>
                  <a:srgbClr val="BBBBCC"/>
                </a:solidFill>
                <a:latin typeface="Calibri"/>
              </a:defRPr>
            </a:pPr>
            <a:r>
              <a:t>  corredor industrial Yumbo-Acopi.'</a:t>
            </a:r>
          </a:p>
          <a:p>
            <a:pPr>
              <a:spcAft>
                <a:spcPts val="200"/>
              </a:spcAft>
              <a:defRPr sz="900">
                <a:solidFill>
                  <a:srgbClr val="BBBBCC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900">
                <a:solidFill>
                  <a:srgbClr val="BBBBCC"/>
                </a:solidFill>
                <a:latin typeface="Calibri"/>
              </a:defRPr>
            </a:pPr>
            <a:r>
              <a:t>vegetacion_densa:</a:t>
            </a:r>
          </a:p>
          <a:p>
            <a:pPr>
              <a:spcAft>
                <a:spcPts val="200"/>
              </a:spcAft>
              <a:defRPr sz="900">
                <a:solidFill>
                  <a:srgbClr val="BBBBCC"/>
                </a:solidFill>
                <a:latin typeface="Calibri"/>
              </a:defRPr>
            </a:pPr>
            <a:r>
              <a:t>  'Cobertura vegetal densa con NDVI de 0.72.</a:t>
            </a:r>
          </a:p>
          <a:p>
            <a:pPr>
              <a:spcAft>
                <a:spcPts val="200"/>
              </a:spcAft>
              <a:defRPr sz="900">
                <a:solidFill>
                  <a:srgbClr val="BBBBCC"/>
                </a:solidFill>
                <a:latin typeface="Calibri"/>
              </a:defRPr>
            </a:pPr>
            <a:r>
              <a:t>  BSI bajo (-0.15). Zona rural o parque.'</a:t>
            </a:r>
          </a:p>
          <a:p>
            <a:pPr>
              <a:spcAft>
                <a:spcPts val="200"/>
              </a:spcAft>
              <a:defRPr sz="900">
                <a:solidFill>
                  <a:srgbClr val="BBBBCC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900">
                <a:solidFill>
                  <a:srgbClr val="BBBBCC"/>
                </a:solidFill>
                <a:latin typeface="Calibri"/>
              </a:defRPr>
            </a:pPr>
            <a:r>
              <a:t>suelo_urbano:</a:t>
            </a:r>
          </a:p>
          <a:p>
            <a:pPr>
              <a:spcAft>
                <a:spcPts val="200"/>
              </a:spcAft>
              <a:defRPr sz="900">
                <a:solidFill>
                  <a:srgbClr val="BBBBCC"/>
                </a:solidFill>
                <a:latin typeface="Calibri"/>
              </a:defRPr>
            </a:pPr>
            <a:r>
              <a:t>  'Zona urbana consolidada. NDBI: 0.18.</a:t>
            </a:r>
          </a:p>
          <a:p>
            <a:pPr>
              <a:spcAft>
                <a:spcPts val="200"/>
              </a:spcAft>
              <a:defRPr sz="900">
                <a:solidFill>
                  <a:srgbClr val="BBBBCC"/>
                </a:solidFill>
                <a:latin typeface="Calibri"/>
              </a:defRPr>
            </a:pPr>
            <a:r>
              <a:t>  Fraccion construida alta. Bajo NDVI.'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0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9DFF"/>
                </a:solidFill>
                <a:latin typeface="Calibri"/>
              </a:defRPr>
            </a:pPr>
            <a:r>
              <a:t>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Sparse Autoencoder (Post-train)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88"/>
                </a:solidFill>
                <a:latin typeface="Calibri"/>
              </a:defRPr>
            </a:pPr>
            <a:r>
              <a:t>Entrenamiento separado sobre embeddings congelados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11064240" cy="25400"/>
          </a:xfrm>
          <a:prstGeom prst="rect">
            <a:avLst/>
          </a:prstGeom>
          <a:solidFill>
            <a:srgbClr val="22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DFF"/>
                </a:solidFill>
                <a:latin typeface="Calibri"/>
              </a:defRPr>
            </a:pPr>
            <a:r>
              <a:t>Arquitectura y parametros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Arquitectura: 512  ReLU  2048  Linear  512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  d_hidden = 4 x d_model = 2048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Hiperparametros: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  EPOCHS = 8,000 (ocho mil)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  LR = 1e-3, AdamW, CosineAnnealingLR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  LAMBDA_L1 = 1e-2 (sparsity)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  BATCH_SIZE = 256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  CLIP_GRAD_NORM = 1.0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Decoder normalization: filas a norma unitaria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Adaptive lambda: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  sparsity &lt; target-0.05  l x1.15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  sparsity &gt; target+0.1   l x0.85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188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  <a:latin typeface="Calibri"/>
              </a:defRPr>
            </a:pPr>
            <a:r>
              <a:t>Resultados espectaculares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MSE minimo: 1.29e-06 (KPI &lt;= 0.05  EXCELENTE)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Sparsity final: 94.1% (KPI &gt;= 0.70  EXCELENTE)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Evolucion del entrenamiento: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  Epoca 0:    MSE 0.0014, sparsity 63.7%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  Epoca 800:  MSE 8e-6,   sparsity 92.9%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  Epoca 7999: MSE 1.3e-6, sparsity 94.1%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189263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DFF"/>
                </a:solidFill>
                <a:latin typeface="Calibri"/>
              </a:defRPr>
            </a:pPr>
            <a:r>
              <a:rPr dirty="0" err="1"/>
              <a:t>Analisis</a:t>
            </a:r>
            <a:r>
              <a:rPr dirty="0"/>
              <a:t> de </a:t>
            </a:r>
            <a:r>
              <a:rPr dirty="0" err="1"/>
              <a:t>neuronas</a:t>
            </a:r>
            <a:r>
              <a:rPr dirty="0"/>
              <a:t> (</a:t>
            </a:r>
            <a:r>
              <a:rPr dirty="0" err="1"/>
              <a:t>interpretabilidad</a:t>
            </a:r>
            <a:r>
              <a:rPr dirty="0"/>
              <a:t> </a:t>
            </a:r>
            <a:r>
              <a:rPr dirty="0" err="1"/>
              <a:t>mecanica</a:t>
            </a:r>
            <a:r>
              <a:rPr dirty="0"/>
              <a:t>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88720" y="4742000"/>
            <a:ext cx="1097280" cy="292608"/>
          </a:xfrm>
          <a:prstGeom prst="rect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474200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Neurona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0" y="4742000"/>
            <a:ext cx="2286000" cy="292608"/>
          </a:xfrm>
          <a:prstGeom prst="rect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286000" y="474200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Correlacion mas alta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4742000"/>
            <a:ext cx="914400" cy="292608"/>
          </a:xfrm>
          <a:prstGeom prst="rect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0" y="474200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0" y="4742000"/>
            <a:ext cx="3200400" cy="292608"/>
          </a:xfrm>
          <a:prstGeom prst="rect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0" y="474200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Interpretacion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88720" y="5034608"/>
            <a:ext cx="109728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88720" y="503460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1415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0" y="5034608"/>
            <a:ext cx="22860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286000" y="503460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NDVI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5034608"/>
            <a:ext cx="9144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0" y="503460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+0.8192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0" y="5034608"/>
            <a:ext cx="32004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86400" y="503460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Detector de vegetacion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88720" y="5290640"/>
            <a:ext cx="109728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188720" y="529064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1907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0" y="5290640"/>
            <a:ext cx="228600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286000" y="52906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NDVI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0" y="5290640"/>
            <a:ext cx="91440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72000" y="52906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-0.7171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0" y="5290640"/>
            <a:ext cx="320040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486400" y="529064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Detector de ausencia vegetacion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88720" y="5546672"/>
            <a:ext cx="109728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188720" y="554667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1415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86000" y="5546672"/>
            <a:ext cx="22860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286000" y="554667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BSI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0" y="5546672"/>
            <a:ext cx="9144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572000" y="554667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-0.7912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0" y="5546672"/>
            <a:ext cx="32004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486400" y="554667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Anti-suelo desnudo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88720" y="5802704"/>
            <a:ext cx="109728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188720" y="58027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1907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86000" y="5802704"/>
            <a:ext cx="228600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286000" y="580270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BSI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0" y="5802704"/>
            <a:ext cx="91440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572000" y="580270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+0.7504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0" y="5802704"/>
            <a:ext cx="320040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486400" y="580270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Detector de suelo desnudo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188720" y="6058736"/>
            <a:ext cx="109728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188720" y="605873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116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286000" y="6058736"/>
            <a:ext cx="22860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2286000" y="605873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NO2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0" y="6058736"/>
            <a:ext cx="9144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572000" y="605873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+0.3451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486400" y="6058736"/>
            <a:ext cx="32004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486400" y="605873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Detector de contaminacion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188720" y="6314768"/>
            <a:ext cx="109728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1188720" y="631476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1226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286000" y="6314768"/>
            <a:ext cx="228600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2286000" y="631476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frac_nodata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72000" y="6314768"/>
            <a:ext cx="91440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572000" y="631476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+0.4971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486400" y="6314768"/>
            <a:ext cx="320040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5486400" y="631476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Detector de datos faltantes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0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9DFF"/>
                </a:solidFill>
                <a:latin typeface="Calibri"/>
              </a:defRPr>
            </a:pPr>
            <a:r>
              <a:t>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Entrenamiento CLIP (Sit. 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88"/>
                </a:solidFill>
                <a:latin typeface="Calibri"/>
              </a:defRPr>
            </a:pPr>
            <a:r>
              <a:t>20 epochs  LoRA  RemoteCLIP adaptado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11064240" cy="25400"/>
          </a:xfrm>
          <a:prstGeom prst="rect">
            <a:avLst/>
          </a:prstGeom>
          <a:solidFill>
            <a:srgbClr val="22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DFF"/>
                </a:solidFill>
                <a:latin typeface="Calibri"/>
              </a:defRPr>
            </a:pPr>
            <a:r>
              <a:t>Configuracion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Framework: PyTorch Lightning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GPU: T4/P100 (Kaggle), A100 (Colab)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Batch size: 32-64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Epochs: 20 (early stopping epoca 8)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Optimizer: AdamW (lr=1e-5, wd=0.2)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Scheduler: CosineAnnealingLR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Loss: CrossEntropy + label_smoothing=0.1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LoRA: rank 8, bloques 6-11 del ViT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188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  <a:latin typeface="Calibri"/>
              </a:defRPr>
            </a:pPr>
            <a:r>
              <a:t>Curvas de entrenamiento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554480"/>
            <a:ext cx="1097280" cy="292608"/>
          </a:xfrm>
          <a:prstGeom prst="rect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8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Epoca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80" y="1554480"/>
            <a:ext cx="1097280" cy="292608"/>
          </a:xfrm>
          <a:prstGeom prst="rect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0" y="155448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Train 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95360" y="1554480"/>
            <a:ext cx="1097280" cy="292608"/>
          </a:xfrm>
          <a:prstGeom prst="rect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95360" y="155448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Val 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92640" y="1554480"/>
            <a:ext cx="914400" cy="292608"/>
          </a:xfrm>
          <a:prstGeom prst="rect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92640" y="155448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Acc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607040" y="1554480"/>
            <a:ext cx="914400" cy="292608"/>
          </a:xfrm>
          <a:prstGeom prst="rect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607040" y="155448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R@1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521440" y="1554480"/>
            <a:ext cx="914400" cy="292608"/>
          </a:xfrm>
          <a:prstGeom prst="rect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521440" y="155448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R@5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1847088"/>
            <a:ext cx="109728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0" y="184708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0" y="1847088"/>
            <a:ext cx="109728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98080" y="184708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1.5483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95360" y="1847088"/>
            <a:ext cx="109728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95360" y="184708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1.4804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92640" y="1847088"/>
            <a:ext cx="9144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92640" y="184708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0.363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607040" y="1847088"/>
            <a:ext cx="9144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607040" y="184708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0.363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521440" y="1847088"/>
            <a:ext cx="9144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1521440" y="184708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1.0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2103120"/>
            <a:ext cx="109728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00800" y="210312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98080" y="2103120"/>
            <a:ext cx="109728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498080" y="210312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1.4267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595360" y="2103120"/>
            <a:ext cx="109728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595360" y="210312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1.4457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692640" y="2103120"/>
            <a:ext cx="91440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692640" y="210312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0.407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607040" y="2103120"/>
            <a:ext cx="91440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607040" y="210312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0.395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521440" y="2103120"/>
            <a:ext cx="91440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1521440" y="210312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1.0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0" y="2359152"/>
            <a:ext cx="109728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00800" y="235915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498080" y="2359152"/>
            <a:ext cx="109728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498080" y="235915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1.3899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595360" y="2359152"/>
            <a:ext cx="109728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595360" y="235915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1.4240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692640" y="2359152"/>
            <a:ext cx="9144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692640" y="235915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0.434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607040" y="2359152"/>
            <a:ext cx="9144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0607040" y="235915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0.440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1521440" y="2359152"/>
            <a:ext cx="9144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1521440" y="235915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1.0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00800" y="2615184"/>
            <a:ext cx="109728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400800" y="261518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498080" y="2615184"/>
            <a:ext cx="109728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498080" y="261518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1.0441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595360" y="2615184"/>
            <a:ext cx="109728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595360" y="261518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1.4705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92640" y="2615184"/>
            <a:ext cx="91440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692640" y="261518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0.434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607040" y="2615184"/>
            <a:ext cx="91440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10607040" y="261518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0.434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1521440" y="2615184"/>
            <a:ext cx="91440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1521440" y="261518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1.0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400800" y="2871216"/>
            <a:ext cx="109728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400800" y="287121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19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498080" y="2871216"/>
            <a:ext cx="109728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7498080" y="287121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0.5114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595360" y="2871216"/>
            <a:ext cx="109728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8595360" y="287121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1.7130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692640" y="2871216"/>
            <a:ext cx="9144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9692640" y="287121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0.386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607040" y="2871216"/>
            <a:ext cx="9144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10607040" y="287121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0.378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1521440" y="2871216"/>
            <a:ext cx="9144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11521440" y="287121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1.0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31520" y="32004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DFF"/>
                </a:solidFill>
                <a:latin typeface="Calibri"/>
              </a:defRPr>
            </a:pPr>
            <a:r>
              <a:t>Analisis de resultados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31520" y="356616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Mejor accuracy val: 43.4% (epoca 8)  luego overfitting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Test accuracy: 47.4%, Test Recall@1: 46.8%, Test R@5: 100%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R@5=100% es trivial (solo 5 clases)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R@1=0.47 cerca del umbral 0.45, pero hay data leakage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Overfitting: train loss 0.51, val loss sube a 1.71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Matriz confusion: vegetacion 52%, NO2 44%, SO2 28%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SO2 confunde con NO2 (misma fuente industrial)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0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9DFF"/>
                </a:solidFill>
                <a:latin typeface="Calibri"/>
              </a:defRPr>
            </a:pPr>
            <a:r>
              <a:t>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KPIs: Estado vs Metas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88"/>
                </a:solidFill>
                <a:latin typeface="Calibri"/>
              </a:defRPr>
            </a:pPr>
            <a:r>
              <a:t>Comparacion consigna vs logrado con semaforo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11064240" cy="25400"/>
          </a:xfrm>
          <a:prstGeom prst="rect">
            <a:avLst/>
          </a:prstGeom>
          <a:solidFill>
            <a:srgbClr val="22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280160"/>
            <a:ext cx="2926080" cy="292608"/>
          </a:xfrm>
          <a:prstGeom prst="rect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1280160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KPI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1371600" cy="292608"/>
          </a:xfrm>
          <a:prstGeom prst="rect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0" y="128016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Minimo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280160"/>
            <a:ext cx="1371600" cy="292608"/>
          </a:xfrm>
          <a:prstGeom prst="rect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128016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Excelente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280160"/>
            <a:ext cx="2743200" cy="292608"/>
          </a:xfrm>
          <a:prstGeom prst="rect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0" y="128016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Logrado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1828800" cy="292608"/>
          </a:xfrm>
          <a:prstGeom prst="rect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0" y="128016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Estado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572768"/>
            <a:ext cx="292608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74320" y="157276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Recall@1 imagen-&gt;texto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0" y="1572768"/>
            <a:ext cx="13716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200400" y="157276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&gt;= 0.45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0" y="1572768"/>
            <a:ext cx="13716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0" y="157276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&gt;= 0.65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0" y="1572768"/>
            <a:ext cx="27432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43600" y="157276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0.11 (CLIP) / 0.47 (CNN)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0" y="1572768"/>
            <a:ext cx="18288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686800" y="157276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En mejora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1828800"/>
            <a:ext cx="292608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74320" y="182880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Recall@5 imagen-&gt;texto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0" y="1828800"/>
            <a:ext cx="137160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200400" y="182880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&gt;= 0.70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0" y="1828800"/>
            <a:ext cx="137160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72000" y="182880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&gt;= 0.85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0" y="1828800"/>
            <a:ext cx="274320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943600" y="182880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0.24 (CLIP) / 1.0 (CNN)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686800" y="1828800"/>
            <a:ext cx="182880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686800" y="182880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En mejora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2084832"/>
            <a:ext cx="292608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74320" y="2084832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Sparsity ratio SAE visual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0" y="2084832"/>
            <a:ext cx="13716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200400" y="208483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&gt;= 0.70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0" y="2084832"/>
            <a:ext cx="13716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572000" y="208483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&gt;= 0.85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43600" y="2084832"/>
            <a:ext cx="27432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943600" y="208483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0.941 (post-train)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686800" y="2084832"/>
            <a:ext cx="18288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686800" y="208483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EXCELENTE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2340864"/>
            <a:ext cx="292608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74320" y="2340864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Loss reconstruccion SAE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0" y="2340864"/>
            <a:ext cx="137160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200400" y="234086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&lt;= 0.05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0" y="2340864"/>
            <a:ext cx="137160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572000" y="234086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&lt;= 0.02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943600" y="2340864"/>
            <a:ext cx="274320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943600" y="234086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1.29e-06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686800" y="2340864"/>
            <a:ext cx="182880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686800" y="234086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EXCELENTE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" y="2596896"/>
            <a:ext cx="292608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74320" y="2596896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Varianza explicada AFE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200400" y="2596896"/>
            <a:ext cx="13716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200400" y="259689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&gt;= 80%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72000" y="2596896"/>
            <a:ext cx="13716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572000" y="259689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&gt;= 90%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943600" y="2596896"/>
            <a:ext cx="27432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43600" y="259689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85.56% (2 factores)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686800" y="2596896"/>
            <a:ext cx="18288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686800" y="259689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LOGRADO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74320" y="2852928"/>
            <a:ext cx="292608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274320" y="285292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RMSEA (modelo AFC)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200400" y="2852928"/>
            <a:ext cx="137160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3200400" y="28529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&lt; 0.08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572000" y="2852928"/>
            <a:ext cx="137160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4572000" y="28529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&lt; 0.05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943600" y="2852928"/>
            <a:ext cx="274320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5943600" y="285292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0.0417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686800" y="2852928"/>
            <a:ext cx="182880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8686800" y="285292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EXCELENTE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74320" y="3108960"/>
            <a:ext cx="292608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274320" y="310896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CFI (modelo AFC)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200400" y="3108960"/>
            <a:ext cx="13716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3200400" y="31089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&gt; 0.90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572000" y="3108960"/>
            <a:ext cx="13716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4572000" y="31089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&gt; 0.95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943600" y="3108960"/>
            <a:ext cx="27432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5943600" y="310896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0.9989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686800" y="3108960"/>
            <a:ext cx="18288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8686800" y="310896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EXCELENTE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74320" y="3364992"/>
            <a:ext cx="292608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274320" y="3364992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Pares imagen-texto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200400" y="3364992"/>
            <a:ext cx="137160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3200400" y="33649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&gt;= 1,000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572000" y="3364992"/>
            <a:ext cx="137160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4572000" y="33649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&gt;= 1,500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943600" y="3364992"/>
            <a:ext cx="274320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5943600" y="336499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2,276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686800" y="3364992"/>
            <a:ext cx="182880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8686800" y="336499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EXCELENTE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74320" y="3621024"/>
            <a:ext cx="292608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274320" y="3621024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Secuencias &gt;=8 fechas</a:t>
            </a:r>
          </a:p>
        </p:txBody>
      </p:sp>
      <p:sp>
        <p:nvSpPr>
          <p:cNvPr id="99" name="Rectangle 98"/>
          <p:cNvSpPr/>
          <p:nvPr/>
        </p:nvSpPr>
        <p:spPr>
          <a:xfrm>
            <a:off x="3200400" y="3621024"/>
            <a:ext cx="13716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3200400" y="362102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&gt;= 30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572000" y="3621024"/>
            <a:ext cx="13716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4572000" y="362102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&gt;= 50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943600" y="3621024"/>
            <a:ext cx="27432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5943600" y="362102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30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686800" y="3621024"/>
            <a:ext cx="18288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8686800" y="362102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LOGRADO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274320" y="3877056"/>
            <a:ext cx="292608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274320" y="3877056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Panel &gt;=50 GB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3200400" y="3877056"/>
            <a:ext cx="137160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3200400" y="387705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&gt;= 50 GB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572000" y="3877056"/>
            <a:ext cx="137160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4572000" y="387705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&gt;= 60 GB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5943600" y="3877056"/>
            <a:ext cx="274320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5943600" y="387705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66.78 GB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686800" y="3877056"/>
            <a:ext cx="182880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8686800" y="387705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EXCELENTE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31520" y="45720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DFF"/>
                </a:solidFill>
                <a:latin typeface="Calibri"/>
              </a:defRPr>
            </a:pPr>
            <a:r>
              <a:t>Notas sobre los KPIs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31520" y="493776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  Recall@1 CLIP puro (0.11) vs CNN classifier (0.47): CLIP contrastivo en etapa temprana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  R@5=1.0 del CNN es trivial (solo 5 clases)  la metrica relevante es R@1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  SAE post-train independiente ya cumple TODOS los KPIs (sparsity, MSE, AFE, AFC)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  AFE+AFC realizados sobre embeddings SAE, no sobre CLIP raw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0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9DFF"/>
                </a:solidFill>
                <a:latin typeface="Calibri"/>
              </a:defRPr>
            </a:pPr>
            <a:r>
              <a:t>36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Validacion Psicometrica: AFE + AFC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88"/>
                </a:solidFill>
                <a:latin typeface="Calibri"/>
              </a:defRPr>
            </a:pPr>
            <a:r>
              <a:t>Analisis factorial sobre embeddings SAE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11064240" cy="25400"/>
          </a:xfrm>
          <a:prstGeom prst="rect">
            <a:avLst/>
          </a:prstGeom>
          <a:solidFill>
            <a:srgbClr val="22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DFF"/>
                </a:solidFill>
                <a:latin typeface="Calibri"/>
              </a:defRPr>
            </a:pPr>
            <a:r>
              <a:t>AFE (Analisis Factorial Exploratorio)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Metodo: FactorAnalyzer con rotacion Varimax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Extraccion: Componentes Principales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Resultados: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  KMO = 0.9746  EXCELENTE (&gt;0.9 = marvelous)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  Bartlett chi2 = 103,790, p = 0.0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  Criterio Kaiser: 2 factores retenidos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  Varianza explicada: 85.56%  KPI&gt;=80% OK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  RMSR = 0.0206  EXCELENTE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  Scree plot con caida clara tras factor 2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Interpretacion de los 2 factores: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  Factor 1: Carga Urbana / Antropogenica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  Factor 2: Estres Vegetal / Atmosferico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188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  <a:latin typeface="Calibri"/>
              </a:defRPr>
            </a:pPr>
            <a:r>
              <a:t>AFC (Analisis Factorial Confirmatorio)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Software: semopy (SEM en Python)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Estimador: DWLS (robusto, datos no normales)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Modelo: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  Carga_Urbana  7 indicadores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  Estres_Vegetal_Atmosferico  7 indicadores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Resultados: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  RMSEA = 0.0417  KPI &lt;0.08 OK  EXCELENTE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  CFI = 0.9989    KPI &gt;0.90 OK  EXCELENTE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  chi2 = 375.41, gl = 76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Los embeddings SAE tienen estructura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factorial consistente con constructos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teoricos: el espacio latente es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psicometricamente valido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846320"/>
            <a:ext cx="10698480" cy="914400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9377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Los SAE aprenden representaciones que (1) reconstruyen con MSE 1e-6, (2) son 94% dispersas, (3) se organizan en 2 factores interpretables (85.6% varianza), (4) pasan pruebas estrictas de validez de constructo (RMSEA=0.04, CFI=0.999).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0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9DFF"/>
                </a:solidFill>
                <a:latin typeface="Calibri"/>
              </a:defRPr>
            </a:pPr>
            <a:r>
              <a:t>37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Situacion 3: Generacion Tensor ConvLSTM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88"/>
                </a:solidFill>
                <a:latin typeface="Calibri"/>
              </a:defRPr>
            </a:pPr>
            <a:r>
              <a:t>sit3_generar_tensor_convlstm.ipynb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11064240" cy="25400"/>
          </a:xfrm>
          <a:prstGeom prst="rect">
            <a:avLst/>
          </a:prstGeom>
          <a:solidFill>
            <a:srgbClr val="22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DFF"/>
                </a:solidFill>
                <a:latin typeface="Calibri"/>
              </a:defRPr>
            </a:pPr>
            <a:r>
              <a:t>Pipeline de generacion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1. Descarga dataset_sit2 desde HuggingFace Hub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2. Carga S5P (NO2, SO2, O3) desde Zarr en GCS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3. Carga checkpoint RemoteCLIP fine-tuned (best.pt)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4. Adaptacion conv1: 3-&gt;12 canales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5. Extraccion embeddings 512-d: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   Normalizacion sample-wise (mean/std 512 tiles)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   Batch processing (B=64)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   Interpolacion bilineal a 224x224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6. Generacion secuencias: agrupa por celda 0.05 grados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7. Targets S5P: T+1, T+3, T+7 (nearest, tol 3 dias)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188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  <a:latin typeface="Calibri"/>
              </a:defRPr>
            </a:pPr>
            <a:r>
              <a:t>Arquitectura del tensor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Entrada X: (N, 8, 522, 5, 5)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  N = numero de secuencias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  8 = pasos temporales (SEQ_LEN)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  522 canales: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    512 = embeddings RemoteCLIP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    10 = codificacion positional: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      doy_sin, doy_cos, mes_sin, mes_cos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      lat_norm, lon_norm, time_delta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      ndvi, bsi, ndbi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  5x5 = grilla espacial (0.005 deg res)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Target y: (N, 3, 3)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  3 horizontes: T+1, T+3, T+7</a:t>
            </a:r>
          </a:p>
          <a:p>
            <a:pPr>
              <a:spcAft>
                <a:spcPts val="2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  3 contaminantes: NO2, SO2, O3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5720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DFF"/>
                </a:solidFill>
                <a:latin typeface="Calibri"/>
              </a:defRPr>
            </a:pPr>
            <a:r>
              <a:t>Configuracion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3776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  SEQ_LEN=8, HORIZONS=[1,3,7], GS=5, STRIDE=0.005 deg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  C=522, DEVICE=cuda, subido a HF: Slucu-0310/geovision-cali-sit3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  Tensor listo para ConvLSTM bidireccional (hidden=128, kernel=3, 2 capas)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0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9DFF"/>
                </a:solidFill>
                <a:latin typeface="Calibri"/>
              </a:defRPr>
            </a:pPr>
            <a:r>
              <a:t>38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Covariables para ConvLSTM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88"/>
                </a:solidFill>
                <a:latin typeface="Calibri"/>
              </a:defRPr>
            </a:pPr>
            <a:r>
              <a:t>preparar_covariables_convlstm.py  366 lineas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11064240" cy="25400"/>
          </a:xfrm>
          <a:prstGeom prst="rect">
            <a:avLst/>
          </a:prstGeom>
          <a:solidFill>
            <a:srgbClr val="22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2560320" cy="292608"/>
          </a:xfrm>
          <a:prstGeom prst="rect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137160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Feature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2834640" y="1371600"/>
            <a:ext cx="4114800" cy="292608"/>
          </a:xfrm>
          <a:prstGeom prst="rect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34640" y="137160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Descripcion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49440" y="1371600"/>
            <a:ext cx="1828800" cy="292608"/>
          </a:xfrm>
          <a:prstGeom prst="rect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49440" y="137160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Tipo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664208"/>
            <a:ext cx="256032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4320" y="166420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doy_sin, doy_cos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34640" y="1664208"/>
            <a:ext cx="41148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834640" y="1664208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Dia del ano (codif. circular)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49440" y="1664208"/>
            <a:ext cx="18288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949440" y="166420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Temporal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1920240"/>
            <a:ext cx="256032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74320" y="192024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mes_sin, mes_cos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34640" y="1920240"/>
            <a:ext cx="411480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834640" y="192024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Mes del ano (codif. circular)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49440" y="1920240"/>
            <a:ext cx="182880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949440" y="192024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Temporal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176272"/>
            <a:ext cx="256032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74320" y="217627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lat_norm, lon_norm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34640" y="2176272"/>
            <a:ext cx="41148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834640" y="2176272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Coordenadas normalizadas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49440" y="2176272"/>
            <a:ext cx="18288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949440" y="217627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Espacial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2432304"/>
            <a:ext cx="256032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74320" y="243230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no2_norm, so2_norm, o3_norm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34640" y="2432304"/>
            <a:ext cx="411480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834640" y="2432304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Normalizados (p50/p90)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949440" y="2432304"/>
            <a:ext cx="182880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949440" y="243230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Quimico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2688336"/>
            <a:ext cx="256032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74320" y="2688336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no2_log, so2_log, o3_log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834640" y="2688336"/>
            <a:ext cx="41148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834640" y="268833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Log-transformacion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949440" y="2688336"/>
            <a:ext cx="18288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949440" y="268833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Quimico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2944368"/>
            <a:ext cx="256032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74320" y="294436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no2_ugm3, so2_ugm3, o3_ugm3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834640" y="2944368"/>
            <a:ext cx="411480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2834640" y="2944368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mol/m2  ug/m3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949440" y="2944368"/>
            <a:ext cx="182880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949440" y="294436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Quimico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3200400"/>
            <a:ext cx="256032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74320" y="32004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gap_dias_desde_anterior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834640" y="3200400"/>
            <a:ext cx="41148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2834640" y="320040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Dias desde tile previo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949440" y="3200400"/>
            <a:ext cx="18288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949440" y="320040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Temporal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3456432"/>
            <a:ext cx="256032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274320" y="345643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era5_t2m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834640" y="3456432"/>
            <a:ext cx="411480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834640" y="3456432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Temperatura 2m (ERA5)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949440" y="3456432"/>
            <a:ext cx="182880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949440" y="345643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Meteo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4320" y="3712464"/>
            <a:ext cx="256032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274320" y="371246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era5_blh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834640" y="3712464"/>
            <a:ext cx="41148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2834640" y="3712464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Boundary layer height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949440" y="3712464"/>
            <a:ext cx="18288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949440" y="371246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Meteo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74320" y="3968496"/>
            <a:ext cx="256032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274320" y="3968496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era5_wind_u, era5_wind_v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834640" y="3968496"/>
            <a:ext cx="411480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2834640" y="396849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Viento componentes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949440" y="3968496"/>
            <a:ext cx="182880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949440" y="396849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Meteo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74320" y="4224528"/>
            <a:ext cx="256032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274320" y="422452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era5_presion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834640" y="4224528"/>
            <a:ext cx="41148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2834640" y="4224528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Presion superficial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949440" y="4224528"/>
            <a:ext cx="18288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949440" y="422452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Meteo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74320" y="4480560"/>
            <a:ext cx="256032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274320" y="448056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modis_aod_047, modis_aod_055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834640" y="4480560"/>
            <a:ext cx="411480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2834640" y="448056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AOD (MODIS)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949440" y="4480560"/>
            <a:ext cx="182880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6949440" y="448056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Aerosol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1520" y="50292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DFF"/>
                </a:solidFill>
                <a:latin typeface="Calibri"/>
              </a:defRPr>
            </a:pPr>
            <a:r>
              <a:t>Conversiones y normalizacion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1520" y="5394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mol/m2  ug/m3: asumiendo 8 km de troposfera para Cali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Normalizacion robusta: (valor - p50) / (p90 - p50)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NaN imputados con p50 del contaminante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ERA5 y MODIS: nearest neighbor desde Zarr GCS (opcional)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0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9DFF"/>
                </a:solidFill>
                <a:latin typeface="Calibri"/>
              </a:defRPr>
            </a:pPr>
            <a:r>
              <a:t>39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Arquitectura del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88"/>
                </a:solidFill>
                <a:latin typeface="Calibri"/>
              </a:defRPr>
            </a:pPr>
            <a:r>
              <a:t>Diagrama completo del sistema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11064240" cy="25400"/>
          </a:xfrm>
          <a:prstGeom prst="rect">
            <a:avLst/>
          </a:prstGeom>
          <a:solidFill>
            <a:srgbClr val="22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arquitecturaSI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471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0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9DFF"/>
                </a:solidFill>
                <a:latin typeface="Calibri"/>
              </a:defRPr>
            </a:pPr>
            <a:r>
              <a:t>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Frontend Next.js + Leaflet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88"/>
                </a:solidFill>
                <a:latin typeface="Calibri"/>
              </a:defRPr>
            </a:pPr>
            <a:r>
              <a:t>App profesional  No Streamlit  Modo oscuro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11064240" cy="25400"/>
          </a:xfrm>
          <a:prstGeom prst="rect">
            <a:avLst/>
          </a:prstGeom>
          <a:solidFill>
            <a:srgbClr val="22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DFF"/>
                </a:solidFill>
                <a:latin typeface="Calibri"/>
              </a:defRPr>
            </a:pPr>
            <a:r>
              <a:t>Stack del 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Next.js 16 + React 19 + TypeScript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Leaflet / React-Leaflet para mapas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Zustand (estado global)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React Query (datos asincronos)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shadcn/ui + Tailwind CSS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Modo oscuro (+2 pts bonificacion)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Ruta: app/geo-vision-clip-application/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Hooks personalizados: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useStations  9 estaciones DAGMA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usePrediction  consulta /predict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useBarriosGeo  339 barrios, 22 comunas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useValidation  vs ground truth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useScrollReveal  animaciones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188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  <a:latin typeface="Calibri"/>
              </a:defRPr>
            </a:pPr>
            <a:r>
              <a:t>Experiencia de usuario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554480"/>
            <a:ext cx="5029200" cy="411480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60" y="157276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DFF"/>
                </a:solidFill>
                <a:latin typeface="Calibri"/>
              </a:defRPr>
            </a:pPr>
            <a:r>
              <a:t>Click en mapa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1773936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alibri"/>
              </a:defRPr>
            </a:pPr>
            <a:r>
              <a:t>Prediccion en (lat, lon) + tooltip valor +/- 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057400"/>
            <a:ext cx="5029200" cy="411480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37960" y="207568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DFF"/>
                </a:solidFill>
                <a:latin typeface="Calibri"/>
              </a:defRPr>
            </a:pPr>
            <a:r>
              <a:t>Selector contaminante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276856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alibri"/>
              </a:defRPr>
            </a:pPr>
            <a:r>
              <a:t>NO2  SO2  O3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560320"/>
            <a:ext cx="5029200" cy="411480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37960" y="257860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DFF"/>
                </a:solidFill>
                <a:latin typeface="Calibri"/>
              </a:defRPr>
            </a:pPr>
            <a:r>
              <a:t>Slider temporal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779776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alibri"/>
              </a:defRPr>
            </a:pPr>
            <a:r>
              <a:t>T+1  T+3  T+7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3063240"/>
            <a:ext cx="5029200" cy="411480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37960" y="308152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DFF"/>
                </a:solidFill>
                <a:latin typeface="Calibri"/>
              </a:defRPr>
            </a:pPr>
            <a:r>
              <a:t>Hover poligono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282696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alibri"/>
              </a:defRPr>
            </a:pPr>
            <a:r>
              <a:t>Tooltip con barrio + comuna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3566160"/>
            <a:ext cx="5029200" cy="411480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37960" y="358444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DFF"/>
                </a:solidFill>
                <a:latin typeface="Calibri"/>
              </a:defRPr>
            </a:pPr>
            <a:r>
              <a:t>Toggle capas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3785616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alibri"/>
              </a:defRPr>
            </a:pPr>
            <a:r>
              <a:t>Limites administrativos ON/OFF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4069080"/>
            <a:ext cx="5029200" cy="411480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37960" y="408736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DFF"/>
                </a:solidFill>
                <a:latin typeface="Calibri"/>
              </a:defRPr>
            </a:pPr>
            <a:r>
              <a:t>Descarga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4288536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alibri"/>
              </a:defRPr>
            </a:pPr>
            <a:r>
              <a:t>Prediccion como GeoTIFF o CSV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754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Calibri"/>
              </a:defRPr>
            </a:pPr>
            <a:r>
              <a:t>Datos geograficos integrados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1206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comunas_cali.geojson  22 comunas oficiales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barrios_cali.geojson  339 barrios (WGS84)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manifest.json  metadatos de capas geo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0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9DFF"/>
                </a:solidFill>
                <a:latin typeface="Calibri"/>
              </a:defRPr>
            </a:pPr>
            <a:r>
              <a:t>41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Publicacion en HuggingFace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88"/>
                </a:solidFill>
                <a:latin typeface="Calibri"/>
              </a:defRPr>
            </a:pPr>
            <a:r>
              <a:t>Dataset disponible para reproducibilidad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11064240" cy="25400"/>
          </a:xfrm>
          <a:prstGeom prst="rect">
            <a:avLst/>
          </a:prstGeom>
          <a:solidFill>
            <a:srgbClr val="22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DFF"/>
                </a:solidFill>
                <a:latin typeface="Calibri"/>
              </a:defRPr>
            </a:pPr>
            <a:r>
              <a:t>Repositorios publicados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HF: Slucu-0310/geovision-cali-sit2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  tiles.zarr + metadatos.parquet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  percentiles.json + secuencias.json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  Acceso directo desde Colab/Kaggle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HF: Slucu-0310/geovision-cali-sit3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  Tensor ConvLSTM (N, 8, 522, 5, 5)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  Listo para entrenamiento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publicar_hf.py: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  Modo subir: GCS  HF Hub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  Modo descargar: HF Hub  local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  Excluye TIFFs crudos automaticamente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  Modo ligero: sin Sentinel-2 (~66 GB)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188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  <a:latin typeface="Calibri"/>
              </a:defRPr>
            </a:pPr>
            <a:r>
              <a:t>Artefactos del modelo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Checkpoint CLIP: best.pt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  SHA256: 2f65a2fd41447f58b1ef8c14daff574d...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  Incluye: metadata.json, hashes.sha256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  training_logs.json, training_history.json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Checkpoint SAE: sae_best.pt (8.4 MB)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  SHA256: 19a408c068f19ef917a4fd099656c3c5...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  Incluye: sae_latent_512.pt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    Neuron analysis + AFE/AFC outputs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3891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DFF"/>
                </a:solidFill>
                <a:latin typeface="Calibri"/>
              </a:defRPr>
            </a:pPr>
            <a:r>
              <a:t>Reproducibilidad garantizada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7548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  Docker multi-stage (python:3.11-slim)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  requirements.txt congelado con versiones exactas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  Seed fija 42 en todos los experimentos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  28 ejecuciones trazadas en runs/ con logs y eventos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  Manifest MD5 por archivo para verificacion de integridad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0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9DFF"/>
                </a:solidFill>
                <a:latin typeface="Calibri"/>
              </a:defRPr>
            </a:pPr>
            <a:r>
              <a:t>42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Entregables del Proyecto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88"/>
                </a:solidFill>
                <a:latin typeface="Calibri"/>
              </a:defRPr>
            </a:pPr>
            <a:r>
              <a:t>Checklist contra la rubrica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11064240" cy="25400"/>
          </a:xfrm>
          <a:prstGeom prst="rect">
            <a:avLst/>
          </a:prstGeom>
          <a:solidFill>
            <a:srgbClr val="22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2286000" cy="292608"/>
          </a:xfrm>
          <a:prstGeom prst="rect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37160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Componente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371600"/>
            <a:ext cx="1097280" cy="292608"/>
          </a:xfrm>
          <a:prstGeom prst="rect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651760" y="137160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Peso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49040" y="1371600"/>
            <a:ext cx="1371600" cy="292608"/>
          </a:xfrm>
          <a:prstGeom prst="rect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49040" y="137160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Estado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0" y="1371600"/>
            <a:ext cx="5029200" cy="292608"/>
          </a:xfrm>
          <a:prstGeom prst="rect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20640" y="137160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Detalle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664208"/>
            <a:ext cx="22860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60" y="166420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Panel Sit. 1 (50+ GB)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51760" y="1664208"/>
            <a:ext cx="109728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651760" y="166420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20%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49040" y="1664208"/>
            <a:ext cx="13716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749040" y="166420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COMPLETADO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20640" y="1664208"/>
            <a:ext cx="50292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120640" y="166420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66.78 GB, manifest MD5, ETL Dask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1920240"/>
            <a:ext cx="228600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5760" y="19202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EDA Panel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51760" y="1920240"/>
            <a:ext cx="109728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651760" y="192024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incluido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49040" y="1920240"/>
            <a:ext cx="137160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749040" y="192024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COMPLETADO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20640" y="1920240"/>
            <a:ext cx="502920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120640" y="192024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5 notebooks, 30+ visualizaciones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2176272"/>
            <a:ext cx="22860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65760" y="217627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Modelo CLIP+SAE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51760" y="2176272"/>
            <a:ext cx="109728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651760" y="217627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20%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749040" y="2176272"/>
            <a:ext cx="13716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749040" y="217627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EN CURSO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120640" y="2176272"/>
            <a:ext cx="50292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120640" y="217627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Dataset listo, SAE OK, CLIP mejorando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2432304"/>
            <a:ext cx="228600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65760" y="243230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AFE + AFC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651760" y="2432304"/>
            <a:ext cx="109728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651760" y="24323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incluido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749040" y="2432304"/>
            <a:ext cx="137160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749040" y="243230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COMPLETADO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120640" y="2432304"/>
            <a:ext cx="502920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20640" y="243230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KMO=0.97, RMSEA=0.04, CFI=0.999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2688336"/>
            <a:ext cx="22860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65760" y="268833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ConvLSTM + Kriging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651760" y="2688336"/>
            <a:ext cx="109728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651760" y="268833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30%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749040" y="2688336"/>
            <a:ext cx="13716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749040" y="268833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PENDIENTE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120640" y="2688336"/>
            <a:ext cx="50292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20640" y="268833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Tensor generado, modelo por entrenar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2944368"/>
            <a:ext cx="228600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65760" y="294436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Frontend Next.js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651760" y="2944368"/>
            <a:ext cx="109728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651760" y="294436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10%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749040" y="2944368"/>
            <a:ext cx="137160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749040" y="294436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AVANZADO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120640" y="2944368"/>
            <a:ext cx="502920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20640" y="294436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Mapas, modo oscuro, hooks listos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65760" y="3200400"/>
            <a:ext cx="22860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365760" y="32004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Informe PDF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651760" y="3200400"/>
            <a:ext cx="109728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2651760" y="320040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10%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749040" y="3200400"/>
            <a:ext cx="13716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3749040" y="320040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PENDIENTE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120640" y="3200400"/>
            <a:ext cx="5029200" cy="256032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120640" y="320040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CC"/>
                </a:solidFill>
                <a:latin typeface="Calibri"/>
              </a:defRPr>
            </a:pPr>
            <a:r>
              <a:t>Template LaTeX disponible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65760" y="3456432"/>
            <a:ext cx="228600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365760" y="345643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Pitch y defensa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651760" y="3456432"/>
            <a:ext cx="109728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2651760" y="345643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10%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749040" y="3456432"/>
            <a:ext cx="137160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3749040" y="345643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PENDIENTE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120640" y="3456432"/>
            <a:ext cx="5029200" cy="256032"/>
          </a:xfrm>
          <a:prstGeom prst="rect">
            <a:avLst/>
          </a:prstGeom>
          <a:solidFill>
            <a:srgbClr val="12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5120640" y="345643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Esta presentacion como base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31520" y="4114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DFF"/>
                </a:solidFill>
                <a:latin typeface="Calibri"/>
              </a:defRPr>
            </a:pPr>
            <a:r>
              <a:t>Bonificaciones potenciales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31520" y="44805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  Modo oscuro en frontend: +2 pts  YA IMPLEMENTADO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  Tercer modalidad input (audio Whisper): +3 pts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  Analisis de equidad espacial por estrato socioeconomico: +4 pts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  Comparacion con OMI/AURA como 2da fuente: +3 pts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371600" y="2103120"/>
            <a:ext cx="9418320" cy="254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371600" y="4846320"/>
            <a:ext cx="9418320" cy="25400"/>
          </a:xfrm>
          <a:prstGeom prst="rect">
            <a:avLst/>
          </a:prstGeom>
          <a:solidFill>
            <a:srgbClr val="00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73152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Roadmap y Cierre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82880" cy="18288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21792" y="1600200"/>
            <a:ext cx="38100" cy="320040"/>
          </a:xfrm>
          <a:prstGeom prst="rect">
            <a:avLst/>
          </a:prstGeom>
          <a:solidFill>
            <a:srgbClr val="22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371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E676"/>
                </a:solidFill>
                <a:latin typeface="Calibri"/>
              </a:defRPr>
            </a:pPr>
            <a:r>
              <a:t>COMPLETADO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37160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alibri"/>
              </a:defRPr>
            </a:pPr>
            <a:r>
              <a:t>Panel 66.78 GB  ETL Dask  EDA  Manifest MD5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920240"/>
            <a:ext cx="182880" cy="18288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" y="2103120"/>
            <a:ext cx="38100" cy="320040"/>
          </a:xfrm>
          <a:prstGeom prst="rect">
            <a:avLst/>
          </a:prstGeom>
          <a:solidFill>
            <a:srgbClr val="22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1874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E676"/>
                </a:solidFill>
                <a:latin typeface="Calibri"/>
              </a:defRPr>
            </a:pPr>
            <a:r>
              <a:t>COMPLETADO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187452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alibri"/>
              </a:defRPr>
            </a:pPr>
            <a:r>
              <a:t>Dataset 2,276 pares  SAE post-train (sparsity 94%)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423160"/>
            <a:ext cx="182880" cy="18288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" y="2606040"/>
            <a:ext cx="38100" cy="320040"/>
          </a:xfrm>
          <a:prstGeom prst="rect">
            <a:avLst/>
          </a:prstGeom>
          <a:solidFill>
            <a:srgbClr val="22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2377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E676"/>
                </a:solidFill>
                <a:latin typeface="Calibri"/>
              </a:defRPr>
            </a:pPr>
            <a:r>
              <a:t>COMPLETADO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237744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alibri"/>
              </a:defRPr>
            </a:pPr>
            <a:r>
              <a:t>AFE + AFC: KMO=0.97, RMSEA=0.04, CFI=0.999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926080"/>
            <a:ext cx="182880" cy="18288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" y="3108960"/>
            <a:ext cx="38100" cy="320040"/>
          </a:xfrm>
          <a:prstGeom prst="rect">
            <a:avLst/>
          </a:prstGeom>
          <a:solidFill>
            <a:srgbClr val="22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5840" y="2880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E676"/>
                </a:solidFill>
                <a:latin typeface="Calibri"/>
              </a:defRPr>
            </a:pPr>
            <a:r>
              <a:t>COMPLETADO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288036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alibri"/>
              </a:defRPr>
            </a:pPr>
            <a:r>
              <a:t>Frontend Next.js con mapas, modo oscuro, hooks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429000"/>
            <a:ext cx="182880" cy="182880"/>
          </a:xfrm>
          <a:prstGeom prst="rect">
            <a:avLst/>
          </a:prstGeom>
          <a:solidFill>
            <a:srgbClr val="00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1792" y="3611880"/>
            <a:ext cx="38100" cy="320040"/>
          </a:xfrm>
          <a:prstGeom prst="rect">
            <a:avLst/>
          </a:prstGeom>
          <a:solidFill>
            <a:srgbClr val="22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05840" y="3383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DFF"/>
                </a:solidFill>
                <a:latin typeface="Calibri"/>
              </a:defRPr>
            </a:pPr>
            <a:r>
              <a:t>EN CURSO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338328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alibri"/>
              </a:defRPr>
            </a:pPr>
            <a:r>
              <a:t>Entrenamiento CLIP contrastivo (LoRA, 12 bandas)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931920"/>
            <a:ext cx="182880" cy="1828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1792" y="4114800"/>
            <a:ext cx="38100" cy="320040"/>
          </a:xfrm>
          <a:prstGeom prst="rect">
            <a:avLst/>
          </a:prstGeom>
          <a:solidFill>
            <a:srgbClr val="22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05840" y="3886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00"/>
                </a:solidFill>
                <a:latin typeface="Calibri"/>
              </a:defRPr>
            </a:pPr>
            <a:r>
              <a:t>SIGUIENTE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388620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alibri"/>
              </a:defRPr>
            </a:pPr>
            <a:r>
              <a:t>Split por escena + ReLU SAE + prompts ES/EN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434840"/>
            <a:ext cx="182880" cy="1828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21792" y="4617720"/>
            <a:ext cx="38100" cy="320040"/>
          </a:xfrm>
          <a:prstGeom prst="rect">
            <a:avLst/>
          </a:prstGeom>
          <a:solidFill>
            <a:srgbClr val="22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05840" y="4389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00"/>
                </a:solidFill>
                <a:latin typeface="Calibri"/>
              </a:defRPr>
            </a:pPr>
            <a:r>
              <a:t>SIGUIENTE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26080" y="438912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alibri"/>
              </a:defRPr>
            </a:pPr>
            <a:r>
              <a:t>ConvLSTM bidireccional + ST-Kriging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937760"/>
            <a:ext cx="182880" cy="182880"/>
          </a:xfrm>
          <a:prstGeom prst="rect">
            <a:avLst/>
          </a:prstGeom>
          <a:solidFill>
            <a:srgbClr val="FF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21792" y="5120640"/>
            <a:ext cx="38100" cy="320040"/>
          </a:xfrm>
          <a:prstGeom prst="rect">
            <a:avLst/>
          </a:prstGeom>
          <a:solidFill>
            <a:srgbClr val="22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05840" y="4892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3D5A"/>
                </a:solidFill>
                <a:latin typeface="Calibri"/>
              </a:defRPr>
            </a:pPr>
            <a:r>
              <a:t>SIGUIENTE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26080" y="489204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alibri"/>
              </a:defRPr>
            </a:pPr>
            <a:r>
              <a:t>LOO-CV DAGMA + Moran I + LISA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5440680"/>
            <a:ext cx="182880" cy="18288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05840" y="5394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E676"/>
                </a:solidFill>
                <a:latin typeface="Calibri"/>
              </a:defRPr>
            </a:pPr>
            <a:r>
              <a:t>FINAL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26080" y="539496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alibri"/>
              </a:defRPr>
            </a:pPr>
            <a:r>
              <a:t>9 mapas de gradiente en app + informe + pitch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1600" y="512064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9DFF"/>
                </a:solidFill>
                <a:latin typeface="Calibri"/>
              </a:defRPr>
            </a:pPr>
            <a:r>
              <a:t>"Datos masivos listos  Modelo multimodal en iteracion  Producto visible  Validacion rigurosa en camino"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71600" y="5669280"/>
            <a:ext cx="9418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88"/>
                </a:solidFill>
                <a:latin typeface="Calibri"/>
              </a:defRPr>
            </a:pPr>
            <a:r>
              <a:t>github.com/nicothinn/GeoVision-CLIP-Cali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0" y="61264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E676"/>
                </a:solidFill>
                <a:latin typeface="Calibri"/>
              </a:defRPr>
            </a:pPr>
            <a:r>
              <a:t>Gracias  Preguntas y discusion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780</TotalTime>
  <Words>8587</Words>
  <Application>Microsoft Office PowerPoint</Application>
  <PresentationFormat>Panorámica</PresentationFormat>
  <Paragraphs>1521</Paragraphs>
  <Slides>45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Nicolas  Peña</cp:lastModifiedBy>
  <cp:revision>4</cp:revision>
  <dcterms:created xsi:type="dcterms:W3CDTF">2013-01-27T09:14:16Z</dcterms:created>
  <dcterms:modified xsi:type="dcterms:W3CDTF">2026-05-27T02:57:14Z</dcterms:modified>
  <cp:category/>
</cp:coreProperties>
</file>