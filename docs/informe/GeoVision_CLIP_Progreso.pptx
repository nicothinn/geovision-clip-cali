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E1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9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1645920"/>
            <a:ext cx="9418320" cy="18288"/>
          </a:xfrm>
          <a:prstGeom prst="rect">
            <a:avLst/>
          </a:prstGeom>
          <a:solidFill>
            <a:srgbClr val="009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71600" y="4754880"/>
            <a:ext cx="9418320" cy="18288"/>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1920240"/>
            <a:ext cx="9601200" cy="914400"/>
          </a:xfrm>
          <a:prstGeom prst="rect">
            <a:avLst/>
          </a:prstGeom>
          <a:noFill/>
        </p:spPr>
        <p:txBody>
          <a:bodyPr wrap="square">
            <a:spAutoFit/>
          </a:bodyPr>
          <a:lstStyle/>
          <a:p>
            <a:pPr algn="l">
              <a:defRPr sz="4800" b="1">
                <a:solidFill>
                  <a:srgbClr val="FFFFFF"/>
                </a:solidFill>
                <a:latin typeface="Calibri"/>
              </a:defRPr>
            </a:pPr>
            <a:r>
              <a:t>GeoVision-CLIP Cali</a:t>
            </a:r>
          </a:p>
        </p:txBody>
      </p:sp>
      <p:sp>
        <p:nvSpPr>
          <p:cNvPr id="6" name="TextBox 5"/>
          <p:cNvSpPr txBox="1"/>
          <p:nvPr/>
        </p:nvSpPr>
        <p:spPr>
          <a:xfrm>
            <a:off x="1371600" y="2651760"/>
            <a:ext cx="9601200" cy="640080"/>
          </a:xfrm>
          <a:prstGeom prst="rect">
            <a:avLst/>
          </a:prstGeom>
          <a:noFill/>
        </p:spPr>
        <p:txBody>
          <a:bodyPr wrap="square">
            <a:spAutoFit/>
          </a:bodyPr>
          <a:lstStyle/>
          <a:p>
            <a:pPr algn="l">
              <a:defRPr sz="2200" b="0">
                <a:solidFill>
                  <a:srgbClr val="BBBBCC"/>
                </a:solidFill>
                <a:latin typeface="Calibri"/>
              </a:defRPr>
            </a:pPr>
            <a:r>
              <a:t>Estimación de Contaminación Atmosférica en Puntos No Muestreados</a:t>
            </a:r>
          </a:p>
        </p:txBody>
      </p:sp>
      <p:sp>
        <p:nvSpPr>
          <p:cNvPr id="7" name="TextBox 6"/>
          <p:cNvSpPr txBox="1"/>
          <p:nvPr/>
        </p:nvSpPr>
        <p:spPr>
          <a:xfrm>
            <a:off x="1371600" y="3200400"/>
            <a:ext cx="9601200" cy="640080"/>
          </a:xfrm>
          <a:prstGeom prst="rect">
            <a:avLst/>
          </a:prstGeom>
          <a:noFill/>
        </p:spPr>
        <p:txBody>
          <a:bodyPr wrap="square">
            <a:spAutoFit/>
          </a:bodyPr>
          <a:lstStyle/>
          <a:p>
            <a:pPr algn="l">
              <a:defRPr sz="1800" b="0">
                <a:solidFill>
                  <a:srgbClr val="009DFF"/>
                </a:solidFill>
                <a:latin typeface="Calibri"/>
              </a:defRPr>
            </a:pPr>
            <a:r>
              <a:t>Deep Learning + Estadística Geoespacial Avanzada</a:t>
            </a:r>
          </a:p>
        </p:txBody>
      </p:sp>
      <p:sp>
        <p:nvSpPr>
          <p:cNvPr id="8" name="TextBox 7"/>
          <p:cNvSpPr txBox="1"/>
          <p:nvPr/>
        </p:nvSpPr>
        <p:spPr>
          <a:xfrm>
            <a:off x="1371600" y="5029200"/>
            <a:ext cx="9144000" cy="1371600"/>
          </a:xfrm>
          <a:prstGeom prst="rect">
            <a:avLst/>
          </a:prstGeom>
          <a:noFill/>
        </p:spPr>
        <p:txBody>
          <a:bodyPr wrap="square">
            <a:spAutoFit/>
          </a:bodyPr>
          <a:lstStyle/>
          <a:p>
            <a:pPr>
              <a:spcAft>
                <a:spcPts val="520"/>
              </a:spcAft>
              <a:defRPr sz="1300">
                <a:solidFill>
                  <a:srgbClr val="666688"/>
                </a:solidFill>
                <a:latin typeface="Calibri"/>
              </a:defRPr>
            </a:pPr>
            <a:r>
              <a:t>Analítica de Datos I · Tercer Corte · Unidad III</a:t>
            </a:r>
          </a:p>
          <a:p>
            <a:pPr>
              <a:spcAft>
                <a:spcPts val="520"/>
              </a:spcAft>
              <a:defRPr sz="1300">
                <a:solidFill>
                  <a:srgbClr val="666688"/>
                </a:solidFill>
                <a:latin typeface="Calibri"/>
              </a:defRPr>
            </a:pPr>
            <a:r>
              <a:t>Universidad Autónoma de Occidente · Facultad de Ingenierías</a:t>
            </a:r>
          </a:p>
          <a:p>
            <a:pPr>
              <a:spcAft>
                <a:spcPts val="520"/>
              </a:spcAft>
              <a:defRPr sz="1300">
                <a:solidFill>
                  <a:srgbClr val="666688"/>
                </a:solidFill>
                <a:latin typeface="Calibri"/>
              </a:defRPr>
            </a:pPr>
            <a:r>
              <a:t>Nicolás Peña Irurita · Samuel Patiño Lucumí</a:t>
            </a:r>
          </a:p>
          <a:p>
            <a:pPr>
              <a:spcAft>
                <a:spcPts val="520"/>
              </a:spcAft>
              <a:defRPr sz="1300">
                <a:solidFill>
                  <a:srgbClr val="666688"/>
                </a:solidFill>
                <a:latin typeface="Calibri"/>
              </a:defRPr>
            </a:pPr>
            <a:r>
              <a:t>Docentes: Prof. Carlos Ferro · Prof. Cristian E. García</a:t>
            </a:r>
          </a:p>
        </p:txBody>
      </p:sp>
      <p:sp>
        <p:nvSpPr>
          <p:cNvPr id="9" name="TextBox 8"/>
          <p:cNvSpPr txBox="1"/>
          <p:nvPr/>
        </p:nvSpPr>
        <p:spPr>
          <a:xfrm>
            <a:off x="9601200" y="6217920"/>
            <a:ext cx="2286000" cy="365760"/>
          </a:xfrm>
          <a:prstGeom prst="rect">
            <a:avLst/>
          </a:prstGeom>
          <a:noFill/>
        </p:spPr>
        <p:txBody>
          <a:bodyPr wrap="square">
            <a:spAutoFit/>
          </a:bodyPr>
          <a:lstStyle/>
          <a:p>
            <a:pPr algn="r">
              <a:defRPr sz="1200" b="0">
                <a:solidFill>
                  <a:srgbClr val="666688"/>
                </a:solidFill>
                <a:latin typeface="Calibri"/>
              </a:defRPr>
            </a:pPr>
            <a:r>
              <a:t>Mayo 2026</a:t>
            </a:r>
          </a:p>
        </p:txBody>
      </p:sp>
      <p:sp>
        <p:nvSpPr>
          <p:cNvPr id="10" name="Rectangle 9"/>
          <p:cNvSpPr/>
          <p:nvPr/>
        </p:nvSpPr>
        <p:spPr>
          <a:xfrm>
            <a:off x="9601200" y="5760720"/>
            <a:ext cx="2103120" cy="36576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0" y="5760720"/>
            <a:ext cx="2103120" cy="365760"/>
          </a:xfrm>
          <a:prstGeom prst="rect">
            <a:avLst/>
          </a:prstGeom>
          <a:noFill/>
        </p:spPr>
        <p:txBody>
          <a:bodyPr wrap="square">
            <a:spAutoFit/>
          </a:bodyPr>
          <a:lstStyle/>
          <a:p>
            <a:pPr algn="ctr">
              <a:defRPr sz="1000" b="1">
                <a:solidFill>
                  <a:srgbClr val="FFFFFF"/>
                </a:solidFill>
                <a:latin typeface="Calibri"/>
              </a:defRPr>
            </a:pPr>
            <a:r>
              <a:t>PROGRESO SIT. 1 + SIT. 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9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548640" cy="457200"/>
          </a:xfrm>
          <a:prstGeom prst="rect">
            <a:avLst/>
          </a:prstGeom>
          <a:noFill/>
        </p:spPr>
        <p:txBody>
          <a:bodyPr wrap="square">
            <a:spAutoFit/>
          </a:bodyPr>
          <a:lstStyle/>
          <a:p>
            <a:pPr algn="l">
              <a:defRPr sz="2800" b="1">
                <a:solidFill>
                  <a:srgbClr val="009DFF"/>
                </a:solidFill>
                <a:latin typeface="Calibri"/>
              </a:defRPr>
            </a:pPr>
            <a:r>
              <a:t>00</a:t>
            </a:r>
          </a:p>
        </p:txBody>
      </p:sp>
      <p:sp>
        <p:nvSpPr>
          <p:cNvPr id="4" name="TextBox 3"/>
          <p:cNvSpPr txBox="1"/>
          <p:nvPr/>
        </p:nvSpPr>
        <p:spPr>
          <a:xfrm>
            <a:off x="1188720" y="274320"/>
            <a:ext cx="9144000" cy="457200"/>
          </a:xfrm>
          <a:prstGeom prst="rect">
            <a:avLst/>
          </a:prstGeom>
          <a:noFill/>
        </p:spPr>
        <p:txBody>
          <a:bodyPr wrap="square">
            <a:spAutoFit/>
          </a:bodyPr>
          <a:lstStyle/>
          <a:p>
            <a:pPr algn="l">
              <a:defRPr sz="2800" b="1">
                <a:solidFill>
                  <a:srgbClr val="FFFFFF"/>
                </a:solidFill>
                <a:latin typeface="Calibri"/>
              </a:defRPr>
            </a:pPr>
            <a:r>
              <a:t>Agenda</a:t>
            </a:r>
          </a:p>
        </p:txBody>
      </p:sp>
      <p:sp>
        <p:nvSpPr>
          <p:cNvPr id="5" name="TextBox 4"/>
          <p:cNvSpPr txBox="1"/>
          <p:nvPr/>
        </p:nvSpPr>
        <p:spPr>
          <a:xfrm>
            <a:off x="1188720" y="685800"/>
            <a:ext cx="9144000" cy="365760"/>
          </a:xfrm>
          <a:prstGeom prst="rect">
            <a:avLst/>
          </a:prstGeom>
          <a:noFill/>
        </p:spPr>
        <p:txBody>
          <a:bodyPr wrap="square">
            <a:spAutoFit/>
          </a:bodyPr>
          <a:lstStyle/>
          <a:p>
            <a:pPr algn="l">
              <a:defRPr sz="1400" b="0">
                <a:solidFill>
                  <a:srgbClr val="666688"/>
                </a:solidFill>
                <a:latin typeface="Calibri"/>
              </a:defRPr>
            </a:pPr>
            <a:r>
              <a:t>¿Qué cubrimos hoy?</a:t>
            </a:r>
          </a:p>
        </p:txBody>
      </p:sp>
      <p:sp>
        <p:nvSpPr>
          <p:cNvPr id="6" name="Rectangle 5"/>
          <p:cNvSpPr/>
          <p:nvPr/>
        </p:nvSpPr>
        <p:spPr>
          <a:xfrm>
            <a:off x="548640" y="1051560"/>
            <a:ext cx="11064240" cy="9144"/>
          </a:xfrm>
          <a:prstGeom prst="rect">
            <a:avLst/>
          </a:prstGeom>
          <a:solidFill>
            <a:srgbClr val="2233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371600"/>
            <a:ext cx="457200" cy="457200"/>
          </a:xfrm>
          <a:prstGeom prst="rect">
            <a:avLst/>
          </a:prstGeom>
          <a:noFill/>
        </p:spPr>
        <p:txBody>
          <a:bodyPr wrap="square">
            <a:spAutoFit/>
          </a:bodyPr>
          <a:lstStyle/>
          <a:p>
            <a:pPr algn="l">
              <a:defRPr sz="2000" b="1">
                <a:solidFill>
                  <a:srgbClr val="009DFF"/>
                </a:solidFill>
                <a:latin typeface="Calibri"/>
              </a:defRPr>
            </a:pPr>
            <a:r>
              <a:t>01</a:t>
            </a:r>
          </a:p>
        </p:txBody>
      </p:sp>
      <p:sp>
        <p:nvSpPr>
          <p:cNvPr id="8" name="TextBox 7"/>
          <p:cNvSpPr txBox="1"/>
          <p:nvPr/>
        </p:nvSpPr>
        <p:spPr>
          <a:xfrm>
            <a:off x="1371600" y="1371600"/>
            <a:ext cx="2743200" cy="274320"/>
          </a:xfrm>
          <a:prstGeom prst="rect">
            <a:avLst/>
          </a:prstGeom>
          <a:noFill/>
        </p:spPr>
        <p:txBody>
          <a:bodyPr wrap="square">
            <a:spAutoFit/>
          </a:bodyPr>
          <a:lstStyle/>
          <a:p>
            <a:pPr algn="l">
              <a:defRPr sz="1600" b="1">
                <a:solidFill>
                  <a:srgbClr val="FFFFFF"/>
                </a:solidFill>
                <a:latin typeface="Calibri"/>
              </a:defRPr>
            </a:pPr>
            <a:r>
              <a:t>El Problema</a:t>
            </a:r>
          </a:p>
        </p:txBody>
      </p:sp>
      <p:sp>
        <p:nvSpPr>
          <p:cNvPr id="9" name="TextBox 8"/>
          <p:cNvSpPr txBox="1"/>
          <p:nvPr/>
        </p:nvSpPr>
        <p:spPr>
          <a:xfrm>
            <a:off x="1371600" y="1600200"/>
            <a:ext cx="9144000" cy="274320"/>
          </a:xfrm>
          <a:prstGeom prst="rect">
            <a:avLst/>
          </a:prstGeom>
          <a:noFill/>
        </p:spPr>
        <p:txBody>
          <a:bodyPr wrap="square">
            <a:spAutoFit/>
          </a:bodyPr>
          <a:lstStyle/>
          <a:p>
            <a:pPr algn="l">
              <a:defRPr sz="1100" b="0">
                <a:solidFill>
                  <a:srgbClr val="666688"/>
                </a:solidFill>
                <a:latin typeface="Calibri"/>
              </a:defRPr>
            </a:pPr>
            <a:r>
              <a:t>Contaminación en Cali · 9 estaciones DAGMA · Brecha satelital</a:t>
            </a:r>
          </a:p>
        </p:txBody>
      </p:sp>
      <p:sp>
        <p:nvSpPr>
          <p:cNvPr id="10" name="Rectangle 9"/>
          <p:cNvSpPr/>
          <p:nvPr/>
        </p:nvSpPr>
        <p:spPr>
          <a:xfrm>
            <a:off x="1371600" y="1920240"/>
            <a:ext cx="9875520" cy="4572"/>
          </a:xfrm>
          <a:prstGeom prst="rect">
            <a:avLst/>
          </a:prstGeom>
          <a:solidFill>
            <a:srgbClr val="2233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011680"/>
            <a:ext cx="457200" cy="457200"/>
          </a:xfrm>
          <a:prstGeom prst="rect">
            <a:avLst/>
          </a:prstGeom>
          <a:noFill/>
        </p:spPr>
        <p:txBody>
          <a:bodyPr wrap="square">
            <a:spAutoFit/>
          </a:bodyPr>
          <a:lstStyle/>
          <a:p>
            <a:pPr algn="l">
              <a:defRPr sz="2000" b="1">
                <a:solidFill>
                  <a:srgbClr val="009DFF"/>
                </a:solidFill>
                <a:latin typeface="Calibri"/>
              </a:defRPr>
            </a:pPr>
            <a:r>
              <a:t>02</a:t>
            </a:r>
          </a:p>
        </p:txBody>
      </p:sp>
      <p:sp>
        <p:nvSpPr>
          <p:cNvPr id="12" name="TextBox 11"/>
          <p:cNvSpPr txBox="1"/>
          <p:nvPr/>
        </p:nvSpPr>
        <p:spPr>
          <a:xfrm>
            <a:off x="1371600" y="2011680"/>
            <a:ext cx="2743200" cy="274320"/>
          </a:xfrm>
          <a:prstGeom prst="rect">
            <a:avLst/>
          </a:prstGeom>
          <a:noFill/>
        </p:spPr>
        <p:txBody>
          <a:bodyPr wrap="square">
            <a:spAutoFit/>
          </a:bodyPr>
          <a:lstStyle/>
          <a:p>
            <a:pPr algn="l">
              <a:defRPr sz="1600" b="1">
                <a:solidFill>
                  <a:srgbClr val="FFFFFF"/>
                </a:solidFill>
                <a:latin typeface="Calibri"/>
              </a:defRPr>
            </a:pPr>
            <a:r>
              <a:t>Arquitectura General</a:t>
            </a:r>
          </a:p>
        </p:txBody>
      </p:sp>
      <p:sp>
        <p:nvSpPr>
          <p:cNvPr id="13" name="TextBox 12"/>
          <p:cNvSpPr txBox="1"/>
          <p:nvPr/>
        </p:nvSpPr>
        <p:spPr>
          <a:xfrm>
            <a:off x="1371600" y="2240280"/>
            <a:ext cx="9144000" cy="274320"/>
          </a:xfrm>
          <a:prstGeom prst="rect">
            <a:avLst/>
          </a:prstGeom>
          <a:noFill/>
        </p:spPr>
        <p:txBody>
          <a:bodyPr wrap="square">
            <a:spAutoFit/>
          </a:bodyPr>
          <a:lstStyle/>
          <a:p>
            <a:pPr algn="l">
              <a:defRPr sz="1100" b="0">
                <a:solidFill>
                  <a:srgbClr val="666688"/>
                </a:solidFill>
                <a:latin typeface="Calibri"/>
              </a:defRPr>
            </a:pPr>
            <a:r>
              <a:t>3 Situaciones · Stack tecnológico · Regla anti-leakage</a:t>
            </a:r>
          </a:p>
        </p:txBody>
      </p:sp>
      <p:sp>
        <p:nvSpPr>
          <p:cNvPr id="14" name="Rectangle 13"/>
          <p:cNvSpPr/>
          <p:nvPr/>
        </p:nvSpPr>
        <p:spPr>
          <a:xfrm>
            <a:off x="1371600" y="2560320"/>
            <a:ext cx="9875520" cy="4572"/>
          </a:xfrm>
          <a:prstGeom prst="rect">
            <a:avLst/>
          </a:prstGeom>
          <a:solidFill>
            <a:srgbClr val="2233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2651760"/>
            <a:ext cx="457200" cy="457200"/>
          </a:xfrm>
          <a:prstGeom prst="rect">
            <a:avLst/>
          </a:prstGeom>
          <a:noFill/>
        </p:spPr>
        <p:txBody>
          <a:bodyPr wrap="square">
            <a:spAutoFit/>
          </a:bodyPr>
          <a:lstStyle/>
          <a:p>
            <a:pPr algn="l">
              <a:defRPr sz="2000" b="1">
                <a:solidFill>
                  <a:srgbClr val="009DFF"/>
                </a:solidFill>
                <a:latin typeface="Calibri"/>
              </a:defRPr>
            </a:pPr>
            <a:r>
              <a:t>03</a:t>
            </a:r>
          </a:p>
        </p:txBody>
      </p:sp>
      <p:sp>
        <p:nvSpPr>
          <p:cNvPr id="16" name="TextBox 15"/>
          <p:cNvSpPr txBox="1"/>
          <p:nvPr/>
        </p:nvSpPr>
        <p:spPr>
          <a:xfrm>
            <a:off x="1371600" y="2651760"/>
            <a:ext cx="2743200" cy="274320"/>
          </a:xfrm>
          <a:prstGeom prst="rect">
            <a:avLst/>
          </a:prstGeom>
          <a:noFill/>
        </p:spPr>
        <p:txBody>
          <a:bodyPr wrap="square">
            <a:spAutoFit/>
          </a:bodyPr>
          <a:lstStyle/>
          <a:p>
            <a:pPr algn="l">
              <a:defRPr sz="1600" b="1">
                <a:solidFill>
                  <a:srgbClr val="FFFFFF"/>
                </a:solidFill>
                <a:latin typeface="Calibri"/>
              </a:defRPr>
            </a:pPr>
            <a:r>
              <a:t>Panel Espacio-Temporal</a:t>
            </a:r>
          </a:p>
        </p:txBody>
      </p:sp>
      <p:sp>
        <p:nvSpPr>
          <p:cNvPr id="17" name="TextBox 16"/>
          <p:cNvSpPr txBox="1"/>
          <p:nvPr/>
        </p:nvSpPr>
        <p:spPr>
          <a:xfrm>
            <a:off x="1371600" y="2880360"/>
            <a:ext cx="9144000" cy="274320"/>
          </a:xfrm>
          <a:prstGeom prst="rect">
            <a:avLst/>
          </a:prstGeom>
          <a:noFill/>
        </p:spPr>
        <p:txBody>
          <a:bodyPr wrap="square">
            <a:spAutoFit/>
          </a:bodyPr>
          <a:lstStyle/>
          <a:p>
            <a:pPr algn="l">
              <a:defRPr sz="1100" b="0">
                <a:solidFill>
                  <a:srgbClr val="666688"/>
                </a:solidFill>
                <a:latin typeface="Calibri"/>
              </a:defRPr>
            </a:pPr>
            <a:r>
              <a:t>66.78 GB · 7 fuentes · Pipeline ETL Dask · Zarr en GCS</a:t>
            </a:r>
          </a:p>
        </p:txBody>
      </p:sp>
      <p:sp>
        <p:nvSpPr>
          <p:cNvPr id="18" name="Rectangle 17"/>
          <p:cNvSpPr/>
          <p:nvPr/>
        </p:nvSpPr>
        <p:spPr>
          <a:xfrm>
            <a:off x="1371600" y="3200400"/>
            <a:ext cx="9875520" cy="4572"/>
          </a:xfrm>
          <a:prstGeom prst="rect">
            <a:avLst/>
          </a:prstGeom>
          <a:solidFill>
            <a:srgbClr val="2233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291840"/>
            <a:ext cx="457200" cy="457200"/>
          </a:xfrm>
          <a:prstGeom prst="rect">
            <a:avLst/>
          </a:prstGeom>
          <a:noFill/>
        </p:spPr>
        <p:txBody>
          <a:bodyPr wrap="square">
            <a:spAutoFit/>
          </a:bodyPr>
          <a:lstStyle/>
          <a:p>
            <a:pPr algn="l">
              <a:defRPr sz="2000" b="1">
                <a:solidFill>
                  <a:srgbClr val="009DFF"/>
                </a:solidFill>
                <a:latin typeface="Calibri"/>
              </a:defRPr>
            </a:pPr>
            <a:r>
              <a:t>04</a:t>
            </a:r>
          </a:p>
        </p:txBody>
      </p:sp>
      <p:sp>
        <p:nvSpPr>
          <p:cNvPr id="20" name="TextBox 19"/>
          <p:cNvSpPr txBox="1"/>
          <p:nvPr/>
        </p:nvSpPr>
        <p:spPr>
          <a:xfrm>
            <a:off x="1371600" y="3291840"/>
            <a:ext cx="2743200" cy="274320"/>
          </a:xfrm>
          <a:prstGeom prst="rect">
            <a:avLst/>
          </a:prstGeom>
          <a:noFill/>
        </p:spPr>
        <p:txBody>
          <a:bodyPr wrap="square">
            <a:spAutoFit/>
          </a:bodyPr>
          <a:lstStyle/>
          <a:p>
            <a:pPr algn="l">
              <a:defRPr sz="1600" b="1">
                <a:solidFill>
                  <a:srgbClr val="FFFFFF"/>
                </a:solidFill>
                <a:latin typeface="Calibri"/>
              </a:defRPr>
            </a:pPr>
            <a:r>
              <a:t>EDA Exhaustivo</a:t>
            </a:r>
          </a:p>
        </p:txBody>
      </p:sp>
      <p:sp>
        <p:nvSpPr>
          <p:cNvPr id="21" name="TextBox 20"/>
          <p:cNvSpPr txBox="1"/>
          <p:nvPr/>
        </p:nvSpPr>
        <p:spPr>
          <a:xfrm>
            <a:off x="1371600" y="3520440"/>
            <a:ext cx="9144000" cy="274320"/>
          </a:xfrm>
          <a:prstGeom prst="rect">
            <a:avLst/>
          </a:prstGeom>
          <a:noFill/>
        </p:spPr>
        <p:txBody>
          <a:bodyPr wrap="square">
            <a:spAutoFit/>
          </a:bodyPr>
          <a:lstStyle/>
          <a:p>
            <a:pPr algn="l">
              <a:defRPr sz="1100" b="0">
                <a:solidFill>
                  <a:srgbClr val="666688"/>
                </a:solidFill>
                <a:latin typeface="Calibri"/>
              </a:defRPr>
            </a:pPr>
            <a:r>
              <a:t>S5P · S2 · MODIS · ERA5 · DAGMA · 30+ visualizaciones</a:t>
            </a:r>
          </a:p>
        </p:txBody>
      </p:sp>
      <p:sp>
        <p:nvSpPr>
          <p:cNvPr id="22" name="Rectangle 21"/>
          <p:cNvSpPr/>
          <p:nvPr/>
        </p:nvSpPr>
        <p:spPr>
          <a:xfrm>
            <a:off x="1371600" y="3840480"/>
            <a:ext cx="9875520" cy="4572"/>
          </a:xfrm>
          <a:prstGeom prst="rect">
            <a:avLst/>
          </a:prstGeom>
          <a:solidFill>
            <a:srgbClr val="2233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931920"/>
            <a:ext cx="457200" cy="457200"/>
          </a:xfrm>
          <a:prstGeom prst="rect">
            <a:avLst/>
          </a:prstGeom>
          <a:noFill/>
        </p:spPr>
        <p:txBody>
          <a:bodyPr wrap="square">
            <a:spAutoFit/>
          </a:bodyPr>
          <a:lstStyle/>
          <a:p>
            <a:pPr algn="l">
              <a:defRPr sz="2000" b="1">
                <a:solidFill>
                  <a:srgbClr val="009DFF"/>
                </a:solidFill>
                <a:latin typeface="Calibri"/>
              </a:defRPr>
            </a:pPr>
            <a:r>
              <a:t>05</a:t>
            </a:r>
          </a:p>
        </p:txBody>
      </p:sp>
      <p:sp>
        <p:nvSpPr>
          <p:cNvPr id="24" name="TextBox 23"/>
          <p:cNvSpPr txBox="1"/>
          <p:nvPr/>
        </p:nvSpPr>
        <p:spPr>
          <a:xfrm>
            <a:off x="1371600" y="3931920"/>
            <a:ext cx="2743200" cy="274320"/>
          </a:xfrm>
          <a:prstGeom prst="rect">
            <a:avLst/>
          </a:prstGeom>
          <a:noFill/>
        </p:spPr>
        <p:txBody>
          <a:bodyPr wrap="square">
            <a:spAutoFit/>
          </a:bodyPr>
          <a:lstStyle/>
          <a:p>
            <a:pPr algn="l">
              <a:defRPr sz="1600" b="1">
                <a:solidFill>
                  <a:srgbClr val="FFFFFF"/>
                </a:solidFill>
                <a:latin typeface="Calibri"/>
              </a:defRPr>
            </a:pPr>
            <a:r>
              <a:t>Dataset Sit. 2</a:t>
            </a:r>
          </a:p>
        </p:txBody>
      </p:sp>
      <p:sp>
        <p:nvSpPr>
          <p:cNvPr id="25" name="TextBox 24"/>
          <p:cNvSpPr txBox="1"/>
          <p:nvPr/>
        </p:nvSpPr>
        <p:spPr>
          <a:xfrm>
            <a:off x="1371600" y="4160520"/>
            <a:ext cx="9144000" cy="274320"/>
          </a:xfrm>
          <a:prstGeom prst="rect">
            <a:avLst/>
          </a:prstGeom>
          <a:noFill/>
        </p:spPr>
        <p:txBody>
          <a:bodyPr wrap="square">
            <a:spAutoFit/>
          </a:bodyPr>
          <a:lstStyle/>
          <a:p>
            <a:pPr algn="l">
              <a:defRPr sz="1100" b="0">
                <a:solidFill>
                  <a:srgbClr val="666688"/>
                </a:solidFill>
                <a:latin typeface="Calibri"/>
              </a:defRPr>
            </a:pPr>
            <a:r>
              <a:t>2,276 pares imagen-texto · 5 clases · Split 70/15/15</a:t>
            </a:r>
          </a:p>
        </p:txBody>
      </p:sp>
      <p:sp>
        <p:nvSpPr>
          <p:cNvPr id="26" name="Rectangle 25"/>
          <p:cNvSpPr/>
          <p:nvPr/>
        </p:nvSpPr>
        <p:spPr>
          <a:xfrm>
            <a:off x="1371600" y="4480560"/>
            <a:ext cx="9875520" cy="4572"/>
          </a:xfrm>
          <a:prstGeom prst="rect">
            <a:avLst/>
          </a:prstGeom>
          <a:solidFill>
            <a:srgbClr val="2233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4572000"/>
            <a:ext cx="457200" cy="457200"/>
          </a:xfrm>
          <a:prstGeom prst="rect">
            <a:avLst/>
          </a:prstGeom>
          <a:noFill/>
        </p:spPr>
        <p:txBody>
          <a:bodyPr wrap="square">
            <a:spAutoFit/>
          </a:bodyPr>
          <a:lstStyle/>
          <a:p>
            <a:pPr algn="l">
              <a:defRPr sz="2000" b="1">
                <a:solidFill>
                  <a:srgbClr val="009DFF"/>
                </a:solidFill>
                <a:latin typeface="Calibri"/>
              </a:defRPr>
            </a:pPr>
            <a:r>
              <a:t>06</a:t>
            </a:r>
          </a:p>
        </p:txBody>
      </p:sp>
      <p:sp>
        <p:nvSpPr>
          <p:cNvPr id="28" name="TextBox 27"/>
          <p:cNvSpPr txBox="1"/>
          <p:nvPr/>
        </p:nvSpPr>
        <p:spPr>
          <a:xfrm>
            <a:off x="1371600" y="4572000"/>
            <a:ext cx="2743200" cy="274320"/>
          </a:xfrm>
          <a:prstGeom prst="rect">
            <a:avLst/>
          </a:prstGeom>
          <a:noFill/>
        </p:spPr>
        <p:txBody>
          <a:bodyPr wrap="square">
            <a:spAutoFit/>
          </a:bodyPr>
          <a:lstStyle/>
          <a:p>
            <a:pPr algn="l">
              <a:defRPr sz="1600" b="1">
                <a:solidFill>
                  <a:srgbClr val="FFFFFF"/>
                </a:solidFill>
                <a:latin typeface="Calibri"/>
              </a:defRPr>
            </a:pPr>
            <a:r>
              <a:t>Modelo CLIP + SAE</a:t>
            </a:r>
          </a:p>
        </p:txBody>
      </p:sp>
      <p:sp>
        <p:nvSpPr>
          <p:cNvPr id="29" name="TextBox 28"/>
          <p:cNvSpPr txBox="1"/>
          <p:nvPr/>
        </p:nvSpPr>
        <p:spPr>
          <a:xfrm>
            <a:off x="1371600" y="4800600"/>
            <a:ext cx="9144000" cy="274320"/>
          </a:xfrm>
          <a:prstGeom prst="rect">
            <a:avLst/>
          </a:prstGeom>
          <a:noFill/>
        </p:spPr>
        <p:txBody>
          <a:bodyPr wrap="square">
            <a:spAutoFit/>
          </a:bodyPr>
          <a:lstStyle/>
          <a:p>
            <a:pPr algn="l">
              <a:defRPr sz="1100" b="0">
                <a:solidFill>
                  <a:srgbClr val="666688"/>
                </a:solidFill>
                <a:latin typeface="Calibri"/>
              </a:defRPr>
            </a:pPr>
            <a:r>
              <a:t>RemoteCLIP · MiniLM · SAE · Entrenamiento y KPIs</a:t>
            </a:r>
          </a:p>
        </p:txBody>
      </p:sp>
      <p:sp>
        <p:nvSpPr>
          <p:cNvPr id="30" name="Rectangle 29"/>
          <p:cNvSpPr/>
          <p:nvPr/>
        </p:nvSpPr>
        <p:spPr>
          <a:xfrm>
            <a:off x="1371600" y="5120640"/>
            <a:ext cx="9875520" cy="4572"/>
          </a:xfrm>
          <a:prstGeom prst="rect">
            <a:avLst/>
          </a:prstGeom>
          <a:solidFill>
            <a:srgbClr val="2233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212080"/>
            <a:ext cx="457200" cy="457200"/>
          </a:xfrm>
          <a:prstGeom prst="rect">
            <a:avLst/>
          </a:prstGeom>
          <a:noFill/>
        </p:spPr>
        <p:txBody>
          <a:bodyPr wrap="square">
            <a:spAutoFit/>
          </a:bodyPr>
          <a:lstStyle/>
          <a:p>
            <a:pPr algn="l">
              <a:defRPr sz="2000" b="1">
                <a:solidFill>
                  <a:srgbClr val="009DFF"/>
                </a:solidFill>
                <a:latin typeface="Calibri"/>
              </a:defRPr>
            </a:pPr>
            <a:r>
              <a:t>07</a:t>
            </a:r>
          </a:p>
        </p:txBody>
      </p:sp>
      <p:sp>
        <p:nvSpPr>
          <p:cNvPr id="32" name="TextBox 31"/>
          <p:cNvSpPr txBox="1"/>
          <p:nvPr/>
        </p:nvSpPr>
        <p:spPr>
          <a:xfrm>
            <a:off x="1371600" y="5212080"/>
            <a:ext cx="2743200" cy="274320"/>
          </a:xfrm>
          <a:prstGeom prst="rect">
            <a:avLst/>
          </a:prstGeom>
          <a:noFill/>
        </p:spPr>
        <p:txBody>
          <a:bodyPr wrap="square">
            <a:spAutoFit/>
          </a:bodyPr>
          <a:lstStyle/>
          <a:p>
            <a:pPr algn="l">
              <a:defRPr sz="1600" b="1">
                <a:solidFill>
                  <a:srgbClr val="FFFFFF"/>
                </a:solidFill>
                <a:latin typeface="Calibri"/>
              </a:defRPr>
            </a:pPr>
            <a:r>
              <a:t>Frontend Next.js</a:t>
            </a:r>
          </a:p>
        </p:txBody>
      </p:sp>
      <p:sp>
        <p:nvSpPr>
          <p:cNvPr id="33" name="TextBox 32"/>
          <p:cNvSpPr txBox="1"/>
          <p:nvPr/>
        </p:nvSpPr>
        <p:spPr>
          <a:xfrm>
            <a:off x="1371600" y="5440680"/>
            <a:ext cx="9144000" cy="274320"/>
          </a:xfrm>
          <a:prstGeom prst="rect">
            <a:avLst/>
          </a:prstGeom>
          <a:noFill/>
        </p:spPr>
        <p:txBody>
          <a:bodyPr wrap="square">
            <a:spAutoFit/>
          </a:bodyPr>
          <a:lstStyle/>
          <a:p>
            <a:pPr algn="l">
              <a:defRPr sz="1100" b="0">
                <a:solidFill>
                  <a:srgbClr val="666688"/>
                </a:solidFill>
                <a:latin typeface="Calibri"/>
              </a:defRPr>
            </a:pPr>
            <a:r>
              <a:t>App profesional · Mapas Leaflet · Modo oscuro</a:t>
            </a:r>
          </a:p>
        </p:txBody>
      </p:sp>
      <p:sp>
        <p:nvSpPr>
          <p:cNvPr id="34" name="Rectangle 33"/>
          <p:cNvSpPr/>
          <p:nvPr/>
        </p:nvSpPr>
        <p:spPr>
          <a:xfrm>
            <a:off x="1371600" y="5760720"/>
            <a:ext cx="9875520" cy="4572"/>
          </a:xfrm>
          <a:prstGeom prst="rect">
            <a:avLst/>
          </a:prstGeom>
          <a:solidFill>
            <a:srgbClr val="2233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 y="5852160"/>
            <a:ext cx="457200" cy="457200"/>
          </a:xfrm>
          <a:prstGeom prst="rect">
            <a:avLst/>
          </a:prstGeom>
          <a:noFill/>
        </p:spPr>
        <p:txBody>
          <a:bodyPr wrap="square">
            <a:spAutoFit/>
          </a:bodyPr>
          <a:lstStyle/>
          <a:p>
            <a:pPr algn="l">
              <a:defRPr sz="2000" b="1">
                <a:solidFill>
                  <a:srgbClr val="009DFF"/>
                </a:solidFill>
                <a:latin typeface="Calibri"/>
              </a:defRPr>
            </a:pPr>
            <a:r>
              <a:t>08</a:t>
            </a:r>
          </a:p>
        </p:txBody>
      </p:sp>
      <p:sp>
        <p:nvSpPr>
          <p:cNvPr id="36" name="TextBox 35"/>
          <p:cNvSpPr txBox="1"/>
          <p:nvPr/>
        </p:nvSpPr>
        <p:spPr>
          <a:xfrm>
            <a:off x="1371600" y="5852160"/>
            <a:ext cx="2743200" cy="274320"/>
          </a:xfrm>
          <a:prstGeom prst="rect">
            <a:avLst/>
          </a:prstGeom>
          <a:noFill/>
        </p:spPr>
        <p:txBody>
          <a:bodyPr wrap="square">
            <a:spAutoFit/>
          </a:bodyPr>
          <a:lstStyle/>
          <a:p>
            <a:pPr algn="l">
              <a:defRPr sz="1600" b="1">
                <a:solidFill>
                  <a:srgbClr val="FFFFFF"/>
                </a:solidFill>
                <a:latin typeface="Calibri"/>
              </a:defRPr>
            </a:pPr>
            <a:r>
              <a:t>Roadmap</a:t>
            </a:r>
          </a:p>
        </p:txBody>
      </p:sp>
      <p:sp>
        <p:nvSpPr>
          <p:cNvPr id="37" name="TextBox 36"/>
          <p:cNvSpPr txBox="1"/>
          <p:nvPr/>
        </p:nvSpPr>
        <p:spPr>
          <a:xfrm>
            <a:off x="1371600" y="6080760"/>
            <a:ext cx="9144000" cy="274320"/>
          </a:xfrm>
          <a:prstGeom prst="rect">
            <a:avLst/>
          </a:prstGeom>
          <a:noFill/>
        </p:spPr>
        <p:txBody>
          <a:bodyPr wrap="square">
            <a:spAutoFit/>
          </a:bodyPr>
          <a:lstStyle/>
          <a:p>
            <a:pPr algn="l">
              <a:defRPr sz="1100" b="0">
                <a:solidFill>
                  <a:srgbClr val="666688"/>
                </a:solidFill>
                <a:latin typeface="Calibri"/>
              </a:defRPr>
            </a:pPr>
            <a:r>
              <a:t>Situación 3 · Geoestadística · Próximos pasos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9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548640" cy="457200"/>
          </a:xfrm>
          <a:prstGeom prst="rect">
            <a:avLst/>
          </a:prstGeom>
          <a:noFill/>
        </p:spPr>
        <p:txBody>
          <a:bodyPr wrap="square">
            <a:spAutoFit/>
          </a:bodyPr>
          <a:lstStyle/>
          <a:p>
            <a:pPr algn="l">
              <a:defRPr sz="2800" b="1">
                <a:solidFill>
                  <a:srgbClr val="009DFF"/>
                </a:solidFill>
                <a:latin typeface="Calibri"/>
              </a:defRPr>
            </a:pPr>
            <a:r>
              <a:t>01</a:t>
            </a:r>
          </a:p>
        </p:txBody>
      </p:sp>
      <p:sp>
        <p:nvSpPr>
          <p:cNvPr id="4" name="TextBox 3"/>
          <p:cNvSpPr txBox="1"/>
          <p:nvPr/>
        </p:nvSpPr>
        <p:spPr>
          <a:xfrm>
            <a:off x="1188720" y="274320"/>
            <a:ext cx="9144000" cy="457200"/>
          </a:xfrm>
          <a:prstGeom prst="rect">
            <a:avLst/>
          </a:prstGeom>
          <a:noFill/>
        </p:spPr>
        <p:txBody>
          <a:bodyPr wrap="square">
            <a:spAutoFit/>
          </a:bodyPr>
          <a:lstStyle/>
          <a:p>
            <a:pPr algn="l">
              <a:defRPr sz="2800" b="1">
                <a:solidFill>
                  <a:srgbClr val="FFFFFF"/>
                </a:solidFill>
                <a:latin typeface="Calibri"/>
              </a:defRPr>
            </a:pPr>
            <a:r>
              <a:t>El Problema</a:t>
            </a:r>
          </a:p>
        </p:txBody>
      </p:sp>
      <p:sp>
        <p:nvSpPr>
          <p:cNvPr id="5" name="TextBox 4"/>
          <p:cNvSpPr txBox="1"/>
          <p:nvPr/>
        </p:nvSpPr>
        <p:spPr>
          <a:xfrm>
            <a:off x="1188720" y="685800"/>
            <a:ext cx="9144000" cy="365760"/>
          </a:xfrm>
          <a:prstGeom prst="rect">
            <a:avLst/>
          </a:prstGeom>
          <a:noFill/>
        </p:spPr>
        <p:txBody>
          <a:bodyPr wrap="square">
            <a:spAutoFit/>
          </a:bodyPr>
          <a:lstStyle/>
          <a:p>
            <a:pPr algn="l">
              <a:defRPr sz="1400" b="0">
                <a:solidFill>
                  <a:srgbClr val="666688"/>
                </a:solidFill>
                <a:latin typeface="Calibri"/>
              </a:defRPr>
            </a:pPr>
            <a:r>
              <a:t>Contaminación atmosférica en Santiago de Cali</a:t>
            </a:r>
          </a:p>
        </p:txBody>
      </p:sp>
      <p:sp>
        <p:nvSpPr>
          <p:cNvPr id="6" name="Rectangle 5"/>
          <p:cNvSpPr/>
          <p:nvPr/>
        </p:nvSpPr>
        <p:spPr>
          <a:xfrm>
            <a:off x="548640" y="1051560"/>
            <a:ext cx="11064240" cy="9144"/>
          </a:xfrm>
          <a:prstGeom prst="rect">
            <a:avLst/>
          </a:prstGeom>
          <a:solidFill>
            <a:srgbClr val="2233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371600"/>
            <a:ext cx="5029200" cy="365760"/>
          </a:xfrm>
          <a:prstGeom prst="rect">
            <a:avLst/>
          </a:prstGeom>
          <a:noFill/>
        </p:spPr>
        <p:txBody>
          <a:bodyPr wrap="square">
            <a:spAutoFit/>
          </a:bodyPr>
          <a:lstStyle/>
          <a:p>
            <a:pPr algn="l">
              <a:defRPr sz="1800" b="1">
                <a:solidFill>
                  <a:srgbClr val="009DFF"/>
                </a:solidFill>
                <a:latin typeface="Calibri"/>
              </a:defRPr>
            </a:pPr>
            <a:r>
              <a:t>Contexto</a:t>
            </a:r>
          </a:p>
        </p:txBody>
      </p:sp>
      <p:sp>
        <p:nvSpPr>
          <p:cNvPr id="8" name="TextBox 7"/>
          <p:cNvSpPr txBox="1"/>
          <p:nvPr/>
        </p:nvSpPr>
        <p:spPr>
          <a:xfrm>
            <a:off x="731520" y="1828800"/>
            <a:ext cx="5029200" cy="2286000"/>
          </a:xfrm>
          <a:prstGeom prst="rect">
            <a:avLst/>
          </a:prstGeom>
          <a:noFill/>
        </p:spPr>
        <p:txBody>
          <a:bodyPr wrap="square">
            <a:spAutoFit/>
          </a:bodyPr>
          <a:lstStyle/>
          <a:p>
            <a:pPr>
              <a:spcAft>
                <a:spcPts val="600"/>
              </a:spcAft>
              <a:defRPr sz="1400">
                <a:solidFill>
                  <a:srgbClr val="BBBBCC"/>
                </a:solidFill>
                <a:latin typeface="Calibri"/>
              </a:defRPr>
            </a:pPr>
            <a:r>
              <a:t>  ▸  Cali: 3ª ciudad de Colombia · ~2.8 M hab. · 564 km²</a:t>
            </a:r>
          </a:p>
          <a:p>
            <a:pPr>
              <a:spcAft>
                <a:spcPts val="600"/>
              </a:spcAft>
              <a:defRPr sz="1400">
                <a:solidFill>
                  <a:srgbClr val="BBBBCC"/>
                </a:solidFill>
                <a:latin typeface="Calibri"/>
              </a:defRPr>
            </a:pPr>
            <a:r>
              <a:t>  ▸  Fuentes: tráfico vehicular, industria Yumbo-Acopi, quemas de caña</a:t>
            </a:r>
          </a:p>
          <a:p>
            <a:pPr>
              <a:spcAft>
                <a:spcPts val="600"/>
              </a:spcAft>
              <a:defRPr sz="1400">
                <a:solidFill>
                  <a:srgbClr val="BBBBCC"/>
                </a:solidFill>
                <a:latin typeface="Calibri"/>
              </a:defRPr>
            </a:pPr>
            <a:r>
              <a:t>  ▸  Resolución 2254/2017: límites NO₂, SO₂, O₃</a:t>
            </a:r>
          </a:p>
          <a:p>
            <a:pPr>
              <a:spcAft>
                <a:spcPts val="600"/>
              </a:spcAft>
              <a:defRPr sz="1400">
                <a:solidFill>
                  <a:srgbClr val="BBBBCC"/>
                </a:solidFill>
                <a:latin typeface="Calibri"/>
              </a:defRPr>
            </a:pPr>
            <a:r>
              <a:t>  ▸  Red DAGMA: solo 9 estaciones → cobertura insuficiente</a:t>
            </a:r>
          </a:p>
        </p:txBody>
      </p:sp>
      <p:sp>
        <p:nvSpPr>
          <p:cNvPr id="9" name="TextBox 8"/>
          <p:cNvSpPr txBox="1"/>
          <p:nvPr/>
        </p:nvSpPr>
        <p:spPr>
          <a:xfrm>
            <a:off x="6400800" y="1371600"/>
            <a:ext cx="5029200" cy="365760"/>
          </a:xfrm>
          <a:prstGeom prst="rect">
            <a:avLst/>
          </a:prstGeom>
          <a:noFill/>
        </p:spPr>
        <p:txBody>
          <a:bodyPr wrap="square">
            <a:spAutoFit/>
          </a:bodyPr>
          <a:lstStyle/>
          <a:p>
            <a:pPr algn="l">
              <a:defRPr sz="1800" b="1">
                <a:solidFill>
                  <a:srgbClr val="FF8C00"/>
                </a:solidFill>
                <a:latin typeface="Calibri"/>
              </a:defRPr>
            </a:pPr>
            <a:r>
              <a:t>La Brecha Satelital</a:t>
            </a:r>
          </a:p>
        </p:txBody>
      </p:sp>
      <p:sp>
        <p:nvSpPr>
          <p:cNvPr id="10" name="TextBox 9"/>
          <p:cNvSpPr txBox="1"/>
          <p:nvPr/>
        </p:nvSpPr>
        <p:spPr>
          <a:xfrm>
            <a:off x="6400800" y="1828800"/>
            <a:ext cx="5029200" cy="2286000"/>
          </a:xfrm>
          <a:prstGeom prst="rect">
            <a:avLst/>
          </a:prstGeom>
          <a:noFill/>
        </p:spPr>
        <p:txBody>
          <a:bodyPr wrap="square">
            <a:spAutoFit/>
          </a:bodyPr>
          <a:lstStyle/>
          <a:p>
            <a:pPr>
              <a:spcAft>
                <a:spcPts val="600"/>
              </a:spcAft>
              <a:defRPr sz="1400">
                <a:solidFill>
                  <a:srgbClr val="BBBBCC"/>
                </a:solidFill>
                <a:latin typeface="Calibri"/>
              </a:defRPr>
            </a:pPr>
            <a:r>
              <a:t>  ▸  Sentinel-5P: gases traza, pero ~3.5×5.5 km → no ve barrios</a:t>
            </a:r>
          </a:p>
          <a:p>
            <a:pPr>
              <a:spcAft>
                <a:spcPts val="600"/>
              </a:spcAft>
              <a:defRPr sz="1400">
                <a:solidFill>
                  <a:srgbClr val="BBBBCC"/>
                </a:solidFill>
                <a:latin typeface="Calibri"/>
              </a:defRPr>
            </a:pPr>
            <a:r>
              <a:t>  ▸  Sentinel-2: 10 m de resolución, pero NO ve gases</a:t>
            </a:r>
          </a:p>
          <a:p>
            <a:pPr>
              <a:spcAft>
                <a:spcPts val="600"/>
              </a:spcAft>
              <a:defRPr sz="1400">
                <a:solidFill>
                  <a:srgbClr val="BBBBCC"/>
                </a:solidFill>
                <a:latin typeface="Calibri"/>
              </a:defRPr>
            </a:pPr>
            <a:r>
              <a:t>  ▸  Hipótesis: fusionar S2 (contexto) + S5P (etiqueta) vía CLIP</a:t>
            </a:r>
          </a:p>
        </p:txBody>
      </p:sp>
      <p:sp>
        <p:nvSpPr>
          <p:cNvPr id="11" name="Rectangle 10"/>
          <p:cNvSpPr/>
          <p:nvPr/>
        </p:nvSpPr>
        <p:spPr>
          <a:xfrm>
            <a:off x="914400" y="4389120"/>
            <a:ext cx="10332720" cy="1097280"/>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4400" y="4389120"/>
            <a:ext cx="73152" cy="109728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88720" y="4480560"/>
            <a:ext cx="9784080" cy="457200"/>
          </a:xfrm>
          <a:prstGeom prst="rect">
            <a:avLst/>
          </a:prstGeom>
          <a:noFill/>
        </p:spPr>
        <p:txBody>
          <a:bodyPr wrap="square">
            <a:spAutoFit/>
          </a:bodyPr>
          <a:lstStyle/>
          <a:p>
            <a:pPr algn="l">
              <a:defRPr sz="1800" b="1">
                <a:solidFill>
                  <a:srgbClr val="FFFFFF"/>
                </a:solidFill>
                <a:latin typeface="Calibri"/>
              </a:defRPr>
            </a:pPr>
            <a:r>
              <a:t>¿Podemos estimar NO₂, SO₂ y O₃ en cualquier (lat, lon) de Cali...</a:t>
            </a:r>
          </a:p>
        </p:txBody>
      </p:sp>
      <p:sp>
        <p:nvSpPr>
          <p:cNvPr id="14" name="TextBox 13"/>
          <p:cNvSpPr txBox="1"/>
          <p:nvPr/>
        </p:nvSpPr>
        <p:spPr>
          <a:xfrm>
            <a:off x="1188720" y="4892040"/>
            <a:ext cx="9784080" cy="457200"/>
          </a:xfrm>
          <a:prstGeom prst="rect">
            <a:avLst/>
          </a:prstGeom>
          <a:noFill/>
        </p:spPr>
        <p:txBody>
          <a:bodyPr wrap="square">
            <a:spAutoFit/>
          </a:bodyPr>
          <a:lstStyle/>
          <a:p>
            <a:pPr algn="l">
              <a:defRPr sz="1600" b="0">
                <a:solidFill>
                  <a:srgbClr val="009DFF"/>
                </a:solidFill>
                <a:latin typeface="Calibri"/>
              </a:defRPr>
            </a:pPr>
            <a:r>
              <a:t>...usando solo satélites gratuitos + 9 estaciones de validación, con incertidumbre cuantificada?</a:t>
            </a:r>
          </a:p>
        </p:txBody>
      </p:sp>
      <p:sp>
        <p:nvSpPr>
          <p:cNvPr id="15" name="Rectangle 14"/>
          <p:cNvSpPr/>
          <p:nvPr/>
        </p:nvSpPr>
        <p:spPr>
          <a:xfrm>
            <a:off x="914400" y="5760720"/>
            <a:ext cx="10332720" cy="731520"/>
          </a:xfrm>
          <a:prstGeom prst="rect">
            <a:avLst/>
          </a:prstGeom>
          <a:solidFill>
            <a:srgbClr val="0A1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88720" y="5806440"/>
            <a:ext cx="9784080" cy="320040"/>
          </a:xfrm>
          <a:prstGeom prst="rect">
            <a:avLst/>
          </a:prstGeom>
          <a:noFill/>
        </p:spPr>
        <p:txBody>
          <a:bodyPr wrap="square">
            <a:spAutoFit/>
          </a:bodyPr>
          <a:lstStyle/>
          <a:p>
            <a:pPr algn="l">
              <a:defRPr sz="1400" b="0">
                <a:solidFill>
                  <a:srgbClr val="BBBBCC"/>
                </a:solidFill>
                <a:latin typeface="Calibri"/>
              </a:defRPr>
            </a:pPr>
            <a:r>
              <a:t>Enfoque: Deep Learning multimodal (CLIP + SAE) + ConvLSTM + ST-Kriging</a:t>
            </a:r>
          </a:p>
        </p:txBody>
      </p:sp>
      <p:sp>
        <p:nvSpPr>
          <p:cNvPr id="17" name="TextBox 16"/>
          <p:cNvSpPr txBox="1"/>
          <p:nvPr/>
        </p:nvSpPr>
        <p:spPr>
          <a:xfrm>
            <a:off x="1188720" y="6080760"/>
            <a:ext cx="9784080" cy="320040"/>
          </a:xfrm>
          <a:prstGeom prst="rect">
            <a:avLst/>
          </a:prstGeom>
          <a:noFill/>
        </p:spPr>
        <p:txBody>
          <a:bodyPr wrap="square">
            <a:spAutoFit/>
          </a:bodyPr>
          <a:lstStyle/>
          <a:p>
            <a:pPr algn="l">
              <a:defRPr sz="1300" b="0">
                <a:solidFill>
                  <a:srgbClr val="666688"/>
                </a:solidFill>
                <a:latin typeface="Calibri"/>
              </a:defRPr>
            </a:pPr>
            <a:r>
              <a:t>3 horizontes: T+1 · T+3 · T+7 días   |   3 contaminantes: NO₂ · SO₂ · O₃</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9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548640" cy="457200"/>
          </a:xfrm>
          <a:prstGeom prst="rect">
            <a:avLst/>
          </a:prstGeom>
          <a:noFill/>
        </p:spPr>
        <p:txBody>
          <a:bodyPr wrap="square">
            <a:spAutoFit/>
          </a:bodyPr>
          <a:lstStyle/>
          <a:p>
            <a:pPr algn="l">
              <a:defRPr sz="2800" b="1">
                <a:solidFill>
                  <a:srgbClr val="009DFF"/>
                </a:solidFill>
                <a:latin typeface="Calibri"/>
              </a:defRPr>
            </a:pPr>
            <a:r>
              <a:t>02</a:t>
            </a:r>
          </a:p>
        </p:txBody>
      </p:sp>
      <p:sp>
        <p:nvSpPr>
          <p:cNvPr id="4" name="TextBox 3"/>
          <p:cNvSpPr txBox="1"/>
          <p:nvPr/>
        </p:nvSpPr>
        <p:spPr>
          <a:xfrm>
            <a:off x="1188720" y="274320"/>
            <a:ext cx="9144000" cy="457200"/>
          </a:xfrm>
          <a:prstGeom prst="rect">
            <a:avLst/>
          </a:prstGeom>
          <a:noFill/>
        </p:spPr>
        <p:txBody>
          <a:bodyPr wrap="square">
            <a:spAutoFit/>
          </a:bodyPr>
          <a:lstStyle/>
          <a:p>
            <a:pPr algn="l">
              <a:defRPr sz="2800" b="1">
                <a:solidFill>
                  <a:srgbClr val="FFFFFF"/>
                </a:solidFill>
                <a:latin typeface="Calibri"/>
              </a:defRPr>
            </a:pPr>
            <a:r>
              <a:t>Arquitectura General</a:t>
            </a:r>
          </a:p>
        </p:txBody>
      </p:sp>
      <p:sp>
        <p:nvSpPr>
          <p:cNvPr id="5" name="TextBox 4"/>
          <p:cNvSpPr txBox="1"/>
          <p:nvPr/>
        </p:nvSpPr>
        <p:spPr>
          <a:xfrm>
            <a:off x="1188720" y="685800"/>
            <a:ext cx="9144000" cy="365760"/>
          </a:xfrm>
          <a:prstGeom prst="rect">
            <a:avLst/>
          </a:prstGeom>
          <a:noFill/>
        </p:spPr>
        <p:txBody>
          <a:bodyPr wrap="square">
            <a:spAutoFit/>
          </a:bodyPr>
          <a:lstStyle/>
          <a:p>
            <a:pPr algn="l">
              <a:defRPr sz="1400" b="0">
                <a:solidFill>
                  <a:srgbClr val="666688"/>
                </a:solidFill>
                <a:latin typeface="Calibri"/>
              </a:defRPr>
            </a:pPr>
            <a:r>
              <a:t>3 situaciones secuenciales y acumulativas</a:t>
            </a:r>
          </a:p>
        </p:txBody>
      </p:sp>
      <p:sp>
        <p:nvSpPr>
          <p:cNvPr id="6" name="Rectangle 5"/>
          <p:cNvSpPr/>
          <p:nvPr/>
        </p:nvSpPr>
        <p:spPr>
          <a:xfrm>
            <a:off x="548640" y="1051560"/>
            <a:ext cx="11064240" cy="9144"/>
          </a:xfrm>
          <a:prstGeom prst="rect">
            <a:avLst/>
          </a:prstGeom>
          <a:solidFill>
            <a:srgbClr val="2233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371600"/>
            <a:ext cx="3520440" cy="4754880"/>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371600"/>
            <a:ext cx="3520440" cy="54864"/>
          </a:xfrm>
          <a:prstGeom prst="rect">
            <a:avLst/>
          </a:prstGeom>
          <a:solidFill>
            <a:srgbClr val="009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554480"/>
            <a:ext cx="3108960" cy="320040"/>
          </a:xfrm>
          <a:prstGeom prst="rect">
            <a:avLst/>
          </a:prstGeom>
          <a:noFill/>
        </p:spPr>
        <p:txBody>
          <a:bodyPr wrap="square">
            <a:spAutoFit/>
          </a:bodyPr>
          <a:lstStyle/>
          <a:p>
            <a:pPr algn="l">
              <a:defRPr sz="1400" b="1">
                <a:solidFill>
                  <a:srgbClr val="009DFF"/>
                </a:solidFill>
                <a:latin typeface="Calibri"/>
              </a:defRPr>
            </a:pPr>
            <a:r>
              <a:t>SITUACIÓN 1</a:t>
            </a:r>
          </a:p>
        </p:txBody>
      </p:sp>
      <p:sp>
        <p:nvSpPr>
          <p:cNvPr id="10" name="TextBox 9"/>
          <p:cNvSpPr txBox="1"/>
          <p:nvPr/>
        </p:nvSpPr>
        <p:spPr>
          <a:xfrm>
            <a:off x="731520" y="1828800"/>
            <a:ext cx="3108960" cy="320040"/>
          </a:xfrm>
          <a:prstGeom prst="rect">
            <a:avLst/>
          </a:prstGeom>
          <a:noFill/>
        </p:spPr>
        <p:txBody>
          <a:bodyPr wrap="square">
            <a:spAutoFit/>
          </a:bodyPr>
          <a:lstStyle/>
          <a:p>
            <a:pPr algn="l">
              <a:defRPr sz="1100" b="0">
                <a:solidFill>
                  <a:srgbClr val="BBBBCC"/>
                </a:solidFill>
                <a:latin typeface="Calibri"/>
              </a:defRPr>
            </a:pPr>
            <a:r>
              <a:t>Panel &amp; Arquitectura Cloud</a:t>
            </a:r>
          </a:p>
        </p:txBody>
      </p:sp>
      <p:sp>
        <p:nvSpPr>
          <p:cNvPr id="11" name="Rectangle 10"/>
          <p:cNvSpPr/>
          <p:nvPr/>
        </p:nvSpPr>
        <p:spPr>
          <a:xfrm>
            <a:off x="2926080" y="1554480"/>
            <a:ext cx="914400" cy="274320"/>
          </a:xfrm>
          <a:prstGeom prst="rect">
            <a:avLst/>
          </a:prstGeom>
          <a:solidFill>
            <a:srgbClr val="009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1554480"/>
            <a:ext cx="914400" cy="274320"/>
          </a:xfrm>
          <a:prstGeom prst="rect">
            <a:avLst/>
          </a:prstGeom>
          <a:noFill/>
        </p:spPr>
        <p:txBody>
          <a:bodyPr wrap="square">
            <a:spAutoFit/>
          </a:bodyPr>
          <a:lstStyle/>
          <a:p>
            <a:pPr algn="ctr">
              <a:defRPr sz="900" b="1">
                <a:solidFill>
                  <a:srgbClr val="FFFFFF"/>
                </a:solidFill>
                <a:latin typeface="Calibri"/>
              </a:defRPr>
            </a:pPr>
            <a:r>
              <a:t>20%</a:t>
            </a:r>
          </a:p>
        </p:txBody>
      </p:sp>
      <p:sp>
        <p:nvSpPr>
          <p:cNvPr id="13" name="TextBox 12"/>
          <p:cNvSpPr txBox="1"/>
          <p:nvPr/>
        </p:nvSpPr>
        <p:spPr>
          <a:xfrm>
            <a:off x="731520" y="2377440"/>
            <a:ext cx="3108960" cy="3200400"/>
          </a:xfrm>
          <a:prstGeom prst="rect">
            <a:avLst/>
          </a:prstGeom>
          <a:noFill/>
        </p:spPr>
        <p:txBody>
          <a:bodyPr wrap="square">
            <a:spAutoFit/>
          </a:bodyPr>
          <a:lstStyle/>
          <a:p>
            <a:pPr>
              <a:spcAft>
                <a:spcPts val="600"/>
              </a:spcAft>
              <a:defRPr sz="1200">
                <a:solidFill>
                  <a:srgbClr val="BBBBCC"/>
                </a:solidFill>
                <a:latin typeface="Calibri"/>
              </a:defRPr>
            </a:pPr>
            <a:r>
              <a:t>  •  Panel ≥50 GB multi-fuente</a:t>
            </a:r>
          </a:p>
          <a:p>
            <a:pPr>
              <a:spcAft>
                <a:spcPts val="600"/>
              </a:spcAft>
              <a:defRPr sz="1200">
                <a:solidFill>
                  <a:srgbClr val="BBBBCC"/>
                </a:solidFill>
                <a:latin typeface="Calibri"/>
              </a:defRPr>
            </a:pPr>
            <a:r>
              <a:t>  •  Pipeline ETL distribuido (Dask)</a:t>
            </a:r>
          </a:p>
          <a:p>
            <a:pPr>
              <a:spcAft>
                <a:spcPts val="600"/>
              </a:spcAft>
              <a:defRPr sz="1200">
                <a:solidFill>
                  <a:srgbClr val="BBBBCC"/>
                </a:solidFill>
                <a:latin typeface="Calibri"/>
              </a:defRPr>
            </a:pPr>
            <a:r>
              <a:t>  •  Zarr en Google Cloud Storage</a:t>
            </a:r>
          </a:p>
          <a:p>
            <a:pPr>
              <a:spcAft>
                <a:spcPts val="600"/>
              </a:spcAft>
              <a:defRPr sz="1200">
                <a:solidFill>
                  <a:srgbClr val="BBBBCC"/>
                </a:solidFill>
                <a:latin typeface="Calibri"/>
              </a:defRPr>
            </a:pPr>
            <a:r>
              <a:t>  •  Manifest MD5 verificable</a:t>
            </a:r>
          </a:p>
          <a:p>
            <a:pPr>
              <a:spcAft>
                <a:spcPts val="600"/>
              </a:spcAft>
              <a:defRPr sz="1200">
                <a:solidFill>
                  <a:srgbClr val="BBBBCC"/>
                </a:solidFill>
                <a:latin typeface="Calibri"/>
              </a:defRPr>
            </a:pPr>
            <a:r>
              <a:t>  •  EDA exhaustivo (7 fuentes)</a:t>
            </a:r>
          </a:p>
          <a:p>
            <a:pPr>
              <a:spcAft>
                <a:spcPts val="600"/>
              </a:spcAft>
              <a:defRPr sz="1200">
                <a:solidFill>
                  <a:srgbClr val="BBBBCC"/>
                </a:solidFill>
                <a:latin typeface="Calibri"/>
              </a:defRPr>
            </a:pPr>
            <a:r>
              <a:t>  •  ✅ COMPLETADO</a:t>
            </a:r>
          </a:p>
        </p:txBody>
      </p:sp>
      <p:sp>
        <p:nvSpPr>
          <p:cNvPr id="14" name="Rectangle 13"/>
          <p:cNvSpPr/>
          <p:nvPr/>
        </p:nvSpPr>
        <p:spPr>
          <a:xfrm>
            <a:off x="4343400" y="1371600"/>
            <a:ext cx="3520440" cy="4754880"/>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43400" y="1371600"/>
            <a:ext cx="3520440" cy="54864"/>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6280" y="1554480"/>
            <a:ext cx="3108960" cy="320040"/>
          </a:xfrm>
          <a:prstGeom prst="rect">
            <a:avLst/>
          </a:prstGeom>
          <a:noFill/>
        </p:spPr>
        <p:txBody>
          <a:bodyPr wrap="square">
            <a:spAutoFit/>
          </a:bodyPr>
          <a:lstStyle/>
          <a:p>
            <a:pPr algn="l">
              <a:defRPr sz="1400" b="1">
                <a:solidFill>
                  <a:srgbClr val="00E676"/>
                </a:solidFill>
                <a:latin typeface="Calibri"/>
              </a:defRPr>
            </a:pPr>
            <a:r>
              <a:t>SITUACIÓN 2</a:t>
            </a:r>
          </a:p>
        </p:txBody>
      </p:sp>
      <p:sp>
        <p:nvSpPr>
          <p:cNvPr id="17" name="TextBox 16"/>
          <p:cNvSpPr txBox="1"/>
          <p:nvPr/>
        </p:nvSpPr>
        <p:spPr>
          <a:xfrm>
            <a:off x="4526280" y="1828800"/>
            <a:ext cx="3108960" cy="320040"/>
          </a:xfrm>
          <a:prstGeom prst="rect">
            <a:avLst/>
          </a:prstGeom>
          <a:noFill/>
        </p:spPr>
        <p:txBody>
          <a:bodyPr wrap="square">
            <a:spAutoFit/>
          </a:bodyPr>
          <a:lstStyle/>
          <a:p>
            <a:pPr algn="l">
              <a:defRPr sz="1100" b="0">
                <a:solidFill>
                  <a:srgbClr val="BBBBCC"/>
                </a:solidFill>
                <a:latin typeface="Calibri"/>
              </a:defRPr>
            </a:pPr>
            <a:r>
              <a:t>GeoVision-CLIP + SAE</a:t>
            </a:r>
          </a:p>
        </p:txBody>
      </p:sp>
      <p:sp>
        <p:nvSpPr>
          <p:cNvPr id="18" name="Rectangle 17"/>
          <p:cNvSpPr/>
          <p:nvPr/>
        </p:nvSpPr>
        <p:spPr>
          <a:xfrm>
            <a:off x="6720840" y="1554480"/>
            <a:ext cx="914400" cy="274320"/>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20840" y="1554480"/>
            <a:ext cx="914400" cy="274320"/>
          </a:xfrm>
          <a:prstGeom prst="rect">
            <a:avLst/>
          </a:prstGeom>
          <a:noFill/>
        </p:spPr>
        <p:txBody>
          <a:bodyPr wrap="square">
            <a:spAutoFit/>
          </a:bodyPr>
          <a:lstStyle/>
          <a:p>
            <a:pPr algn="ctr">
              <a:defRPr sz="900" b="1">
                <a:solidFill>
                  <a:srgbClr val="FFFFFF"/>
                </a:solidFill>
                <a:latin typeface="Calibri"/>
              </a:defRPr>
            </a:pPr>
            <a:r>
              <a:t>20%</a:t>
            </a:r>
          </a:p>
        </p:txBody>
      </p:sp>
      <p:sp>
        <p:nvSpPr>
          <p:cNvPr id="20" name="TextBox 19"/>
          <p:cNvSpPr txBox="1"/>
          <p:nvPr/>
        </p:nvSpPr>
        <p:spPr>
          <a:xfrm>
            <a:off x="4526280" y="2377440"/>
            <a:ext cx="3108960" cy="3200400"/>
          </a:xfrm>
          <a:prstGeom prst="rect">
            <a:avLst/>
          </a:prstGeom>
          <a:noFill/>
        </p:spPr>
        <p:txBody>
          <a:bodyPr wrap="square">
            <a:spAutoFit/>
          </a:bodyPr>
          <a:lstStyle/>
          <a:p>
            <a:pPr>
              <a:spcAft>
                <a:spcPts val="600"/>
              </a:spcAft>
              <a:defRPr sz="1200">
                <a:solidFill>
                  <a:srgbClr val="BBBBCC"/>
                </a:solidFill>
                <a:latin typeface="Calibri"/>
              </a:defRPr>
            </a:pPr>
            <a:r>
              <a:t>  •  Dataset 2,276 pares img-texto</a:t>
            </a:r>
          </a:p>
          <a:p>
            <a:pPr>
              <a:spcAft>
                <a:spcPts val="600"/>
              </a:spcAft>
              <a:defRPr sz="1200">
                <a:solidFill>
                  <a:srgbClr val="BBBBCC"/>
                </a:solidFill>
                <a:latin typeface="Calibri"/>
              </a:defRPr>
            </a:pPr>
            <a:r>
              <a:t>  •  RemoteCLIP ViT-B/32 + MiniLM</a:t>
            </a:r>
          </a:p>
          <a:p>
            <a:pPr>
              <a:spcAft>
                <a:spcPts val="600"/>
              </a:spcAft>
              <a:defRPr sz="1200">
                <a:solidFill>
                  <a:srgbClr val="BBBBCC"/>
                </a:solidFill>
                <a:latin typeface="Calibri"/>
              </a:defRPr>
            </a:pPr>
            <a:r>
              <a:t>  •  Sparse Autoencoders (SAE)</a:t>
            </a:r>
          </a:p>
          <a:p>
            <a:pPr>
              <a:spcAft>
                <a:spcPts val="600"/>
              </a:spcAft>
              <a:defRPr sz="1200">
                <a:solidFill>
                  <a:srgbClr val="BBBBCC"/>
                </a:solidFill>
                <a:latin typeface="Calibri"/>
              </a:defRPr>
            </a:pPr>
            <a:r>
              <a:t>  •  InfoNCE + regularización L₁</a:t>
            </a:r>
          </a:p>
          <a:p>
            <a:pPr>
              <a:spcAft>
                <a:spcPts val="600"/>
              </a:spcAft>
              <a:defRPr sz="1200">
                <a:solidFill>
                  <a:srgbClr val="BBBBCC"/>
                </a:solidFill>
                <a:latin typeface="Calibri"/>
              </a:defRPr>
            </a:pPr>
            <a:r>
              <a:t>  •  Validación AFE/AFC psicométrica</a:t>
            </a:r>
          </a:p>
          <a:p>
            <a:pPr>
              <a:spcAft>
                <a:spcPts val="600"/>
              </a:spcAft>
              <a:defRPr sz="1200">
                <a:solidFill>
                  <a:srgbClr val="BBBBCC"/>
                </a:solidFill>
                <a:latin typeface="Calibri"/>
              </a:defRPr>
            </a:pPr>
            <a:r>
              <a:t>  •  🔄 EN ENTRENAMIENTO</a:t>
            </a:r>
          </a:p>
        </p:txBody>
      </p:sp>
      <p:sp>
        <p:nvSpPr>
          <p:cNvPr id="21" name="Rectangle 20"/>
          <p:cNvSpPr/>
          <p:nvPr/>
        </p:nvSpPr>
        <p:spPr>
          <a:xfrm>
            <a:off x="8138160" y="1371600"/>
            <a:ext cx="3520440" cy="4754880"/>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38160" y="1371600"/>
            <a:ext cx="3520440" cy="54864"/>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1040" y="1554480"/>
            <a:ext cx="3108960" cy="320040"/>
          </a:xfrm>
          <a:prstGeom prst="rect">
            <a:avLst/>
          </a:prstGeom>
          <a:noFill/>
        </p:spPr>
        <p:txBody>
          <a:bodyPr wrap="square">
            <a:spAutoFit/>
          </a:bodyPr>
          <a:lstStyle/>
          <a:p>
            <a:pPr algn="l">
              <a:defRPr sz="1400" b="1">
                <a:solidFill>
                  <a:srgbClr val="FF8C00"/>
                </a:solidFill>
                <a:latin typeface="Calibri"/>
              </a:defRPr>
            </a:pPr>
            <a:r>
              <a:t>SITUACIÓN 3</a:t>
            </a:r>
          </a:p>
        </p:txBody>
      </p:sp>
      <p:sp>
        <p:nvSpPr>
          <p:cNvPr id="24" name="TextBox 23"/>
          <p:cNvSpPr txBox="1"/>
          <p:nvPr/>
        </p:nvSpPr>
        <p:spPr>
          <a:xfrm>
            <a:off x="8321040" y="1828800"/>
            <a:ext cx="3108960" cy="320040"/>
          </a:xfrm>
          <a:prstGeom prst="rect">
            <a:avLst/>
          </a:prstGeom>
          <a:noFill/>
        </p:spPr>
        <p:txBody>
          <a:bodyPr wrap="square">
            <a:spAutoFit/>
          </a:bodyPr>
          <a:lstStyle/>
          <a:p>
            <a:pPr algn="l">
              <a:defRPr sz="1100" b="0">
                <a:solidFill>
                  <a:srgbClr val="BBBBCC"/>
                </a:solidFill>
                <a:latin typeface="Calibri"/>
              </a:defRPr>
            </a:pPr>
            <a:r>
              <a:t>ConvLSTM + ST-Kriging</a:t>
            </a:r>
          </a:p>
        </p:txBody>
      </p:sp>
      <p:sp>
        <p:nvSpPr>
          <p:cNvPr id="25" name="Rectangle 24"/>
          <p:cNvSpPr/>
          <p:nvPr/>
        </p:nvSpPr>
        <p:spPr>
          <a:xfrm>
            <a:off x="10515600" y="1554480"/>
            <a:ext cx="914400" cy="27432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515600" y="1554480"/>
            <a:ext cx="914400" cy="274320"/>
          </a:xfrm>
          <a:prstGeom prst="rect">
            <a:avLst/>
          </a:prstGeom>
          <a:noFill/>
        </p:spPr>
        <p:txBody>
          <a:bodyPr wrap="square">
            <a:spAutoFit/>
          </a:bodyPr>
          <a:lstStyle/>
          <a:p>
            <a:pPr algn="ctr">
              <a:defRPr sz="900" b="1">
                <a:solidFill>
                  <a:srgbClr val="FFFFFF"/>
                </a:solidFill>
                <a:latin typeface="Calibri"/>
              </a:defRPr>
            </a:pPr>
            <a:r>
              <a:t>30%</a:t>
            </a:r>
          </a:p>
        </p:txBody>
      </p:sp>
      <p:sp>
        <p:nvSpPr>
          <p:cNvPr id="27" name="TextBox 26"/>
          <p:cNvSpPr txBox="1"/>
          <p:nvPr/>
        </p:nvSpPr>
        <p:spPr>
          <a:xfrm>
            <a:off x="8321040" y="2377440"/>
            <a:ext cx="3108960" cy="3200400"/>
          </a:xfrm>
          <a:prstGeom prst="rect">
            <a:avLst/>
          </a:prstGeom>
          <a:noFill/>
        </p:spPr>
        <p:txBody>
          <a:bodyPr wrap="square">
            <a:spAutoFit/>
          </a:bodyPr>
          <a:lstStyle/>
          <a:p>
            <a:pPr>
              <a:spcAft>
                <a:spcPts val="600"/>
              </a:spcAft>
              <a:defRPr sz="1200">
                <a:solidFill>
                  <a:srgbClr val="BBBBCC"/>
                </a:solidFill>
                <a:latin typeface="Calibri"/>
              </a:defRPr>
            </a:pPr>
            <a:r>
              <a:t>  •  ConvLSTM bidireccional</a:t>
            </a:r>
          </a:p>
          <a:p>
            <a:pPr>
              <a:spcAft>
                <a:spcPts val="600"/>
              </a:spcAft>
              <a:defRPr sz="1200">
                <a:solidFill>
                  <a:srgbClr val="BBBBCC"/>
                </a:solidFill>
                <a:latin typeface="Calibri"/>
              </a:defRPr>
            </a:pPr>
            <a:r>
              <a:t>  •  Variograma espacio-temporal</a:t>
            </a:r>
          </a:p>
          <a:p>
            <a:pPr>
              <a:spcAft>
                <a:spcPts val="600"/>
              </a:spcAft>
              <a:defRPr sz="1200">
                <a:solidFill>
                  <a:srgbClr val="BBBBCC"/>
                </a:solidFill>
                <a:latin typeface="Calibri"/>
              </a:defRPr>
            </a:pPr>
            <a:r>
              <a:t>  •  ST-Kriging → superficie continua</a:t>
            </a:r>
          </a:p>
          <a:p>
            <a:pPr>
              <a:spcAft>
                <a:spcPts val="600"/>
              </a:spcAft>
              <a:defRPr sz="1200">
                <a:solidFill>
                  <a:srgbClr val="BBBBCC"/>
                </a:solidFill>
                <a:latin typeface="Calibri"/>
              </a:defRPr>
            </a:pPr>
            <a:r>
              <a:t>  •  LOO-CV vs 9 estaciones DAGMA</a:t>
            </a:r>
          </a:p>
          <a:p>
            <a:pPr>
              <a:spcAft>
                <a:spcPts val="600"/>
              </a:spcAft>
              <a:defRPr sz="1200">
                <a:solidFill>
                  <a:srgbClr val="BBBBCC"/>
                </a:solidFill>
                <a:latin typeface="Calibri"/>
              </a:defRPr>
            </a:pPr>
            <a:r>
              <a:t>  •  Mapas de incertidumbre (σ²)</a:t>
            </a:r>
          </a:p>
          <a:p>
            <a:pPr>
              <a:spcAft>
                <a:spcPts val="600"/>
              </a:spcAft>
              <a:defRPr sz="1200">
                <a:solidFill>
                  <a:srgbClr val="BBBBCC"/>
                </a:solidFill>
                <a:latin typeface="Calibri"/>
              </a:defRPr>
            </a:pPr>
            <a:r>
              <a:t>  •  ⬜ PENDIENTE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9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548640" cy="457200"/>
          </a:xfrm>
          <a:prstGeom prst="rect">
            <a:avLst/>
          </a:prstGeom>
          <a:noFill/>
        </p:spPr>
        <p:txBody>
          <a:bodyPr wrap="square">
            <a:spAutoFit/>
          </a:bodyPr>
          <a:lstStyle/>
          <a:p>
            <a:pPr algn="l">
              <a:defRPr sz="2800" b="1">
                <a:solidFill>
                  <a:srgbClr val="009DFF"/>
                </a:solidFill>
                <a:latin typeface="Calibri"/>
              </a:defRPr>
            </a:pPr>
            <a:r>
              <a:t>03</a:t>
            </a:r>
          </a:p>
        </p:txBody>
      </p:sp>
      <p:sp>
        <p:nvSpPr>
          <p:cNvPr id="4" name="TextBox 3"/>
          <p:cNvSpPr txBox="1"/>
          <p:nvPr/>
        </p:nvSpPr>
        <p:spPr>
          <a:xfrm>
            <a:off x="1188720" y="274320"/>
            <a:ext cx="9144000" cy="457200"/>
          </a:xfrm>
          <a:prstGeom prst="rect">
            <a:avLst/>
          </a:prstGeom>
          <a:noFill/>
        </p:spPr>
        <p:txBody>
          <a:bodyPr wrap="square">
            <a:spAutoFit/>
          </a:bodyPr>
          <a:lstStyle/>
          <a:p>
            <a:pPr algn="l">
              <a:defRPr sz="2800" b="1">
                <a:solidFill>
                  <a:srgbClr val="FFFFFF"/>
                </a:solidFill>
                <a:latin typeface="Calibri"/>
              </a:defRPr>
            </a:pPr>
            <a:r>
              <a:t>Stack Tecnológico</a:t>
            </a:r>
          </a:p>
        </p:txBody>
      </p:sp>
      <p:sp>
        <p:nvSpPr>
          <p:cNvPr id="5" name="TextBox 4"/>
          <p:cNvSpPr txBox="1"/>
          <p:nvPr/>
        </p:nvSpPr>
        <p:spPr>
          <a:xfrm>
            <a:off x="1188720" y="685800"/>
            <a:ext cx="9144000" cy="365760"/>
          </a:xfrm>
          <a:prstGeom prst="rect">
            <a:avLst/>
          </a:prstGeom>
          <a:noFill/>
        </p:spPr>
        <p:txBody>
          <a:bodyPr wrap="square">
            <a:spAutoFit/>
          </a:bodyPr>
          <a:lstStyle/>
          <a:p>
            <a:pPr algn="l">
              <a:defRPr sz="1400" b="0">
                <a:solidFill>
                  <a:srgbClr val="666688"/>
                </a:solidFill>
                <a:latin typeface="Calibri"/>
              </a:defRPr>
            </a:pPr>
            <a:r>
              <a:t>Herramientas por capa del proyecto</a:t>
            </a:r>
          </a:p>
        </p:txBody>
      </p:sp>
      <p:sp>
        <p:nvSpPr>
          <p:cNvPr id="6" name="Rectangle 5"/>
          <p:cNvSpPr/>
          <p:nvPr/>
        </p:nvSpPr>
        <p:spPr>
          <a:xfrm>
            <a:off x="548640" y="1051560"/>
            <a:ext cx="11064240" cy="9144"/>
          </a:xfrm>
          <a:prstGeom prst="rect">
            <a:avLst/>
          </a:prstGeom>
          <a:solidFill>
            <a:srgbClr val="2233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371600"/>
            <a:ext cx="3520440" cy="2194560"/>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371600"/>
            <a:ext cx="54864" cy="2194560"/>
          </a:xfrm>
          <a:prstGeom prst="rect">
            <a:avLst/>
          </a:prstGeom>
          <a:solidFill>
            <a:srgbClr val="009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3108960" cy="320040"/>
          </a:xfrm>
          <a:prstGeom prst="rect">
            <a:avLst/>
          </a:prstGeom>
          <a:noFill/>
        </p:spPr>
        <p:txBody>
          <a:bodyPr wrap="square">
            <a:spAutoFit/>
          </a:bodyPr>
          <a:lstStyle/>
          <a:p>
            <a:pPr algn="l">
              <a:defRPr sz="1500" b="1">
                <a:solidFill>
                  <a:srgbClr val="009DFF"/>
                </a:solidFill>
                <a:latin typeface="Calibri"/>
              </a:defRPr>
            </a:pPr>
            <a:r>
              <a:t>Almacenamiento</a:t>
            </a:r>
          </a:p>
        </p:txBody>
      </p:sp>
      <p:sp>
        <p:nvSpPr>
          <p:cNvPr id="10" name="TextBox 9"/>
          <p:cNvSpPr txBox="1"/>
          <p:nvPr/>
        </p:nvSpPr>
        <p:spPr>
          <a:xfrm>
            <a:off x="777240" y="1874520"/>
            <a:ext cx="3108960" cy="320040"/>
          </a:xfrm>
          <a:prstGeom prst="rect">
            <a:avLst/>
          </a:prstGeom>
          <a:noFill/>
        </p:spPr>
        <p:txBody>
          <a:bodyPr wrap="square">
            <a:spAutoFit/>
          </a:bodyPr>
          <a:lstStyle/>
          <a:p>
            <a:pPr algn="l">
              <a:defRPr sz="1100" b="0">
                <a:solidFill>
                  <a:srgbClr val="BBBBCC"/>
                </a:solidFill>
                <a:latin typeface="Calibri"/>
              </a:defRPr>
            </a:pPr>
            <a:r>
              <a:t>▸  Google Cloud Storage</a:t>
            </a:r>
          </a:p>
        </p:txBody>
      </p:sp>
      <p:sp>
        <p:nvSpPr>
          <p:cNvPr id="11" name="TextBox 10"/>
          <p:cNvSpPr txBox="1"/>
          <p:nvPr/>
        </p:nvSpPr>
        <p:spPr>
          <a:xfrm>
            <a:off x="777240" y="2240280"/>
            <a:ext cx="3108960" cy="320040"/>
          </a:xfrm>
          <a:prstGeom prst="rect">
            <a:avLst/>
          </a:prstGeom>
          <a:noFill/>
        </p:spPr>
        <p:txBody>
          <a:bodyPr wrap="square">
            <a:spAutoFit/>
          </a:bodyPr>
          <a:lstStyle/>
          <a:p>
            <a:pPr algn="l">
              <a:defRPr sz="1100" b="0">
                <a:solidFill>
                  <a:srgbClr val="BBBBCC"/>
                </a:solidFill>
                <a:latin typeface="Calibri"/>
              </a:defRPr>
            </a:pPr>
            <a:r>
              <a:t>▸  Zarr (cubos N-D)</a:t>
            </a:r>
          </a:p>
        </p:txBody>
      </p:sp>
      <p:sp>
        <p:nvSpPr>
          <p:cNvPr id="12" name="TextBox 11"/>
          <p:cNvSpPr txBox="1"/>
          <p:nvPr/>
        </p:nvSpPr>
        <p:spPr>
          <a:xfrm>
            <a:off x="777240" y="2606040"/>
            <a:ext cx="3108960" cy="320040"/>
          </a:xfrm>
          <a:prstGeom prst="rect">
            <a:avLst/>
          </a:prstGeom>
          <a:noFill/>
        </p:spPr>
        <p:txBody>
          <a:bodyPr wrap="square">
            <a:spAutoFit/>
          </a:bodyPr>
          <a:lstStyle/>
          <a:p>
            <a:pPr algn="l">
              <a:defRPr sz="1100" b="0">
                <a:solidFill>
                  <a:srgbClr val="BBBBCC"/>
                </a:solidFill>
                <a:latin typeface="Calibri"/>
              </a:defRPr>
            </a:pPr>
            <a:r>
              <a:t>▸  Parquet particionado</a:t>
            </a:r>
          </a:p>
        </p:txBody>
      </p:sp>
      <p:sp>
        <p:nvSpPr>
          <p:cNvPr id="13" name="Rectangle 12"/>
          <p:cNvSpPr/>
          <p:nvPr/>
        </p:nvSpPr>
        <p:spPr>
          <a:xfrm>
            <a:off x="4343400" y="1371600"/>
            <a:ext cx="3520440" cy="2194560"/>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43400" y="1371600"/>
            <a:ext cx="54864" cy="2194560"/>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1508760"/>
            <a:ext cx="3108960" cy="320040"/>
          </a:xfrm>
          <a:prstGeom prst="rect">
            <a:avLst/>
          </a:prstGeom>
          <a:noFill/>
        </p:spPr>
        <p:txBody>
          <a:bodyPr wrap="square">
            <a:spAutoFit/>
          </a:bodyPr>
          <a:lstStyle/>
          <a:p>
            <a:pPr algn="l">
              <a:defRPr sz="1500" b="1">
                <a:solidFill>
                  <a:srgbClr val="00E676"/>
                </a:solidFill>
                <a:latin typeface="Calibri"/>
              </a:defRPr>
            </a:pPr>
            <a:r>
              <a:t>ETL Distribuido</a:t>
            </a:r>
          </a:p>
        </p:txBody>
      </p:sp>
      <p:sp>
        <p:nvSpPr>
          <p:cNvPr id="16" name="TextBox 15"/>
          <p:cNvSpPr txBox="1"/>
          <p:nvPr/>
        </p:nvSpPr>
        <p:spPr>
          <a:xfrm>
            <a:off x="4572000" y="1874520"/>
            <a:ext cx="3108960" cy="320040"/>
          </a:xfrm>
          <a:prstGeom prst="rect">
            <a:avLst/>
          </a:prstGeom>
          <a:noFill/>
        </p:spPr>
        <p:txBody>
          <a:bodyPr wrap="square">
            <a:spAutoFit/>
          </a:bodyPr>
          <a:lstStyle/>
          <a:p>
            <a:pPr algn="l">
              <a:defRPr sz="1100" b="0">
                <a:solidFill>
                  <a:srgbClr val="BBBBCC"/>
                </a:solidFill>
                <a:latin typeface="Calibri"/>
              </a:defRPr>
            </a:pPr>
            <a:r>
              <a:t>▸  Dask Distributed (4×2 workers)</a:t>
            </a:r>
          </a:p>
        </p:txBody>
      </p:sp>
      <p:sp>
        <p:nvSpPr>
          <p:cNvPr id="17" name="TextBox 16"/>
          <p:cNvSpPr txBox="1"/>
          <p:nvPr/>
        </p:nvSpPr>
        <p:spPr>
          <a:xfrm>
            <a:off x="4572000" y="2240280"/>
            <a:ext cx="3108960" cy="320040"/>
          </a:xfrm>
          <a:prstGeom prst="rect">
            <a:avLst/>
          </a:prstGeom>
          <a:noFill/>
        </p:spPr>
        <p:txBody>
          <a:bodyPr wrap="square">
            <a:spAutoFit/>
          </a:bodyPr>
          <a:lstStyle/>
          <a:p>
            <a:pPr algn="l">
              <a:defRPr sz="1100" b="0">
                <a:solidFill>
                  <a:srgbClr val="BBBBCC"/>
                </a:solidFill>
                <a:latin typeface="Calibri"/>
              </a:defRPr>
            </a:pPr>
            <a:r>
              <a:t>▸  Xarray + xee (GEE)</a:t>
            </a:r>
          </a:p>
        </p:txBody>
      </p:sp>
      <p:sp>
        <p:nvSpPr>
          <p:cNvPr id="18" name="TextBox 17"/>
          <p:cNvSpPr txBox="1"/>
          <p:nvPr/>
        </p:nvSpPr>
        <p:spPr>
          <a:xfrm>
            <a:off x="4572000" y="2606040"/>
            <a:ext cx="3108960" cy="320040"/>
          </a:xfrm>
          <a:prstGeom prst="rect">
            <a:avLst/>
          </a:prstGeom>
          <a:noFill/>
        </p:spPr>
        <p:txBody>
          <a:bodyPr wrap="square">
            <a:spAutoFit/>
          </a:bodyPr>
          <a:lstStyle/>
          <a:p>
            <a:pPr algn="l">
              <a:defRPr sz="1100" b="0">
                <a:solidFill>
                  <a:srgbClr val="BBBBCC"/>
                </a:solidFill>
                <a:latin typeface="Calibri"/>
              </a:defRPr>
            </a:pPr>
            <a:r>
              <a:t>▸  Google Earth Engine API</a:t>
            </a:r>
          </a:p>
        </p:txBody>
      </p:sp>
      <p:sp>
        <p:nvSpPr>
          <p:cNvPr id="19" name="Rectangle 18"/>
          <p:cNvSpPr/>
          <p:nvPr/>
        </p:nvSpPr>
        <p:spPr>
          <a:xfrm>
            <a:off x="8138160" y="1371600"/>
            <a:ext cx="3520440" cy="2194560"/>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38160" y="1371600"/>
            <a:ext cx="54864" cy="219456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66760" y="1508760"/>
            <a:ext cx="3108960" cy="320040"/>
          </a:xfrm>
          <a:prstGeom prst="rect">
            <a:avLst/>
          </a:prstGeom>
          <a:noFill/>
        </p:spPr>
        <p:txBody>
          <a:bodyPr wrap="square">
            <a:spAutoFit/>
          </a:bodyPr>
          <a:lstStyle/>
          <a:p>
            <a:pPr algn="l">
              <a:defRPr sz="1500" b="1">
                <a:solidFill>
                  <a:srgbClr val="FF8C00"/>
                </a:solidFill>
                <a:latin typeface="Calibri"/>
              </a:defRPr>
            </a:pPr>
            <a:r>
              <a:t>Deep Learning</a:t>
            </a:r>
          </a:p>
        </p:txBody>
      </p:sp>
      <p:sp>
        <p:nvSpPr>
          <p:cNvPr id="22" name="TextBox 21"/>
          <p:cNvSpPr txBox="1"/>
          <p:nvPr/>
        </p:nvSpPr>
        <p:spPr>
          <a:xfrm>
            <a:off x="8366760" y="1874520"/>
            <a:ext cx="3108960" cy="320040"/>
          </a:xfrm>
          <a:prstGeom prst="rect">
            <a:avLst/>
          </a:prstGeom>
          <a:noFill/>
        </p:spPr>
        <p:txBody>
          <a:bodyPr wrap="square">
            <a:spAutoFit/>
          </a:bodyPr>
          <a:lstStyle/>
          <a:p>
            <a:pPr algn="l">
              <a:defRPr sz="1100" b="0">
                <a:solidFill>
                  <a:srgbClr val="BBBBCC"/>
                </a:solidFill>
                <a:latin typeface="Calibri"/>
              </a:defRPr>
            </a:pPr>
            <a:r>
              <a:t>▸  PyTorch 2.1+</a:t>
            </a:r>
          </a:p>
        </p:txBody>
      </p:sp>
      <p:sp>
        <p:nvSpPr>
          <p:cNvPr id="23" name="TextBox 22"/>
          <p:cNvSpPr txBox="1"/>
          <p:nvPr/>
        </p:nvSpPr>
        <p:spPr>
          <a:xfrm>
            <a:off x="8366760" y="2240280"/>
            <a:ext cx="3108960" cy="320040"/>
          </a:xfrm>
          <a:prstGeom prst="rect">
            <a:avLst/>
          </a:prstGeom>
          <a:noFill/>
        </p:spPr>
        <p:txBody>
          <a:bodyPr wrap="square">
            <a:spAutoFit/>
          </a:bodyPr>
          <a:lstStyle/>
          <a:p>
            <a:pPr algn="l">
              <a:defRPr sz="1100" b="0">
                <a:solidFill>
                  <a:srgbClr val="BBBBCC"/>
                </a:solidFill>
                <a:latin typeface="Calibri"/>
              </a:defRPr>
            </a:pPr>
            <a:r>
              <a:t>▸  PyTorch Lightning</a:t>
            </a:r>
          </a:p>
        </p:txBody>
      </p:sp>
      <p:sp>
        <p:nvSpPr>
          <p:cNvPr id="24" name="TextBox 23"/>
          <p:cNvSpPr txBox="1"/>
          <p:nvPr/>
        </p:nvSpPr>
        <p:spPr>
          <a:xfrm>
            <a:off x="8366760" y="2606040"/>
            <a:ext cx="3108960" cy="320040"/>
          </a:xfrm>
          <a:prstGeom prst="rect">
            <a:avLst/>
          </a:prstGeom>
          <a:noFill/>
        </p:spPr>
        <p:txBody>
          <a:bodyPr wrap="square">
            <a:spAutoFit/>
          </a:bodyPr>
          <a:lstStyle/>
          <a:p>
            <a:pPr algn="l">
              <a:defRPr sz="1100" b="0">
                <a:solidFill>
                  <a:srgbClr val="BBBBCC"/>
                </a:solidFill>
                <a:latin typeface="Calibri"/>
              </a:defRPr>
            </a:pPr>
            <a:r>
              <a:t>▸  open-clip (RemoteCLIP)</a:t>
            </a:r>
          </a:p>
        </p:txBody>
      </p:sp>
      <p:sp>
        <p:nvSpPr>
          <p:cNvPr id="25" name="TextBox 24"/>
          <p:cNvSpPr txBox="1"/>
          <p:nvPr/>
        </p:nvSpPr>
        <p:spPr>
          <a:xfrm>
            <a:off x="8366760" y="2971800"/>
            <a:ext cx="3108960" cy="320040"/>
          </a:xfrm>
          <a:prstGeom prst="rect">
            <a:avLst/>
          </a:prstGeom>
          <a:noFill/>
        </p:spPr>
        <p:txBody>
          <a:bodyPr wrap="square">
            <a:spAutoFit/>
          </a:bodyPr>
          <a:lstStyle/>
          <a:p>
            <a:pPr algn="l">
              <a:defRPr sz="1100" b="0">
                <a:solidFill>
                  <a:srgbClr val="BBBBCC"/>
                </a:solidFill>
                <a:latin typeface="Calibri"/>
              </a:defRPr>
            </a:pPr>
            <a:r>
              <a:t>▸  Transformers (MiniLM)</a:t>
            </a:r>
          </a:p>
        </p:txBody>
      </p:sp>
      <p:sp>
        <p:nvSpPr>
          <p:cNvPr id="26" name="Rectangle 25"/>
          <p:cNvSpPr/>
          <p:nvPr/>
        </p:nvSpPr>
        <p:spPr>
          <a:xfrm>
            <a:off x="548640" y="3840480"/>
            <a:ext cx="3520440" cy="2194560"/>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3840480"/>
            <a:ext cx="54864" cy="2194560"/>
          </a:xfrm>
          <a:prstGeom prst="rect">
            <a:avLst/>
          </a:prstGeom>
          <a:solidFill>
            <a:srgbClr val="FF3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3977640"/>
            <a:ext cx="3108960" cy="320040"/>
          </a:xfrm>
          <a:prstGeom prst="rect">
            <a:avLst/>
          </a:prstGeom>
          <a:noFill/>
        </p:spPr>
        <p:txBody>
          <a:bodyPr wrap="square">
            <a:spAutoFit/>
          </a:bodyPr>
          <a:lstStyle/>
          <a:p>
            <a:pPr algn="l">
              <a:defRPr sz="1500" b="1">
                <a:solidFill>
                  <a:srgbClr val="FF3D5A"/>
                </a:solidFill>
                <a:latin typeface="Calibri"/>
              </a:defRPr>
            </a:pPr>
            <a:r>
              <a:t>Geoestadística</a:t>
            </a:r>
          </a:p>
        </p:txBody>
      </p:sp>
      <p:sp>
        <p:nvSpPr>
          <p:cNvPr id="29" name="TextBox 28"/>
          <p:cNvSpPr txBox="1"/>
          <p:nvPr/>
        </p:nvSpPr>
        <p:spPr>
          <a:xfrm>
            <a:off x="777240" y="4343400"/>
            <a:ext cx="3108960" cy="320040"/>
          </a:xfrm>
          <a:prstGeom prst="rect">
            <a:avLst/>
          </a:prstGeom>
          <a:noFill/>
        </p:spPr>
        <p:txBody>
          <a:bodyPr wrap="square">
            <a:spAutoFit/>
          </a:bodyPr>
          <a:lstStyle/>
          <a:p>
            <a:pPr algn="l">
              <a:defRPr sz="1100" b="0">
                <a:solidFill>
                  <a:srgbClr val="BBBBCC"/>
                </a:solidFill>
                <a:latin typeface="Calibri"/>
              </a:defRPr>
            </a:pPr>
            <a:r>
              <a:t>▸  PyKrige (OK3D)</a:t>
            </a:r>
          </a:p>
        </p:txBody>
      </p:sp>
      <p:sp>
        <p:nvSpPr>
          <p:cNvPr id="30" name="TextBox 29"/>
          <p:cNvSpPr txBox="1"/>
          <p:nvPr/>
        </p:nvSpPr>
        <p:spPr>
          <a:xfrm>
            <a:off x="777240" y="4709160"/>
            <a:ext cx="3108960" cy="320040"/>
          </a:xfrm>
          <a:prstGeom prst="rect">
            <a:avLst/>
          </a:prstGeom>
          <a:noFill/>
        </p:spPr>
        <p:txBody>
          <a:bodyPr wrap="square">
            <a:spAutoFit/>
          </a:bodyPr>
          <a:lstStyle/>
          <a:p>
            <a:pPr algn="l">
              <a:defRPr sz="1100" b="0">
                <a:solidFill>
                  <a:srgbClr val="BBBBCC"/>
                </a:solidFill>
                <a:latin typeface="Calibri"/>
              </a:defRPr>
            </a:pPr>
            <a:r>
              <a:t>▸  PySAL (esda.Moran)</a:t>
            </a:r>
          </a:p>
        </p:txBody>
      </p:sp>
      <p:sp>
        <p:nvSpPr>
          <p:cNvPr id="31" name="TextBox 30"/>
          <p:cNvSpPr txBox="1"/>
          <p:nvPr/>
        </p:nvSpPr>
        <p:spPr>
          <a:xfrm>
            <a:off x="777240" y="5074920"/>
            <a:ext cx="3108960" cy="320040"/>
          </a:xfrm>
          <a:prstGeom prst="rect">
            <a:avLst/>
          </a:prstGeom>
          <a:noFill/>
        </p:spPr>
        <p:txBody>
          <a:bodyPr wrap="square">
            <a:spAutoFit/>
          </a:bodyPr>
          <a:lstStyle/>
          <a:p>
            <a:pPr algn="l">
              <a:defRPr sz="1100" b="0">
                <a:solidFill>
                  <a:srgbClr val="BBBBCC"/>
                </a:solidFill>
                <a:latin typeface="Calibri"/>
              </a:defRPr>
            </a:pPr>
            <a:r>
              <a:t>▸  GeoPandas</a:t>
            </a:r>
          </a:p>
        </p:txBody>
      </p:sp>
      <p:sp>
        <p:nvSpPr>
          <p:cNvPr id="32" name="TextBox 31"/>
          <p:cNvSpPr txBox="1"/>
          <p:nvPr/>
        </p:nvSpPr>
        <p:spPr>
          <a:xfrm>
            <a:off x="777240" y="5440680"/>
            <a:ext cx="3108960" cy="320040"/>
          </a:xfrm>
          <a:prstGeom prst="rect">
            <a:avLst/>
          </a:prstGeom>
          <a:noFill/>
        </p:spPr>
        <p:txBody>
          <a:bodyPr wrap="square">
            <a:spAutoFit/>
          </a:bodyPr>
          <a:lstStyle/>
          <a:p>
            <a:pPr algn="l">
              <a:defRPr sz="1100" b="0">
                <a:solidFill>
                  <a:srgbClr val="BBBBCC"/>
                </a:solidFill>
                <a:latin typeface="Calibri"/>
              </a:defRPr>
            </a:pPr>
            <a:r>
              <a:t>▸  scikit-learn</a:t>
            </a:r>
          </a:p>
        </p:txBody>
      </p:sp>
      <p:sp>
        <p:nvSpPr>
          <p:cNvPr id="33" name="Rectangle 32"/>
          <p:cNvSpPr/>
          <p:nvPr/>
        </p:nvSpPr>
        <p:spPr>
          <a:xfrm>
            <a:off x="4343400" y="3840480"/>
            <a:ext cx="3520440" cy="2194560"/>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343400" y="3840480"/>
            <a:ext cx="54864" cy="2194560"/>
          </a:xfrm>
          <a:prstGeom prst="rect">
            <a:avLst/>
          </a:prstGeom>
          <a:solidFill>
            <a:srgbClr val="009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0" y="3977640"/>
            <a:ext cx="3108960" cy="320040"/>
          </a:xfrm>
          <a:prstGeom prst="rect">
            <a:avLst/>
          </a:prstGeom>
          <a:noFill/>
        </p:spPr>
        <p:txBody>
          <a:bodyPr wrap="square">
            <a:spAutoFit/>
          </a:bodyPr>
          <a:lstStyle/>
          <a:p>
            <a:pPr algn="l">
              <a:defRPr sz="1500" b="1">
                <a:solidFill>
                  <a:srgbClr val="009DFF"/>
                </a:solidFill>
                <a:latin typeface="Calibri"/>
              </a:defRPr>
            </a:pPr>
            <a:r>
              <a:t>Backend / API</a:t>
            </a:r>
          </a:p>
        </p:txBody>
      </p:sp>
      <p:sp>
        <p:nvSpPr>
          <p:cNvPr id="36" name="TextBox 35"/>
          <p:cNvSpPr txBox="1"/>
          <p:nvPr/>
        </p:nvSpPr>
        <p:spPr>
          <a:xfrm>
            <a:off x="4572000" y="4343400"/>
            <a:ext cx="3108960" cy="320040"/>
          </a:xfrm>
          <a:prstGeom prst="rect">
            <a:avLst/>
          </a:prstGeom>
          <a:noFill/>
        </p:spPr>
        <p:txBody>
          <a:bodyPr wrap="square">
            <a:spAutoFit/>
          </a:bodyPr>
          <a:lstStyle/>
          <a:p>
            <a:pPr algn="l">
              <a:defRPr sz="1100" b="0">
                <a:solidFill>
                  <a:srgbClr val="BBBBCC"/>
                </a:solidFill>
                <a:latin typeface="Calibri"/>
              </a:defRPr>
            </a:pPr>
            <a:r>
              <a:t>▸  FastAPI + Uvicorn</a:t>
            </a:r>
          </a:p>
        </p:txBody>
      </p:sp>
      <p:sp>
        <p:nvSpPr>
          <p:cNvPr id="37" name="TextBox 36"/>
          <p:cNvSpPr txBox="1"/>
          <p:nvPr/>
        </p:nvSpPr>
        <p:spPr>
          <a:xfrm>
            <a:off x="4572000" y="4709160"/>
            <a:ext cx="3108960" cy="320040"/>
          </a:xfrm>
          <a:prstGeom prst="rect">
            <a:avLst/>
          </a:prstGeom>
          <a:noFill/>
        </p:spPr>
        <p:txBody>
          <a:bodyPr wrap="square">
            <a:spAutoFit/>
          </a:bodyPr>
          <a:lstStyle/>
          <a:p>
            <a:pPr algn="l">
              <a:defRPr sz="1100" b="0">
                <a:solidFill>
                  <a:srgbClr val="BBBBCC"/>
                </a:solidFill>
                <a:latin typeface="Calibri"/>
              </a:defRPr>
            </a:pPr>
            <a:r>
              <a:t>▸  Python 3.10</a:t>
            </a:r>
          </a:p>
        </p:txBody>
      </p:sp>
      <p:sp>
        <p:nvSpPr>
          <p:cNvPr id="38" name="TextBox 37"/>
          <p:cNvSpPr txBox="1"/>
          <p:nvPr/>
        </p:nvSpPr>
        <p:spPr>
          <a:xfrm>
            <a:off x="4572000" y="5074920"/>
            <a:ext cx="3108960" cy="320040"/>
          </a:xfrm>
          <a:prstGeom prst="rect">
            <a:avLst/>
          </a:prstGeom>
          <a:noFill/>
        </p:spPr>
        <p:txBody>
          <a:bodyPr wrap="square">
            <a:spAutoFit/>
          </a:bodyPr>
          <a:lstStyle/>
          <a:p>
            <a:pPr algn="l">
              <a:defRPr sz="1100" b="0">
                <a:solidFill>
                  <a:srgbClr val="BBBBCC"/>
                </a:solidFill>
                <a:latin typeface="Calibri"/>
              </a:defRPr>
            </a:pPr>
            <a:r>
              <a:t>▸  Docker multi-stage</a:t>
            </a:r>
          </a:p>
        </p:txBody>
      </p:sp>
      <p:sp>
        <p:nvSpPr>
          <p:cNvPr id="39" name="Rectangle 38"/>
          <p:cNvSpPr/>
          <p:nvPr/>
        </p:nvSpPr>
        <p:spPr>
          <a:xfrm>
            <a:off x="8138160" y="3840480"/>
            <a:ext cx="3520440" cy="2194560"/>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138160" y="3840480"/>
            <a:ext cx="54864" cy="2194560"/>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66760" y="3977640"/>
            <a:ext cx="3108960" cy="320040"/>
          </a:xfrm>
          <a:prstGeom prst="rect">
            <a:avLst/>
          </a:prstGeom>
          <a:noFill/>
        </p:spPr>
        <p:txBody>
          <a:bodyPr wrap="square">
            <a:spAutoFit/>
          </a:bodyPr>
          <a:lstStyle/>
          <a:p>
            <a:pPr algn="l">
              <a:defRPr sz="1500" b="1">
                <a:solidFill>
                  <a:srgbClr val="00E676"/>
                </a:solidFill>
                <a:latin typeface="Calibri"/>
              </a:defRPr>
            </a:pPr>
            <a:r>
              <a:t>Frontend</a:t>
            </a:r>
          </a:p>
        </p:txBody>
      </p:sp>
      <p:sp>
        <p:nvSpPr>
          <p:cNvPr id="42" name="TextBox 41"/>
          <p:cNvSpPr txBox="1"/>
          <p:nvPr/>
        </p:nvSpPr>
        <p:spPr>
          <a:xfrm>
            <a:off x="8366760" y="4343400"/>
            <a:ext cx="3108960" cy="320040"/>
          </a:xfrm>
          <a:prstGeom prst="rect">
            <a:avLst/>
          </a:prstGeom>
          <a:noFill/>
        </p:spPr>
        <p:txBody>
          <a:bodyPr wrap="square">
            <a:spAutoFit/>
          </a:bodyPr>
          <a:lstStyle/>
          <a:p>
            <a:pPr algn="l">
              <a:defRPr sz="1100" b="0">
                <a:solidFill>
                  <a:srgbClr val="BBBBCC"/>
                </a:solidFill>
                <a:latin typeface="Calibri"/>
              </a:defRPr>
            </a:pPr>
            <a:r>
              <a:t>▸  Next.js 16 + React 19</a:t>
            </a:r>
          </a:p>
        </p:txBody>
      </p:sp>
      <p:sp>
        <p:nvSpPr>
          <p:cNvPr id="43" name="TextBox 42"/>
          <p:cNvSpPr txBox="1"/>
          <p:nvPr/>
        </p:nvSpPr>
        <p:spPr>
          <a:xfrm>
            <a:off x="8366760" y="4709160"/>
            <a:ext cx="3108960" cy="320040"/>
          </a:xfrm>
          <a:prstGeom prst="rect">
            <a:avLst/>
          </a:prstGeom>
          <a:noFill/>
        </p:spPr>
        <p:txBody>
          <a:bodyPr wrap="square">
            <a:spAutoFit/>
          </a:bodyPr>
          <a:lstStyle/>
          <a:p>
            <a:pPr algn="l">
              <a:defRPr sz="1100" b="0">
                <a:solidFill>
                  <a:srgbClr val="BBBBCC"/>
                </a:solidFill>
                <a:latin typeface="Calibri"/>
              </a:defRPr>
            </a:pPr>
            <a:r>
              <a:t>▸  Leaflet / React-Leaflet</a:t>
            </a:r>
          </a:p>
        </p:txBody>
      </p:sp>
      <p:sp>
        <p:nvSpPr>
          <p:cNvPr id="44" name="TextBox 43"/>
          <p:cNvSpPr txBox="1"/>
          <p:nvPr/>
        </p:nvSpPr>
        <p:spPr>
          <a:xfrm>
            <a:off x="8366760" y="5074920"/>
            <a:ext cx="3108960" cy="320040"/>
          </a:xfrm>
          <a:prstGeom prst="rect">
            <a:avLst/>
          </a:prstGeom>
          <a:noFill/>
        </p:spPr>
        <p:txBody>
          <a:bodyPr wrap="square">
            <a:spAutoFit/>
          </a:bodyPr>
          <a:lstStyle/>
          <a:p>
            <a:pPr algn="l">
              <a:defRPr sz="1100" b="0">
                <a:solidFill>
                  <a:srgbClr val="BBBBCC"/>
                </a:solidFill>
                <a:latin typeface="Calibri"/>
              </a:defRPr>
            </a:pPr>
            <a:r>
              <a:t>▸  TypeScript + Tailwind</a:t>
            </a:r>
          </a:p>
        </p:txBody>
      </p:sp>
      <p:sp>
        <p:nvSpPr>
          <p:cNvPr id="45" name="TextBox 44"/>
          <p:cNvSpPr txBox="1"/>
          <p:nvPr/>
        </p:nvSpPr>
        <p:spPr>
          <a:xfrm>
            <a:off x="8366760" y="5440680"/>
            <a:ext cx="3108960" cy="320040"/>
          </a:xfrm>
          <a:prstGeom prst="rect">
            <a:avLst/>
          </a:prstGeom>
          <a:noFill/>
        </p:spPr>
        <p:txBody>
          <a:bodyPr wrap="square">
            <a:spAutoFit/>
          </a:bodyPr>
          <a:lstStyle/>
          <a:p>
            <a:pPr algn="l">
              <a:defRPr sz="1100" b="0">
                <a:solidFill>
                  <a:srgbClr val="BBBBCC"/>
                </a:solidFill>
                <a:latin typeface="Calibri"/>
              </a:defRPr>
            </a:pPr>
            <a:r>
              <a:t>▸  Zustand + React Query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9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548640" cy="457200"/>
          </a:xfrm>
          <a:prstGeom prst="rect">
            <a:avLst/>
          </a:prstGeom>
          <a:noFill/>
        </p:spPr>
        <p:txBody>
          <a:bodyPr wrap="square">
            <a:spAutoFit/>
          </a:bodyPr>
          <a:lstStyle/>
          <a:p>
            <a:pPr algn="l">
              <a:defRPr sz="2800" b="1">
                <a:solidFill>
                  <a:srgbClr val="009DFF"/>
                </a:solidFill>
                <a:latin typeface="Calibri"/>
              </a:defRPr>
            </a:pPr>
            <a:r>
              <a:t>04</a:t>
            </a:r>
          </a:p>
        </p:txBody>
      </p:sp>
      <p:sp>
        <p:nvSpPr>
          <p:cNvPr id="4" name="TextBox 3"/>
          <p:cNvSpPr txBox="1"/>
          <p:nvPr/>
        </p:nvSpPr>
        <p:spPr>
          <a:xfrm>
            <a:off x="1188720" y="274320"/>
            <a:ext cx="9144000" cy="457200"/>
          </a:xfrm>
          <a:prstGeom prst="rect">
            <a:avLst/>
          </a:prstGeom>
          <a:noFill/>
        </p:spPr>
        <p:txBody>
          <a:bodyPr wrap="square">
            <a:spAutoFit/>
          </a:bodyPr>
          <a:lstStyle/>
          <a:p>
            <a:pPr algn="l">
              <a:defRPr sz="2800" b="1">
                <a:solidFill>
                  <a:srgbClr val="FFFFFF"/>
                </a:solidFill>
                <a:latin typeface="Calibri"/>
              </a:defRPr>
            </a:pPr>
            <a:r>
              <a:t>Panel Espacio-Temporal</a:t>
            </a:r>
          </a:p>
        </p:txBody>
      </p:sp>
      <p:sp>
        <p:nvSpPr>
          <p:cNvPr id="5" name="TextBox 4"/>
          <p:cNvSpPr txBox="1"/>
          <p:nvPr/>
        </p:nvSpPr>
        <p:spPr>
          <a:xfrm>
            <a:off x="1188720" y="685800"/>
            <a:ext cx="9144000" cy="365760"/>
          </a:xfrm>
          <a:prstGeom prst="rect">
            <a:avLst/>
          </a:prstGeom>
          <a:noFill/>
        </p:spPr>
        <p:txBody>
          <a:bodyPr wrap="square">
            <a:spAutoFit/>
          </a:bodyPr>
          <a:lstStyle/>
          <a:p>
            <a:pPr algn="l">
              <a:defRPr sz="1400" b="0">
                <a:solidFill>
                  <a:srgbClr val="666688"/>
                </a:solidFill>
                <a:latin typeface="Calibri"/>
              </a:defRPr>
            </a:pPr>
            <a:r>
              <a:t>Situación 1 · Logros clave</a:t>
            </a:r>
          </a:p>
        </p:txBody>
      </p:sp>
      <p:sp>
        <p:nvSpPr>
          <p:cNvPr id="6" name="Rectangle 5"/>
          <p:cNvSpPr/>
          <p:nvPr/>
        </p:nvSpPr>
        <p:spPr>
          <a:xfrm>
            <a:off x="548640" y="1051560"/>
            <a:ext cx="11064240" cy="9144"/>
          </a:xfrm>
          <a:prstGeom prst="rect">
            <a:avLst/>
          </a:prstGeom>
          <a:solidFill>
            <a:srgbClr val="2233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371600"/>
            <a:ext cx="2606040" cy="1005840"/>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371600"/>
            <a:ext cx="2606040" cy="36576"/>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508760"/>
            <a:ext cx="2331720" cy="457200"/>
          </a:xfrm>
          <a:prstGeom prst="rect">
            <a:avLst/>
          </a:prstGeom>
          <a:noFill/>
        </p:spPr>
        <p:txBody>
          <a:bodyPr wrap="square">
            <a:spAutoFit/>
          </a:bodyPr>
          <a:lstStyle/>
          <a:p>
            <a:pPr algn="ctr">
              <a:defRPr sz="2400" b="1">
                <a:solidFill>
                  <a:srgbClr val="00E676"/>
                </a:solidFill>
                <a:latin typeface="Calibri"/>
              </a:defRPr>
            </a:pPr>
            <a:r>
              <a:t>66.78 GB</a:t>
            </a:r>
          </a:p>
        </p:txBody>
      </p:sp>
      <p:sp>
        <p:nvSpPr>
          <p:cNvPr id="10" name="TextBox 9"/>
          <p:cNvSpPr txBox="1"/>
          <p:nvPr/>
        </p:nvSpPr>
        <p:spPr>
          <a:xfrm>
            <a:off x="685800" y="1920240"/>
            <a:ext cx="2331720" cy="457200"/>
          </a:xfrm>
          <a:prstGeom prst="rect">
            <a:avLst/>
          </a:prstGeom>
          <a:noFill/>
        </p:spPr>
        <p:txBody>
          <a:bodyPr wrap="square">
            <a:spAutoFit/>
          </a:bodyPr>
          <a:lstStyle/>
          <a:p>
            <a:pPr algn="ctr">
              <a:defRPr sz="1100" b="0">
                <a:solidFill>
                  <a:srgbClr val="BBBBCC"/>
                </a:solidFill>
                <a:latin typeface="Calibri"/>
              </a:defRPr>
            </a:pPr>
            <a:r>
              <a:t>Tamaño total del panel</a:t>
            </a:r>
          </a:p>
        </p:txBody>
      </p:sp>
      <p:sp>
        <p:nvSpPr>
          <p:cNvPr id="11" name="Rectangle 10"/>
          <p:cNvSpPr/>
          <p:nvPr/>
        </p:nvSpPr>
        <p:spPr>
          <a:xfrm>
            <a:off x="3383280" y="1371600"/>
            <a:ext cx="2606040" cy="1005840"/>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83280" y="1371600"/>
            <a:ext cx="2606040" cy="36576"/>
          </a:xfrm>
          <a:prstGeom prst="rect">
            <a:avLst/>
          </a:prstGeom>
          <a:solidFill>
            <a:srgbClr val="009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20440" y="1508760"/>
            <a:ext cx="2331720" cy="457200"/>
          </a:xfrm>
          <a:prstGeom prst="rect">
            <a:avLst/>
          </a:prstGeom>
          <a:noFill/>
        </p:spPr>
        <p:txBody>
          <a:bodyPr wrap="square">
            <a:spAutoFit/>
          </a:bodyPr>
          <a:lstStyle/>
          <a:p>
            <a:pPr algn="ctr">
              <a:defRPr sz="2400" b="1">
                <a:solidFill>
                  <a:srgbClr val="009DFF"/>
                </a:solidFill>
                <a:latin typeface="Calibri"/>
              </a:defRPr>
            </a:pPr>
            <a:r>
              <a:t>283,437</a:t>
            </a:r>
          </a:p>
        </p:txBody>
      </p:sp>
      <p:sp>
        <p:nvSpPr>
          <p:cNvPr id="14" name="TextBox 13"/>
          <p:cNvSpPr txBox="1"/>
          <p:nvPr/>
        </p:nvSpPr>
        <p:spPr>
          <a:xfrm>
            <a:off x="3520440" y="1920240"/>
            <a:ext cx="2331720" cy="457200"/>
          </a:xfrm>
          <a:prstGeom prst="rect">
            <a:avLst/>
          </a:prstGeom>
          <a:noFill/>
        </p:spPr>
        <p:txBody>
          <a:bodyPr wrap="square">
            <a:spAutoFit/>
          </a:bodyPr>
          <a:lstStyle/>
          <a:p>
            <a:pPr algn="ctr">
              <a:defRPr sz="1100" b="0">
                <a:solidFill>
                  <a:srgbClr val="BBBBCC"/>
                </a:solidFill>
                <a:latin typeface="Calibri"/>
              </a:defRPr>
            </a:pPr>
            <a:r>
              <a:t>Archivos en GCS</a:t>
            </a:r>
          </a:p>
        </p:txBody>
      </p:sp>
      <p:sp>
        <p:nvSpPr>
          <p:cNvPr id="15" name="Rectangle 14"/>
          <p:cNvSpPr/>
          <p:nvPr/>
        </p:nvSpPr>
        <p:spPr>
          <a:xfrm>
            <a:off x="6217920" y="1371600"/>
            <a:ext cx="2606040" cy="1005840"/>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1371600"/>
            <a:ext cx="2606040" cy="36576"/>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1508760"/>
            <a:ext cx="2331720" cy="457200"/>
          </a:xfrm>
          <a:prstGeom prst="rect">
            <a:avLst/>
          </a:prstGeom>
          <a:noFill/>
        </p:spPr>
        <p:txBody>
          <a:bodyPr wrap="square">
            <a:spAutoFit/>
          </a:bodyPr>
          <a:lstStyle/>
          <a:p>
            <a:pPr algn="ctr">
              <a:defRPr sz="2400" b="1">
                <a:solidFill>
                  <a:srgbClr val="FF8C00"/>
                </a:solidFill>
                <a:latin typeface="Calibri"/>
              </a:defRPr>
            </a:pPr>
            <a:r>
              <a:t>7 fuentes</a:t>
            </a:r>
          </a:p>
        </p:txBody>
      </p:sp>
      <p:sp>
        <p:nvSpPr>
          <p:cNvPr id="18" name="TextBox 17"/>
          <p:cNvSpPr txBox="1"/>
          <p:nvPr/>
        </p:nvSpPr>
        <p:spPr>
          <a:xfrm>
            <a:off x="6355080" y="1920240"/>
            <a:ext cx="2331720" cy="457200"/>
          </a:xfrm>
          <a:prstGeom prst="rect">
            <a:avLst/>
          </a:prstGeom>
          <a:noFill/>
        </p:spPr>
        <p:txBody>
          <a:bodyPr wrap="square">
            <a:spAutoFit/>
          </a:bodyPr>
          <a:lstStyle/>
          <a:p>
            <a:pPr algn="ctr">
              <a:defRPr sz="1100" b="0">
                <a:solidFill>
                  <a:srgbClr val="BBBBCC"/>
                </a:solidFill>
                <a:latin typeface="Calibri"/>
              </a:defRPr>
            </a:pPr>
            <a:r>
              <a:t>Satelitales + meteorología + ground truth</a:t>
            </a:r>
          </a:p>
        </p:txBody>
      </p:sp>
      <p:sp>
        <p:nvSpPr>
          <p:cNvPr id="19" name="Rectangle 18"/>
          <p:cNvSpPr/>
          <p:nvPr/>
        </p:nvSpPr>
        <p:spPr>
          <a:xfrm>
            <a:off x="9052560" y="1371600"/>
            <a:ext cx="2606040" cy="1005840"/>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52560" y="1371600"/>
            <a:ext cx="2606040" cy="36576"/>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89720" y="1508760"/>
            <a:ext cx="2331720" cy="457200"/>
          </a:xfrm>
          <a:prstGeom prst="rect">
            <a:avLst/>
          </a:prstGeom>
          <a:noFill/>
        </p:spPr>
        <p:txBody>
          <a:bodyPr wrap="square">
            <a:spAutoFit/>
          </a:bodyPr>
          <a:lstStyle/>
          <a:p>
            <a:pPr algn="ctr">
              <a:defRPr sz="2400" b="1">
                <a:solidFill>
                  <a:srgbClr val="00E676"/>
                </a:solidFill>
                <a:latin typeface="Calibri"/>
              </a:defRPr>
            </a:pPr>
            <a:r>
              <a:t>133.5%</a:t>
            </a:r>
          </a:p>
        </p:txBody>
      </p:sp>
      <p:sp>
        <p:nvSpPr>
          <p:cNvPr id="22" name="TextBox 21"/>
          <p:cNvSpPr txBox="1"/>
          <p:nvPr/>
        </p:nvSpPr>
        <p:spPr>
          <a:xfrm>
            <a:off x="9189720" y="1920240"/>
            <a:ext cx="2331720" cy="457200"/>
          </a:xfrm>
          <a:prstGeom prst="rect">
            <a:avLst/>
          </a:prstGeom>
          <a:noFill/>
        </p:spPr>
        <p:txBody>
          <a:bodyPr wrap="square">
            <a:spAutoFit/>
          </a:bodyPr>
          <a:lstStyle/>
          <a:p>
            <a:pPr algn="ctr">
              <a:defRPr sz="1100" b="0">
                <a:solidFill>
                  <a:srgbClr val="BBBBCC"/>
                </a:solidFill>
                <a:latin typeface="Calibri"/>
              </a:defRPr>
            </a:pPr>
            <a:r>
              <a:t>Umbral 50 GB superado</a:t>
            </a:r>
          </a:p>
        </p:txBody>
      </p:sp>
      <p:sp>
        <p:nvSpPr>
          <p:cNvPr id="23" name="TextBox 22"/>
          <p:cNvSpPr txBox="1"/>
          <p:nvPr/>
        </p:nvSpPr>
        <p:spPr>
          <a:xfrm>
            <a:off x="731520" y="2651760"/>
            <a:ext cx="4572000" cy="365760"/>
          </a:xfrm>
          <a:prstGeom prst="rect">
            <a:avLst/>
          </a:prstGeom>
          <a:noFill/>
        </p:spPr>
        <p:txBody>
          <a:bodyPr wrap="square">
            <a:spAutoFit/>
          </a:bodyPr>
          <a:lstStyle/>
          <a:p>
            <a:pPr algn="l">
              <a:defRPr sz="1600" b="1">
                <a:solidFill>
                  <a:srgbClr val="009DFF"/>
                </a:solidFill>
                <a:latin typeface="Calibri"/>
              </a:defRPr>
            </a:pPr>
            <a:r>
              <a:t>Desglose por fuente</a:t>
            </a:r>
          </a:p>
        </p:txBody>
      </p:sp>
      <p:sp>
        <p:nvSpPr>
          <p:cNvPr id="24" name="Rectangle 23"/>
          <p:cNvSpPr/>
          <p:nvPr/>
        </p:nvSpPr>
        <p:spPr>
          <a:xfrm>
            <a:off x="731520" y="3017520"/>
            <a:ext cx="2560320" cy="320040"/>
          </a:xfrm>
          <a:prstGeom prst="rect">
            <a:avLst/>
          </a:prstGeom>
          <a:solidFill>
            <a:srgbClr val="006D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3017520"/>
            <a:ext cx="2560320" cy="320040"/>
          </a:xfrm>
          <a:prstGeom prst="rect">
            <a:avLst/>
          </a:prstGeom>
          <a:noFill/>
        </p:spPr>
        <p:txBody>
          <a:bodyPr wrap="square">
            <a:spAutoFit/>
          </a:bodyPr>
          <a:lstStyle/>
          <a:p>
            <a:pPr algn="ctr">
              <a:defRPr sz="1100" b="1">
                <a:solidFill>
                  <a:srgbClr val="FFFFFF"/>
                </a:solidFill>
                <a:latin typeface="Calibri"/>
              </a:defRPr>
            </a:pPr>
            <a:r>
              <a:t>Fuente</a:t>
            </a:r>
          </a:p>
        </p:txBody>
      </p:sp>
      <p:sp>
        <p:nvSpPr>
          <p:cNvPr id="26" name="Rectangle 25"/>
          <p:cNvSpPr/>
          <p:nvPr/>
        </p:nvSpPr>
        <p:spPr>
          <a:xfrm>
            <a:off x="3291840" y="3017520"/>
            <a:ext cx="1645920" cy="320040"/>
          </a:xfrm>
          <a:prstGeom prst="rect">
            <a:avLst/>
          </a:prstGeom>
          <a:solidFill>
            <a:srgbClr val="006D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91840" y="3017520"/>
            <a:ext cx="1645920" cy="320040"/>
          </a:xfrm>
          <a:prstGeom prst="rect">
            <a:avLst/>
          </a:prstGeom>
          <a:noFill/>
        </p:spPr>
        <p:txBody>
          <a:bodyPr wrap="square">
            <a:spAutoFit/>
          </a:bodyPr>
          <a:lstStyle/>
          <a:p>
            <a:pPr algn="ctr">
              <a:defRPr sz="1100" b="1">
                <a:solidFill>
                  <a:srgbClr val="FFFFFF"/>
                </a:solidFill>
                <a:latin typeface="Calibri"/>
              </a:defRPr>
            </a:pPr>
            <a:r>
              <a:t>Archivos</a:t>
            </a:r>
          </a:p>
        </p:txBody>
      </p:sp>
      <p:sp>
        <p:nvSpPr>
          <p:cNvPr id="28" name="Rectangle 27"/>
          <p:cNvSpPr/>
          <p:nvPr/>
        </p:nvSpPr>
        <p:spPr>
          <a:xfrm>
            <a:off x="4937760" y="3017520"/>
            <a:ext cx="1645920" cy="320040"/>
          </a:xfrm>
          <a:prstGeom prst="rect">
            <a:avLst/>
          </a:prstGeom>
          <a:solidFill>
            <a:srgbClr val="006D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37760" y="3017520"/>
            <a:ext cx="1645920" cy="320040"/>
          </a:xfrm>
          <a:prstGeom prst="rect">
            <a:avLst/>
          </a:prstGeom>
          <a:noFill/>
        </p:spPr>
        <p:txBody>
          <a:bodyPr wrap="square">
            <a:spAutoFit/>
          </a:bodyPr>
          <a:lstStyle/>
          <a:p>
            <a:pPr algn="ctr">
              <a:defRPr sz="1100" b="1">
                <a:solidFill>
                  <a:srgbClr val="FFFFFF"/>
                </a:solidFill>
                <a:latin typeface="Calibri"/>
              </a:defRPr>
            </a:pPr>
            <a:r>
              <a:t>Tamaño</a:t>
            </a:r>
          </a:p>
        </p:txBody>
      </p:sp>
      <p:sp>
        <p:nvSpPr>
          <p:cNvPr id="30" name="Rectangle 29"/>
          <p:cNvSpPr/>
          <p:nvPr/>
        </p:nvSpPr>
        <p:spPr>
          <a:xfrm>
            <a:off x="6583680" y="3017520"/>
            <a:ext cx="1097280" cy="320040"/>
          </a:xfrm>
          <a:prstGeom prst="rect">
            <a:avLst/>
          </a:prstGeom>
          <a:solidFill>
            <a:srgbClr val="006D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0" y="3017520"/>
            <a:ext cx="1097280" cy="320040"/>
          </a:xfrm>
          <a:prstGeom prst="rect">
            <a:avLst/>
          </a:prstGeom>
          <a:noFill/>
        </p:spPr>
        <p:txBody>
          <a:bodyPr wrap="square">
            <a:spAutoFit/>
          </a:bodyPr>
          <a:lstStyle/>
          <a:p>
            <a:pPr algn="ctr">
              <a:defRPr sz="1100" b="1">
                <a:solidFill>
                  <a:srgbClr val="FFFFFF"/>
                </a:solidFill>
                <a:latin typeface="Calibri"/>
              </a:defRPr>
            </a:pPr>
            <a:r>
              <a:t>%</a:t>
            </a:r>
          </a:p>
        </p:txBody>
      </p:sp>
      <p:sp>
        <p:nvSpPr>
          <p:cNvPr id="32" name="Rectangle 31"/>
          <p:cNvSpPr/>
          <p:nvPr/>
        </p:nvSpPr>
        <p:spPr>
          <a:xfrm>
            <a:off x="731520" y="3337560"/>
            <a:ext cx="2560320" cy="274320"/>
          </a:xfrm>
          <a:prstGeom prst="rect">
            <a:avLst/>
          </a:prstGeom>
          <a:solidFill>
            <a:srgbClr val="18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3337560"/>
            <a:ext cx="2560320" cy="274320"/>
          </a:xfrm>
          <a:prstGeom prst="rect">
            <a:avLst/>
          </a:prstGeom>
          <a:noFill/>
        </p:spPr>
        <p:txBody>
          <a:bodyPr wrap="square">
            <a:spAutoFit/>
          </a:bodyPr>
          <a:lstStyle/>
          <a:p>
            <a:pPr algn="ctr">
              <a:defRPr sz="1000" b="0">
                <a:solidFill>
                  <a:srgbClr val="BBBBCC"/>
                </a:solidFill>
                <a:latin typeface="Calibri"/>
              </a:defRPr>
            </a:pPr>
            <a:r>
              <a:t>Sentinel-2 SR</a:t>
            </a:r>
          </a:p>
        </p:txBody>
      </p:sp>
      <p:sp>
        <p:nvSpPr>
          <p:cNvPr id="34" name="Rectangle 33"/>
          <p:cNvSpPr/>
          <p:nvPr/>
        </p:nvSpPr>
        <p:spPr>
          <a:xfrm>
            <a:off x="3291840" y="3337560"/>
            <a:ext cx="1645920" cy="274320"/>
          </a:xfrm>
          <a:prstGeom prst="rect">
            <a:avLst/>
          </a:prstGeom>
          <a:solidFill>
            <a:srgbClr val="18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91840" y="3337560"/>
            <a:ext cx="1645920" cy="274320"/>
          </a:xfrm>
          <a:prstGeom prst="rect">
            <a:avLst/>
          </a:prstGeom>
          <a:noFill/>
        </p:spPr>
        <p:txBody>
          <a:bodyPr wrap="square">
            <a:spAutoFit/>
          </a:bodyPr>
          <a:lstStyle/>
          <a:p>
            <a:pPr algn="ctr">
              <a:defRPr sz="1000" b="0">
                <a:solidFill>
                  <a:srgbClr val="BBBBCC"/>
                </a:solidFill>
                <a:latin typeface="Calibri"/>
              </a:defRPr>
            </a:pPr>
            <a:r>
              <a:t>19,121</a:t>
            </a:r>
          </a:p>
        </p:txBody>
      </p:sp>
      <p:sp>
        <p:nvSpPr>
          <p:cNvPr id="36" name="Rectangle 35"/>
          <p:cNvSpPr/>
          <p:nvPr/>
        </p:nvSpPr>
        <p:spPr>
          <a:xfrm>
            <a:off x="4937760" y="3337560"/>
            <a:ext cx="1645920" cy="274320"/>
          </a:xfrm>
          <a:prstGeom prst="rect">
            <a:avLst/>
          </a:prstGeom>
          <a:solidFill>
            <a:srgbClr val="18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937760" y="3337560"/>
            <a:ext cx="1645920" cy="274320"/>
          </a:xfrm>
          <a:prstGeom prst="rect">
            <a:avLst/>
          </a:prstGeom>
          <a:noFill/>
        </p:spPr>
        <p:txBody>
          <a:bodyPr wrap="square">
            <a:spAutoFit/>
          </a:bodyPr>
          <a:lstStyle/>
          <a:p>
            <a:pPr algn="ctr">
              <a:defRPr sz="1000" b="0">
                <a:solidFill>
                  <a:srgbClr val="BBBBCC"/>
                </a:solidFill>
                <a:latin typeface="Calibri"/>
              </a:defRPr>
            </a:pPr>
            <a:r>
              <a:t>66.41 GB</a:t>
            </a:r>
          </a:p>
        </p:txBody>
      </p:sp>
      <p:sp>
        <p:nvSpPr>
          <p:cNvPr id="38" name="Rectangle 37"/>
          <p:cNvSpPr/>
          <p:nvPr/>
        </p:nvSpPr>
        <p:spPr>
          <a:xfrm>
            <a:off x="6583680" y="3337560"/>
            <a:ext cx="1097280" cy="274320"/>
          </a:xfrm>
          <a:prstGeom prst="rect">
            <a:avLst/>
          </a:prstGeom>
          <a:solidFill>
            <a:srgbClr val="18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83680" y="3337560"/>
            <a:ext cx="1097280" cy="274320"/>
          </a:xfrm>
          <a:prstGeom prst="rect">
            <a:avLst/>
          </a:prstGeom>
          <a:noFill/>
        </p:spPr>
        <p:txBody>
          <a:bodyPr wrap="square">
            <a:spAutoFit/>
          </a:bodyPr>
          <a:lstStyle/>
          <a:p>
            <a:pPr algn="ctr">
              <a:defRPr sz="1000" b="0">
                <a:solidFill>
                  <a:srgbClr val="BBBBCC"/>
                </a:solidFill>
                <a:latin typeface="Calibri"/>
              </a:defRPr>
            </a:pPr>
            <a:r>
              <a:t>99.45%</a:t>
            </a:r>
          </a:p>
        </p:txBody>
      </p:sp>
      <p:sp>
        <p:nvSpPr>
          <p:cNvPr id="40" name="Rectangle 39"/>
          <p:cNvSpPr/>
          <p:nvPr/>
        </p:nvSpPr>
        <p:spPr>
          <a:xfrm>
            <a:off x="731520" y="3611880"/>
            <a:ext cx="2560320" cy="274320"/>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3611880"/>
            <a:ext cx="2560320" cy="274320"/>
          </a:xfrm>
          <a:prstGeom prst="rect">
            <a:avLst/>
          </a:prstGeom>
          <a:noFill/>
        </p:spPr>
        <p:txBody>
          <a:bodyPr wrap="square">
            <a:spAutoFit/>
          </a:bodyPr>
          <a:lstStyle/>
          <a:p>
            <a:pPr algn="ctr">
              <a:defRPr sz="1000" b="0">
                <a:solidFill>
                  <a:srgbClr val="BBBBCC"/>
                </a:solidFill>
                <a:latin typeface="Calibri"/>
              </a:defRPr>
            </a:pPr>
            <a:r>
              <a:t>S5P NO₂</a:t>
            </a:r>
          </a:p>
        </p:txBody>
      </p:sp>
      <p:sp>
        <p:nvSpPr>
          <p:cNvPr id="42" name="Rectangle 41"/>
          <p:cNvSpPr/>
          <p:nvPr/>
        </p:nvSpPr>
        <p:spPr>
          <a:xfrm>
            <a:off x="3291840" y="3611880"/>
            <a:ext cx="1645920" cy="274320"/>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291840" y="3611880"/>
            <a:ext cx="1645920" cy="274320"/>
          </a:xfrm>
          <a:prstGeom prst="rect">
            <a:avLst/>
          </a:prstGeom>
          <a:noFill/>
        </p:spPr>
        <p:txBody>
          <a:bodyPr wrap="square">
            <a:spAutoFit/>
          </a:bodyPr>
          <a:lstStyle/>
          <a:p>
            <a:pPr algn="ctr">
              <a:defRPr sz="1000" b="0">
                <a:solidFill>
                  <a:srgbClr val="BBBBCC"/>
                </a:solidFill>
                <a:latin typeface="Calibri"/>
              </a:defRPr>
            </a:pPr>
            <a:r>
              <a:t>28,303</a:t>
            </a:r>
          </a:p>
        </p:txBody>
      </p:sp>
      <p:sp>
        <p:nvSpPr>
          <p:cNvPr id="44" name="Rectangle 43"/>
          <p:cNvSpPr/>
          <p:nvPr/>
        </p:nvSpPr>
        <p:spPr>
          <a:xfrm>
            <a:off x="4937760" y="3611880"/>
            <a:ext cx="1645920" cy="274320"/>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937760" y="3611880"/>
            <a:ext cx="1645920" cy="274320"/>
          </a:xfrm>
          <a:prstGeom prst="rect">
            <a:avLst/>
          </a:prstGeom>
          <a:noFill/>
        </p:spPr>
        <p:txBody>
          <a:bodyPr wrap="square">
            <a:spAutoFit/>
          </a:bodyPr>
          <a:lstStyle/>
          <a:p>
            <a:pPr algn="ctr">
              <a:defRPr sz="1000" b="0">
                <a:solidFill>
                  <a:srgbClr val="BBBBCC"/>
                </a:solidFill>
                <a:latin typeface="Calibri"/>
              </a:defRPr>
            </a:pPr>
            <a:r>
              <a:t>0.08 GB</a:t>
            </a:r>
          </a:p>
        </p:txBody>
      </p:sp>
      <p:sp>
        <p:nvSpPr>
          <p:cNvPr id="46" name="Rectangle 45"/>
          <p:cNvSpPr/>
          <p:nvPr/>
        </p:nvSpPr>
        <p:spPr>
          <a:xfrm>
            <a:off x="6583680" y="3611880"/>
            <a:ext cx="1097280" cy="274320"/>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583680" y="3611880"/>
            <a:ext cx="1097280" cy="274320"/>
          </a:xfrm>
          <a:prstGeom prst="rect">
            <a:avLst/>
          </a:prstGeom>
          <a:noFill/>
        </p:spPr>
        <p:txBody>
          <a:bodyPr wrap="square">
            <a:spAutoFit/>
          </a:bodyPr>
          <a:lstStyle/>
          <a:p>
            <a:pPr algn="ctr">
              <a:defRPr sz="1000" b="0">
                <a:solidFill>
                  <a:srgbClr val="BBBBCC"/>
                </a:solidFill>
                <a:latin typeface="Calibri"/>
              </a:defRPr>
            </a:pPr>
            <a:r>
              <a:t>0.11%</a:t>
            </a:r>
          </a:p>
        </p:txBody>
      </p:sp>
      <p:sp>
        <p:nvSpPr>
          <p:cNvPr id="48" name="Rectangle 47"/>
          <p:cNvSpPr/>
          <p:nvPr/>
        </p:nvSpPr>
        <p:spPr>
          <a:xfrm>
            <a:off x="731520" y="3886200"/>
            <a:ext cx="2560320" cy="274320"/>
          </a:xfrm>
          <a:prstGeom prst="rect">
            <a:avLst/>
          </a:prstGeom>
          <a:solidFill>
            <a:srgbClr val="18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31520" y="3886200"/>
            <a:ext cx="2560320" cy="274320"/>
          </a:xfrm>
          <a:prstGeom prst="rect">
            <a:avLst/>
          </a:prstGeom>
          <a:noFill/>
        </p:spPr>
        <p:txBody>
          <a:bodyPr wrap="square">
            <a:spAutoFit/>
          </a:bodyPr>
          <a:lstStyle/>
          <a:p>
            <a:pPr algn="ctr">
              <a:defRPr sz="1000" b="0">
                <a:solidFill>
                  <a:srgbClr val="BBBBCC"/>
                </a:solidFill>
                <a:latin typeface="Calibri"/>
              </a:defRPr>
            </a:pPr>
            <a:r>
              <a:t>S5P SO₂</a:t>
            </a:r>
          </a:p>
        </p:txBody>
      </p:sp>
      <p:sp>
        <p:nvSpPr>
          <p:cNvPr id="50" name="Rectangle 49"/>
          <p:cNvSpPr/>
          <p:nvPr/>
        </p:nvSpPr>
        <p:spPr>
          <a:xfrm>
            <a:off x="3291840" y="3886200"/>
            <a:ext cx="1645920" cy="274320"/>
          </a:xfrm>
          <a:prstGeom prst="rect">
            <a:avLst/>
          </a:prstGeom>
          <a:solidFill>
            <a:srgbClr val="18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291840" y="3886200"/>
            <a:ext cx="1645920" cy="274320"/>
          </a:xfrm>
          <a:prstGeom prst="rect">
            <a:avLst/>
          </a:prstGeom>
          <a:noFill/>
        </p:spPr>
        <p:txBody>
          <a:bodyPr wrap="square">
            <a:spAutoFit/>
          </a:bodyPr>
          <a:lstStyle/>
          <a:p>
            <a:pPr algn="ctr">
              <a:defRPr sz="1000" b="0">
                <a:solidFill>
                  <a:srgbClr val="BBBBCC"/>
                </a:solidFill>
                <a:latin typeface="Calibri"/>
              </a:defRPr>
            </a:pPr>
            <a:r>
              <a:t>26,280</a:t>
            </a:r>
          </a:p>
        </p:txBody>
      </p:sp>
      <p:sp>
        <p:nvSpPr>
          <p:cNvPr id="52" name="Rectangle 51"/>
          <p:cNvSpPr/>
          <p:nvPr/>
        </p:nvSpPr>
        <p:spPr>
          <a:xfrm>
            <a:off x="4937760" y="3886200"/>
            <a:ext cx="1645920" cy="274320"/>
          </a:xfrm>
          <a:prstGeom prst="rect">
            <a:avLst/>
          </a:prstGeom>
          <a:solidFill>
            <a:srgbClr val="18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937760" y="3886200"/>
            <a:ext cx="1645920" cy="274320"/>
          </a:xfrm>
          <a:prstGeom prst="rect">
            <a:avLst/>
          </a:prstGeom>
          <a:noFill/>
        </p:spPr>
        <p:txBody>
          <a:bodyPr wrap="square">
            <a:spAutoFit/>
          </a:bodyPr>
          <a:lstStyle/>
          <a:p>
            <a:pPr algn="ctr">
              <a:defRPr sz="1000" b="0">
                <a:solidFill>
                  <a:srgbClr val="BBBBCC"/>
                </a:solidFill>
                <a:latin typeface="Calibri"/>
              </a:defRPr>
            </a:pPr>
            <a:r>
              <a:t>0.03 GB</a:t>
            </a:r>
          </a:p>
        </p:txBody>
      </p:sp>
      <p:sp>
        <p:nvSpPr>
          <p:cNvPr id="54" name="Rectangle 53"/>
          <p:cNvSpPr/>
          <p:nvPr/>
        </p:nvSpPr>
        <p:spPr>
          <a:xfrm>
            <a:off x="6583680" y="3886200"/>
            <a:ext cx="1097280" cy="274320"/>
          </a:xfrm>
          <a:prstGeom prst="rect">
            <a:avLst/>
          </a:prstGeom>
          <a:solidFill>
            <a:srgbClr val="18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583680" y="3886200"/>
            <a:ext cx="1097280" cy="274320"/>
          </a:xfrm>
          <a:prstGeom prst="rect">
            <a:avLst/>
          </a:prstGeom>
          <a:noFill/>
        </p:spPr>
        <p:txBody>
          <a:bodyPr wrap="square">
            <a:spAutoFit/>
          </a:bodyPr>
          <a:lstStyle/>
          <a:p>
            <a:pPr algn="ctr">
              <a:defRPr sz="1000" b="0">
                <a:solidFill>
                  <a:srgbClr val="BBBBCC"/>
                </a:solidFill>
                <a:latin typeface="Calibri"/>
              </a:defRPr>
            </a:pPr>
            <a:r>
              <a:t>0.05%</a:t>
            </a:r>
          </a:p>
        </p:txBody>
      </p:sp>
      <p:sp>
        <p:nvSpPr>
          <p:cNvPr id="56" name="Rectangle 55"/>
          <p:cNvSpPr/>
          <p:nvPr/>
        </p:nvSpPr>
        <p:spPr>
          <a:xfrm>
            <a:off x="731520" y="4160520"/>
            <a:ext cx="2560320" cy="274320"/>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31520" y="4160520"/>
            <a:ext cx="2560320" cy="274320"/>
          </a:xfrm>
          <a:prstGeom prst="rect">
            <a:avLst/>
          </a:prstGeom>
          <a:noFill/>
        </p:spPr>
        <p:txBody>
          <a:bodyPr wrap="square">
            <a:spAutoFit/>
          </a:bodyPr>
          <a:lstStyle/>
          <a:p>
            <a:pPr algn="ctr">
              <a:defRPr sz="1000" b="0">
                <a:solidFill>
                  <a:srgbClr val="BBBBCC"/>
                </a:solidFill>
                <a:latin typeface="Calibri"/>
              </a:defRPr>
            </a:pPr>
            <a:r>
              <a:t>S5P O₃</a:t>
            </a:r>
          </a:p>
        </p:txBody>
      </p:sp>
      <p:sp>
        <p:nvSpPr>
          <p:cNvPr id="58" name="Rectangle 57"/>
          <p:cNvSpPr/>
          <p:nvPr/>
        </p:nvSpPr>
        <p:spPr>
          <a:xfrm>
            <a:off x="3291840" y="4160520"/>
            <a:ext cx="1645920" cy="274320"/>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291840" y="4160520"/>
            <a:ext cx="1645920" cy="274320"/>
          </a:xfrm>
          <a:prstGeom prst="rect">
            <a:avLst/>
          </a:prstGeom>
          <a:noFill/>
        </p:spPr>
        <p:txBody>
          <a:bodyPr wrap="square">
            <a:spAutoFit/>
          </a:bodyPr>
          <a:lstStyle/>
          <a:p>
            <a:pPr algn="ctr">
              <a:defRPr sz="1000" b="0">
                <a:solidFill>
                  <a:srgbClr val="BBBBCC"/>
                </a:solidFill>
                <a:latin typeface="Calibri"/>
              </a:defRPr>
            </a:pPr>
            <a:r>
              <a:t>25,798</a:t>
            </a:r>
          </a:p>
        </p:txBody>
      </p:sp>
      <p:sp>
        <p:nvSpPr>
          <p:cNvPr id="60" name="Rectangle 59"/>
          <p:cNvSpPr/>
          <p:nvPr/>
        </p:nvSpPr>
        <p:spPr>
          <a:xfrm>
            <a:off x="4937760" y="4160520"/>
            <a:ext cx="1645920" cy="274320"/>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937760" y="4160520"/>
            <a:ext cx="1645920" cy="274320"/>
          </a:xfrm>
          <a:prstGeom prst="rect">
            <a:avLst/>
          </a:prstGeom>
          <a:noFill/>
        </p:spPr>
        <p:txBody>
          <a:bodyPr wrap="square">
            <a:spAutoFit/>
          </a:bodyPr>
          <a:lstStyle/>
          <a:p>
            <a:pPr algn="ctr">
              <a:defRPr sz="1000" b="0">
                <a:solidFill>
                  <a:srgbClr val="BBBBCC"/>
                </a:solidFill>
                <a:latin typeface="Calibri"/>
              </a:defRPr>
            </a:pPr>
            <a:r>
              <a:t>0.06 GB</a:t>
            </a:r>
          </a:p>
        </p:txBody>
      </p:sp>
      <p:sp>
        <p:nvSpPr>
          <p:cNvPr id="62" name="Rectangle 61"/>
          <p:cNvSpPr/>
          <p:nvPr/>
        </p:nvSpPr>
        <p:spPr>
          <a:xfrm>
            <a:off x="6583680" y="4160520"/>
            <a:ext cx="1097280" cy="274320"/>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583680" y="4160520"/>
            <a:ext cx="1097280" cy="274320"/>
          </a:xfrm>
          <a:prstGeom prst="rect">
            <a:avLst/>
          </a:prstGeom>
          <a:noFill/>
        </p:spPr>
        <p:txBody>
          <a:bodyPr wrap="square">
            <a:spAutoFit/>
          </a:bodyPr>
          <a:lstStyle/>
          <a:p>
            <a:pPr algn="ctr">
              <a:defRPr sz="1000" b="0">
                <a:solidFill>
                  <a:srgbClr val="BBBBCC"/>
                </a:solidFill>
                <a:latin typeface="Calibri"/>
              </a:defRPr>
            </a:pPr>
            <a:r>
              <a:t>0.08%</a:t>
            </a:r>
          </a:p>
        </p:txBody>
      </p:sp>
      <p:sp>
        <p:nvSpPr>
          <p:cNvPr id="64" name="Rectangle 63"/>
          <p:cNvSpPr/>
          <p:nvPr/>
        </p:nvSpPr>
        <p:spPr>
          <a:xfrm>
            <a:off x="731520" y="4434840"/>
            <a:ext cx="2560320" cy="274320"/>
          </a:xfrm>
          <a:prstGeom prst="rect">
            <a:avLst/>
          </a:prstGeom>
          <a:solidFill>
            <a:srgbClr val="18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31520" y="4434840"/>
            <a:ext cx="2560320" cy="274320"/>
          </a:xfrm>
          <a:prstGeom prst="rect">
            <a:avLst/>
          </a:prstGeom>
          <a:noFill/>
        </p:spPr>
        <p:txBody>
          <a:bodyPr wrap="square">
            <a:spAutoFit/>
          </a:bodyPr>
          <a:lstStyle/>
          <a:p>
            <a:pPr algn="ctr">
              <a:defRPr sz="1000" b="0">
                <a:solidFill>
                  <a:srgbClr val="BBBBCC"/>
                </a:solidFill>
                <a:latin typeface="Calibri"/>
              </a:defRPr>
            </a:pPr>
            <a:r>
              <a:t>MODIS MCD19A2</a:t>
            </a:r>
          </a:p>
        </p:txBody>
      </p:sp>
      <p:sp>
        <p:nvSpPr>
          <p:cNvPr id="66" name="Rectangle 65"/>
          <p:cNvSpPr/>
          <p:nvPr/>
        </p:nvSpPr>
        <p:spPr>
          <a:xfrm>
            <a:off x="3291840" y="4434840"/>
            <a:ext cx="1645920" cy="274320"/>
          </a:xfrm>
          <a:prstGeom prst="rect">
            <a:avLst/>
          </a:prstGeom>
          <a:solidFill>
            <a:srgbClr val="18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291840" y="4434840"/>
            <a:ext cx="1645920" cy="274320"/>
          </a:xfrm>
          <a:prstGeom prst="rect">
            <a:avLst/>
          </a:prstGeom>
          <a:noFill/>
        </p:spPr>
        <p:txBody>
          <a:bodyPr wrap="square">
            <a:spAutoFit/>
          </a:bodyPr>
          <a:lstStyle/>
          <a:p>
            <a:pPr algn="ctr">
              <a:defRPr sz="1000" b="0">
                <a:solidFill>
                  <a:srgbClr val="BBBBCC"/>
                </a:solidFill>
                <a:latin typeface="Calibri"/>
              </a:defRPr>
            </a:pPr>
            <a:r>
              <a:t>140,120</a:t>
            </a:r>
          </a:p>
        </p:txBody>
      </p:sp>
      <p:sp>
        <p:nvSpPr>
          <p:cNvPr id="68" name="Rectangle 67"/>
          <p:cNvSpPr/>
          <p:nvPr/>
        </p:nvSpPr>
        <p:spPr>
          <a:xfrm>
            <a:off x="4937760" y="4434840"/>
            <a:ext cx="1645920" cy="274320"/>
          </a:xfrm>
          <a:prstGeom prst="rect">
            <a:avLst/>
          </a:prstGeom>
          <a:solidFill>
            <a:srgbClr val="18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937760" y="4434840"/>
            <a:ext cx="1645920" cy="274320"/>
          </a:xfrm>
          <a:prstGeom prst="rect">
            <a:avLst/>
          </a:prstGeom>
          <a:noFill/>
        </p:spPr>
        <p:txBody>
          <a:bodyPr wrap="square">
            <a:spAutoFit/>
          </a:bodyPr>
          <a:lstStyle/>
          <a:p>
            <a:pPr algn="ctr">
              <a:defRPr sz="1000" b="0">
                <a:solidFill>
                  <a:srgbClr val="BBBBCC"/>
                </a:solidFill>
                <a:latin typeface="Calibri"/>
              </a:defRPr>
            </a:pPr>
            <a:r>
              <a:t>0.11 GB</a:t>
            </a:r>
          </a:p>
        </p:txBody>
      </p:sp>
      <p:sp>
        <p:nvSpPr>
          <p:cNvPr id="70" name="Rectangle 69"/>
          <p:cNvSpPr/>
          <p:nvPr/>
        </p:nvSpPr>
        <p:spPr>
          <a:xfrm>
            <a:off x="6583680" y="4434840"/>
            <a:ext cx="1097280" cy="274320"/>
          </a:xfrm>
          <a:prstGeom prst="rect">
            <a:avLst/>
          </a:prstGeom>
          <a:solidFill>
            <a:srgbClr val="18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583680" y="4434840"/>
            <a:ext cx="1097280" cy="274320"/>
          </a:xfrm>
          <a:prstGeom prst="rect">
            <a:avLst/>
          </a:prstGeom>
          <a:noFill/>
        </p:spPr>
        <p:txBody>
          <a:bodyPr wrap="square">
            <a:spAutoFit/>
          </a:bodyPr>
          <a:lstStyle/>
          <a:p>
            <a:pPr algn="ctr">
              <a:defRPr sz="1000" b="0">
                <a:solidFill>
                  <a:srgbClr val="BBBBCC"/>
                </a:solidFill>
                <a:latin typeface="Calibri"/>
              </a:defRPr>
            </a:pPr>
            <a:r>
              <a:t>0.16%</a:t>
            </a:r>
          </a:p>
        </p:txBody>
      </p:sp>
      <p:sp>
        <p:nvSpPr>
          <p:cNvPr id="72" name="Rectangle 71"/>
          <p:cNvSpPr/>
          <p:nvPr/>
        </p:nvSpPr>
        <p:spPr>
          <a:xfrm>
            <a:off x="731520" y="4709160"/>
            <a:ext cx="2560320" cy="274320"/>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31520" y="4709160"/>
            <a:ext cx="2560320" cy="274320"/>
          </a:xfrm>
          <a:prstGeom prst="rect">
            <a:avLst/>
          </a:prstGeom>
          <a:noFill/>
        </p:spPr>
        <p:txBody>
          <a:bodyPr wrap="square">
            <a:spAutoFit/>
          </a:bodyPr>
          <a:lstStyle/>
          <a:p>
            <a:pPr algn="ctr">
              <a:defRPr sz="1000" b="0">
                <a:solidFill>
                  <a:srgbClr val="BBBBCC"/>
                </a:solidFill>
                <a:latin typeface="Calibri"/>
              </a:defRPr>
            </a:pPr>
            <a:r>
              <a:t>ERA5</a:t>
            </a:r>
          </a:p>
        </p:txBody>
      </p:sp>
      <p:sp>
        <p:nvSpPr>
          <p:cNvPr id="74" name="Rectangle 73"/>
          <p:cNvSpPr/>
          <p:nvPr/>
        </p:nvSpPr>
        <p:spPr>
          <a:xfrm>
            <a:off x="3291840" y="4709160"/>
            <a:ext cx="1645920" cy="274320"/>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3291840" y="4709160"/>
            <a:ext cx="1645920" cy="274320"/>
          </a:xfrm>
          <a:prstGeom prst="rect">
            <a:avLst/>
          </a:prstGeom>
          <a:noFill/>
        </p:spPr>
        <p:txBody>
          <a:bodyPr wrap="square">
            <a:spAutoFit/>
          </a:bodyPr>
          <a:lstStyle/>
          <a:p>
            <a:pPr algn="ctr">
              <a:defRPr sz="1000" b="0">
                <a:solidFill>
                  <a:srgbClr val="BBBBCC"/>
                </a:solidFill>
                <a:latin typeface="Calibri"/>
              </a:defRPr>
            </a:pPr>
            <a:r>
              <a:t>43,815</a:t>
            </a:r>
          </a:p>
        </p:txBody>
      </p:sp>
      <p:sp>
        <p:nvSpPr>
          <p:cNvPr id="76" name="Rectangle 75"/>
          <p:cNvSpPr/>
          <p:nvPr/>
        </p:nvSpPr>
        <p:spPr>
          <a:xfrm>
            <a:off x="4937760" y="4709160"/>
            <a:ext cx="1645920" cy="274320"/>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937760" y="4709160"/>
            <a:ext cx="1645920" cy="274320"/>
          </a:xfrm>
          <a:prstGeom prst="rect">
            <a:avLst/>
          </a:prstGeom>
          <a:noFill/>
        </p:spPr>
        <p:txBody>
          <a:bodyPr wrap="square">
            <a:spAutoFit/>
          </a:bodyPr>
          <a:lstStyle/>
          <a:p>
            <a:pPr algn="ctr">
              <a:defRPr sz="1000" b="0">
                <a:solidFill>
                  <a:srgbClr val="BBBBCC"/>
                </a:solidFill>
                <a:latin typeface="Calibri"/>
              </a:defRPr>
            </a:pPr>
            <a:r>
              <a:t>0.10 GB</a:t>
            </a:r>
          </a:p>
        </p:txBody>
      </p:sp>
      <p:sp>
        <p:nvSpPr>
          <p:cNvPr id="78" name="Rectangle 77"/>
          <p:cNvSpPr/>
          <p:nvPr/>
        </p:nvSpPr>
        <p:spPr>
          <a:xfrm>
            <a:off x="6583680" y="4709160"/>
            <a:ext cx="1097280" cy="274320"/>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583680" y="4709160"/>
            <a:ext cx="1097280" cy="274320"/>
          </a:xfrm>
          <a:prstGeom prst="rect">
            <a:avLst/>
          </a:prstGeom>
          <a:noFill/>
        </p:spPr>
        <p:txBody>
          <a:bodyPr wrap="square">
            <a:spAutoFit/>
          </a:bodyPr>
          <a:lstStyle/>
          <a:p>
            <a:pPr algn="ctr">
              <a:defRPr sz="1000" b="0">
                <a:solidFill>
                  <a:srgbClr val="BBBBCC"/>
                </a:solidFill>
                <a:latin typeface="Calibri"/>
              </a:defRPr>
            </a:pPr>
            <a:r>
              <a:t>0.15%</a:t>
            </a:r>
          </a:p>
        </p:txBody>
      </p:sp>
      <p:sp>
        <p:nvSpPr>
          <p:cNvPr id="80" name="Rectangle 79"/>
          <p:cNvSpPr/>
          <p:nvPr/>
        </p:nvSpPr>
        <p:spPr>
          <a:xfrm>
            <a:off x="731520" y="4983480"/>
            <a:ext cx="2560320" cy="274320"/>
          </a:xfrm>
          <a:prstGeom prst="rect">
            <a:avLst/>
          </a:prstGeom>
          <a:solidFill>
            <a:srgbClr val="18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31520" y="4983480"/>
            <a:ext cx="2560320" cy="274320"/>
          </a:xfrm>
          <a:prstGeom prst="rect">
            <a:avLst/>
          </a:prstGeom>
          <a:noFill/>
        </p:spPr>
        <p:txBody>
          <a:bodyPr wrap="square">
            <a:spAutoFit/>
          </a:bodyPr>
          <a:lstStyle/>
          <a:p>
            <a:pPr algn="ctr">
              <a:defRPr sz="1000" b="1">
                <a:solidFill>
                  <a:srgbClr val="FFFFFF"/>
                </a:solidFill>
                <a:latin typeface="Calibri"/>
              </a:defRPr>
            </a:pPr>
            <a:r>
              <a:t>TOTAL</a:t>
            </a:r>
          </a:p>
        </p:txBody>
      </p:sp>
      <p:sp>
        <p:nvSpPr>
          <p:cNvPr id="82" name="Rectangle 81"/>
          <p:cNvSpPr/>
          <p:nvPr/>
        </p:nvSpPr>
        <p:spPr>
          <a:xfrm>
            <a:off x="3291840" y="4983480"/>
            <a:ext cx="1645920" cy="274320"/>
          </a:xfrm>
          <a:prstGeom prst="rect">
            <a:avLst/>
          </a:prstGeom>
          <a:solidFill>
            <a:srgbClr val="18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3291840" y="4983480"/>
            <a:ext cx="1645920" cy="274320"/>
          </a:xfrm>
          <a:prstGeom prst="rect">
            <a:avLst/>
          </a:prstGeom>
          <a:noFill/>
        </p:spPr>
        <p:txBody>
          <a:bodyPr wrap="square">
            <a:spAutoFit/>
          </a:bodyPr>
          <a:lstStyle/>
          <a:p>
            <a:pPr algn="ctr">
              <a:defRPr sz="1000" b="1">
                <a:solidFill>
                  <a:srgbClr val="FFFFFF"/>
                </a:solidFill>
                <a:latin typeface="Calibri"/>
              </a:defRPr>
            </a:pPr>
            <a:r>
              <a:t>283,437</a:t>
            </a:r>
          </a:p>
        </p:txBody>
      </p:sp>
      <p:sp>
        <p:nvSpPr>
          <p:cNvPr id="84" name="Rectangle 83"/>
          <p:cNvSpPr/>
          <p:nvPr/>
        </p:nvSpPr>
        <p:spPr>
          <a:xfrm>
            <a:off x="4937760" y="4983480"/>
            <a:ext cx="1645920" cy="274320"/>
          </a:xfrm>
          <a:prstGeom prst="rect">
            <a:avLst/>
          </a:prstGeom>
          <a:solidFill>
            <a:srgbClr val="18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4937760" y="4983480"/>
            <a:ext cx="1645920" cy="274320"/>
          </a:xfrm>
          <a:prstGeom prst="rect">
            <a:avLst/>
          </a:prstGeom>
          <a:noFill/>
        </p:spPr>
        <p:txBody>
          <a:bodyPr wrap="square">
            <a:spAutoFit/>
          </a:bodyPr>
          <a:lstStyle/>
          <a:p>
            <a:pPr algn="ctr">
              <a:defRPr sz="1000" b="1">
                <a:solidFill>
                  <a:srgbClr val="FFFFFF"/>
                </a:solidFill>
                <a:latin typeface="Calibri"/>
              </a:defRPr>
            </a:pPr>
            <a:r>
              <a:t>66.78 GB</a:t>
            </a:r>
          </a:p>
        </p:txBody>
      </p:sp>
      <p:sp>
        <p:nvSpPr>
          <p:cNvPr id="86" name="Rectangle 85"/>
          <p:cNvSpPr/>
          <p:nvPr/>
        </p:nvSpPr>
        <p:spPr>
          <a:xfrm>
            <a:off x="6583680" y="4983480"/>
            <a:ext cx="1097280" cy="274320"/>
          </a:xfrm>
          <a:prstGeom prst="rect">
            <a:avLst/>
          </a:prstGeom>
          <a:solidFill>
            <a:srgbClr val="18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583680" y="4983480"/>
            <a:ext cx="1097280" cy="274320"/>
          </a:xfrm>
          <a:prstGeom prst="rect">
            <a:avLst/>
          </a:prstGeom>
          <a:noFill/>
        </p:spPr>
        <p:txBody>
          <a:bodyPr wrap="square">
            <a:spAutoFit/>
          </a:bodyPr>
          <a:lstStyle/>
          <a:p>
            <a:pPr algn="ctr">
              <a:defRPr sz="1000" b="1">
                <a:solidFill>
                  <a:srgbClr val="FFFFFF"/>
                </a:solidFill>
                <a:latin typeface="Calibri"/>
              </a:defRPr>
            </a:pPr>
            <a:r>
              <a:t>100%</a:t>
            </a:r>
          </a:p>
        </p:txBody>
      </p:sp>
      <p:sp>
        <p:nvSpPr>
          <p:cNvPr id="88" name="TextBox 87"/>
          <p:cNvSpPr txBox="1"/>
          <p:nvPr/>
        </p:nvSpPr>
        <p:spPr>
          <a:xfrm>
            <a:off x="6858000" y="2651760"/>
            <a:ext cx="5029200" cy="365760"/>
          </a:xfrm>
          <a:prstGeom prst="rect">
            <a:avLst/>
          </a:prstGeom>
          <a:noFill/>
        </p:spPr>
        <p:txBody>
          <a:bodyPr wrap="square">
            <a:spAutoFit/>
          </a:bodyPr>
          <a:lstStyle/>
          <a:p>
            <a:pPr algn="l">
              <a:defRPr sz="1600" b="1">
                <a:solidFill>
                  <a:srgbClr val="009DFF"/>
                </a:solidFill>
                <a:latin typeface="Calibri"/>
              </a:defRPr>
            </a:pPr>
            <a:r>
              <a:t>Cobertura espacial y temporal</a:t>
            </a:r>
          </a:p>
        </p:txBody>
      </p:sp>
      <p:sp>
        <p:nvSpPr>
          <p:cNvPr id="89" name="TextBox 88"/>
          <p:cNvSpPr txBox="1"/>
          <p:nvPr/>
        </p:nvSpPr>
        <p:spPr>
          <a:xfrm>
            <a:off x="6858000" y="3108960"/>
            <a:ext cx="4846320" cy="1371600"/>
          </a:xfrm>
          <a:prstGeom prst="rect">
            <a:avLst/>
          </a:prstGeom>
          <a:noFill/>
        </p:spPr>
        <p:txBody>
          <a:bodyPr wrap="square">
            <a:spAutoFit/>
          </a:bodyPr>
          <a:lstStyle/>
          <a:p>
            <a:pPr>
              <a:spcAft>
                <a:spcPts val="480"/>
              </a:spcAft>
              <a:defRPr sz="1200">
                <a:solidFill>
                  <a:srgbClr val="BBBBCC"/>
                </a:solidFill>
                <a:latin typeface="Calibri"/>
              </a:defRPr>
            </a:pPr>
            <a:r>
              <a:t>BBox: [-76.65, 3.30, -76.30, 3.65] (WGS84)</a:t>
            </a:r>
          </a:p>
          <a:p>
            <a:pPr>
              <a:spcAft>
                <a:spcPts val="480"/>
              </a:spcAft>
              <a:defRPr sz="1200">
                <a:solidFill>
                  <a:srgbClr val="BBBBCC"/>
                </a:solidFill>
                <a:latin typeface="Calibri"/>
              </a:defRPr>
            </a:pPr>
            <a:r>
              <a:t>  Incluye: Cali urbano, Yumbo-Acopi, cañaduzales norte</a:t>
            </a:r>
          </a:p>
          <a:p>
            <a:pPr>
              <a:spcAft>
                <a:spcPts val="480"/>
              </a:spcAft>
              <a:defRPr sz="1200">
                <a:solidFill>
                  <a:srgbClr val="BBBBCC"/>
                </a:solidFill>
                <a:latin typeface="Calibri"/>
              </a:defRPr>
            </a:pPr>
            <a:r>
              <a:t>  Más amplio que consigna mínima (-76.60 a 3.55)</a:t>
            </a:r>
          </a:p>
          <a:p>
            <a:pPr>
              <a:spcAft>
                <a:spcPts val="480"/>
              </a:spcAft>
              <a:defRPr sz="1200">
                <a:solidFill>
                  <a:srgbClr val="BBBBCC"/>
                </a:solidFill>
                <a:latin typeface="Calibri"/>
              </a:defRPr>
            </a:pPr>
          </a:p>
          <a:p>
            <a:pPr>
              <a:spcAft>
                <a:spcPts val="480"/>
              </a:spcAft>
              <a:defRPr sz="1200">
                <a:solidFill>
                  <a:srgbClr val="BBBBCC"/>
                </a:solidFill>
                <a:latin typeface="Calibri"/>
              </a:defRPr>
            </a:pPr>
            <a:r>
              <a:t>Período satelital: 2019-01-01 → 2023-12-31 (5 años)</a:t>
            </a:r>
          </a:p>
          <a:p>
            <a:pPr>
              <a:spcAft>
                <a:spcPts val="480"/>
              </a:spcAft>
              <a:defRPr sz="1200">
                <a:solidFill>
                  <a:srgbClr val="BBBBCC"/>
                </a:solidFill>
                <a:latin typeface="Calibri"/>
              </a:defRPr>
            </a:pPr>
            <a:r>
              <a:t>Período DAGMA:    2020-01-01 → 2023-12-31 (4 años)</a:t>
            </a:r>
          </a:p>
          <a:p>
            <a:pPr>
              <a:spcAft>
                <a:spcPts val="480"/>
              </a:spcAft>
              <a:defRPr sz="1200">
                <a:solidFill>
                  <a:srgbClr val="BBBBCC"/>
                </a:solidFill>
                <a:latin typeface="Calibri"/>
              </a:defRPr>
            </a:pPr>
            <a:r>
              <a:t>Bucket GCS: gs://geovision-cali (proyecto3ia-494900)</a:t>
            </a:r>
          </a:p>
        </p:txBody>
      </p:sp>
      <p:sp>
        <p:nvSpPr>
          <p:cNvPr id="90" name="TextBox 89"/>
          <p:cNvSpPr txBox="1"/>
          <p:nvPr/>
        </p:nvSpPr>
        <p:spPr>
          <a:xfrm>
            <a:off x="6858000" y="4754880"/>
            <a:ext cx="4572000" cy="365760"/>
          </a:xfrm>
          <a:prstGeom prst="rect">
            <a:avLst/>
          </a:prstGeom>
          <a:noFill/>
        </p:spPr>
        <p:txBody>
          <a:bodyPr wrap="square">
            <a:spAutoFit/>
          </a:bodyPr>
          <a:lstStyle/>
          <a:p>
            <a:pPr algn="l">
              <a:defRPr sz="1600" b="1">
                <a:solidFill>
                  <a:srgbClr val="00E676"/>
                </a:solidFill>
                <a:latin typeface="Calibri"/>
              </a:defRPr>
            </a:pPr>
            <a:r>
              <a:t>Otros hitos</a:t>
            </a:r>
          </a:p>
        </p:txBody>
      </p:sp>
      <p:sp>
        <p:nvSpPr>
          <p:cNvPr id="91" name="TextBox 90"/>
          <p:cNvSpPr txBox="1"/>
          <p:nvPr/>
        </p:nvSpPr>
        <p:spPr>
          <a:xfrm>
            <a:off x="6858000" y="5120640"/>
            <a:ext cx="4846320" cy="1371600"/>
          </a:xfrm>
          <a:prstGeom prst="rect">
            <a:avLst/>
          </a:prstGeom>
          <a:noFill/>
        </p:spPr>
        <p:txBody>
          <a:bodyPr wrap="square">
            <a:spAutoFit/>
          </a:bodyPr>
          <a:lstStyle/>
          <a:p>
            <a:pPr>
              <a:spcAft>
                <a:spcPts val="600"/>
              </a:spcAft>
              <a:defRPr sz="1200">
                <a:solidFill>
                  <a:srgbClr val="BBBBCC"/>
                </a:solidFill>
                <a:latin typeface="Calibri"/>
              </a:defRPr>
            </a:pPr>
            <a:r>
              <a:t>  ✓  Pipeline distribuido: Dask 4 workers × 2 threads</a:t>
            </a:r>
          </a:p>
          <a:p>
            <a:pPr>
              <a:spcAft>
                <a:spcPts val="600"/>
              </a:spcAft>
              <a:defRPr sz="1200">
                <a:solidFill>
                  <a:srgbClr val="BBBBCC"/>
                </a:solidFill>
                <a:latin typeface="Calibri"/>
              </a:defRPr>
            </a:pPr>
            <a:r>
              <a:t>  ✓  Manifest JSON versionado con hashes MD5</a:t>
            </a:r>
          </a:p>
          <a:p>
            <a:pPr>
              <a:spcAft>
                <a:spcPts val="600"/>
              </a:spcAft>
              <a:defRPr sz="1200">
                <a:solidFill>
                  <a:srgbClr val="BBBBCC"/>
                </a:solidFill>
                <a:latin typeface="Calibri"/>
              </a:defRPr>
            </a:pPr>
            <a:r>
              <a:t>  ✓  28 ejecuciones trazadas en runs/ con eventos JSONL</a:t>
            </a:r>
          </a:p>
          <a:p>
            <a:pPr>
              <a:spcAft>
                <a:spcPts val="600"/>
              </a:spcAft>
              <a:defRPr sz="1200">
                <a:solidFill>
                  <a:srgbClr val="BBBBCC"/>
                </a:solidFill>
                <a:latin typeface="Calibri"/>
              </a:defRPr>
            </a:pPr>
            <a:r>
              <a:t>  ✓  Docker multi-stage (python:3.11-slim)</a:t>
            </a:r>
          </a:p>
          <a:p>
            <a:pPr>
              <a:spcAft>
                <a:spcPts val="600"/>
              </a:spcAft>
              <a:defRPr sz="1200">
                <a:solidFill>
                  <a:srgbClr val="BBBBCC"/>
                </a:solidFill>
                <a:latin typeface="Calibri"/>
              </a:defRPr>
            </a:pPr>
            <a:r>
              <a:t>  ✓  Seed fija 42 · requirements.txt congelado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9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548640" cy="457200"/>
          </a:xfrm>
          <a:prstGeom prst="rect">
            <a:avLst/>
          </a:prstGeom>
          <a:noFill/>
        </p:spPr>
        <p:txBody>
          <a:bodyPr wrap="square">
            <a:spAutoFit/>
          </a:bodyPr>
          <a:lstStyle/>
          <a:p>
            <a:pPr algn="l">
              <a:defRPr sz="2800" b="1">
                <a:solidFill>
                  <a:srgbClr val="009DFF"/>
                </a:solidFill>
                <a:latin typeface="Calibri"/>
              </a:defRPr>
            </a:pPr>
            <a:r>
              <a:t>05</a:t>
            </a:r>
          </a:p>
        </p:txBody>
      </p:sp>
      <p:sp>
        <p:nvSpPr>
          <p:cNvPr id="4" name="TextBox 3"/>
          <p:cNvSpPr txBox="1"/>
          <p:nvPr/>
        </p:nvSpPr>
        <p:spPr>
          <a:xfrm>
            <a:off x="1188720" y="274320"/>
            <a:ext cx="9144000" cy="457200"/>
          </a:xfrm>
          <a:prstGeom prst="rect">
            <a:avLst/>
          </a:prstGeom>
          <a:noFill/>
        </p:spPr>
        <p:txBody>
          <a:bodyPr wrap="square">
            <a:spAutoFit/>
          </a:bodyPr>
          <a:lstStyle/>
          <a:p>
            <a:pPr algn="l">
              <a:defRPr sz="2800" b="1">
                <a:solidFill>
                  <a:srgbClr val="FFFFFF"/>
                </a:solidFill>
                <a:latin typeface="Calibri"/>
              </a:defRPr>
            </a:pPr>
            <a:r>
              <a:t>Pipeline ETL</a:t>
            </a:r>
          </a:p>
        </p:txBody>
      </p:sp>
      <p:sp>
        <p:nvSpPr>
          <p:cNvPr id="5" name="TextBox 4"/>
          <p:cNvSpPr txBox="1"/>
          <p:nvPr/>
        </p:nvSpPr>
        <p:spPr>
          <a:xfrm>
            <a:off x="1188720" y="685800"/>
            <a:ext cx="9144000" cy="365760"/>
          </a:xfrm>
          <a:prstGeom prst="rect">
            <a:avLst/>
          </a:prstGeom>
          <a:noFill/>
        </p:spPr>
        <p:txBody>
          <a:bodyPr wrap="square">
            <a:spAutoFit/>
          </a:bodyPr>
          <a:lstStyle/>
          <a:p>
            <a:pPr algn="l">
              <a:defRPr sz="1400" b="0">
                <a:solidFill>
                  <a:srgbClr val="666688"/>
                </a:solidFill>
                <a:latin typeface="Calibri"/>
              </a:defRPr>
            </a:pPr>
            <a:r>
              <a:t>5 etapas · Distribuido con Dask · Zarr en GCS</a:t>
            </a:r>
          </a:p>
        </p:txBody>
      </p:sp>
      <p:sp>
        <p:nvSpPr>
          <p:cNvPr id="6" name="Rectangle 5"/>
          <p:cNvSpPr/>
          <p:nvPr/>
        </p:nvSpPr>
        <p:spPr>
          <a:xfrm>
            <a:off x="548640" y="1051560"/>
            <a:ext cx="11064240" cy="9144"/>
          </a:xfrm>
          <a:prstGeom prst="rect">
            <a:avLst/>
          </a:prstGeom>
          <a:solidFill>
            <a:srgbClr val="2233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645920"/>
            <a:ext cx="2103120" cy="1188720"/>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645920"/>
            <a:ext cx="2103120" cy="45720"/>
          </a:xfrm>
          <a:prstGeom prst="rect">
            <a:avLst/>
          </a:prstGeom>
          <a:solidFill>
            <a:srgbClr val="009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783080"/>
            <a:ext cx="1920240" cy="365760"/>
          </a:xfrm>
          <a:prstGeom prst="rect">
            <a:avLst/>
          </a:prstGeom>
          <a:noFill/>
        </p:spPr>
        <p:txBody>
          <a:bodyPr wrap="square">
            <a:spAutoFit/>
          </a:bodyPr>
          <a:lstStyle/>
          <a:p>
            <a:pPr algn="ctr">
              <a:defRPr sz="1200" b="1">
                <a:solidFill>
                  <a:srgbClr val="009DFF"/>
                </a:solidFill>
                <a:latin typeface="Calibri"/>
              </a:defRPr>
            </a:pPr>
            <a:r>
              <a:t>exportar.py</a:t>
            </a:r>
          </a:p>
        </p:txBody>
      </p:sp>
      <p:sp>
        <p:nvSpPr>
          <p:cNvPr id="10" name="TextBox 9"/>
          <p:cNvSpPr txBox="1"/>
          <p:nvPr/>
        </p:nvSpPr>
        <p:spPr>
          <a:xfrm>
            <a:off x="548640" y="2148840"/>
            <a:ext cx="1920240" cy="548640"/>
          </a:xfrm>
          <a:prstGeom prst="rect">
            <a:avLst/>
          </a:prstGeom>
          <a:noFill/>
        </p:spPr>
        <p:txBody>
          <a:bodyPr wrap="square">
            <a:spAutoFit/>
          </a:bodyPr>
          <a:lstStyle/>
          <a:p>
            <a:pPr algn="ctr">
              <a:defRPr sz="1000" b="0">
                <a:solidFill>
                  <a:srgbClr val="BBBBCC"/>
                </a:solidFill>
                <a:latin typeface="Calibri"/>
              </a:defRPr>
            </a:pPr>
            <a:r>
              <a:t>Descarga GEE→GCS</a:t>
            </a:r>
            <a:br/>
            <a:r>
              <a:t>Dask + MD5 inline</a:t>
            </a:r>
          </a:p>
        </p:txBody>
      </p:sp>
      <p:sp>
        <p:nvSpPr>
          <p:cNvPr id="11" name="TextBox 10"/>
          <p:cNvSpPr txBox="1"/>
          <p:nvPr/>
        </p:nvSpPr>
        <p:spPr>
          <a:xfrm>
            <a:off x="2560320" y="1920240"/>
            <a:ext cx="274320" cy="457200"/>
          </a:xfrm>
          <a:prstGeom prst="rect">
            <a:avLst/>
          </a:prstGeom>
          <a:noFill/>
        </p:spPr>
        <p:txBody>
          <a:bodyPr wrap="square">
            <a:spAutoFit/>
          </a:bodyPr>
          <a:lstStyle/>
          <a:p>
            <a:pPr algn="ctr">
              <a:defRPr sz="2400" b="1">
                <a:solidFill>
                  <a:srgbClr val="666688"/>
                </a:solidFill>
                <a:latin typeface="Calibri"/>
              </a:defRPr>
            </a:pPr>
            <a:r>
              <a:t>→</a:t>
            </a:r>
          </a:p>
        </p:txBody>
      </p:sp>
      <p:sp>
        <p:nvSpPr>
          <p:cNvPr id="12" name="Rectangle 11"/>
          <p:cNvSpPr/>
          <p:nvPr/>
        </p:nvSpPr>
        <p:spPr>
          <a:xfrm>
            <a:off x="2788920" y="1645920"/>
            <a:ext cx="2103120" cy="1188720"/>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88920" y="1645920"/>
            <a:ext cx="2103120" cy="45720"/>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80360" y="1783080"/>
            <a:ext cx="1920240" cy="365760"/>
          </a:xfrm>
          <a:prstGeom prst="rect">
            <a:avLst/>
          </a:prstGeom>
          <a:noFill/>
        </p:spPr>
        <p:txBody>
          <a:bodyPr wrap="square">
            <a:spAutoFit/>
          </a:bodyPr>
          <a:lstStyle/>
          <a:p>
            <a:pPr algn="ctr">
              <a:defRPr sz="1200" b="1">
                <a:solidFill>
                  <a:srgbClr val="00E676"/>
                </a:solidFill>
                <a:latin typeface="Calibri"/>
              </a:defRPr>
            </a:pPr>
            <a:r>
              <a:t>convertir_zarr.py</a:t>
            </a:r>
          </a:p>
        </p:txBody>
      </p:sp>
      <p:sp>
        <p:nvSpPr>
          <p:cNvPr id="15" name="TextBox 14"/>
          <p:cNvSpPr txBox="1"/>
          <p:nvPr/>
        </p:nvSpPr>
        <p:spPr>
          <a:xfrm>
            <a:off x="2880360" y="2148840"/>
            <a:ext cx="1920240" cy="548640"/>
          </a:xfrm>
          <a:prstGeom prst="rect">
            <a:avLst/>
          </a:prstGeom>
          <a:noFill/>
        </p:spPr>
        <p:txBody>
          <a:bodyPr wrap="square">
            <a:spAutoFit/>
          </a:bodyPr>
          <a:lstStyle/>
          <a:p>
            <a:pPr algn="ctr">
              <a:defRPr sz="1000" b="0">
                <a:solidFill>
                  <a:srgbClr val="BBBBCC"/>
                </a:solidFill>
                <a:latin typeface="Calibri"/>
              </a:defRPr>
            </a:pPr>
            <a:r>
              <a:t>GeoTIFF → Zarr 4D</a:t>
            </a:r>
            <a:br/>
            <a:r>
              <a:t>Chunking (t,b,y,x)</a:t>
            </a:r>
          </a:p>
        </p:txBody>
      </p:sp>
      <p:sp>
        <p:nvSpPr>
          <p:cNvPr id="16" name="TextBox 15"/>
          <p:cNvSpPr txBox="1"/>
          <p:nvPr/>
        </p:nvSpPr>
        <p:spPr>
          <a:xfrm>
            <a:off x="4892040" y="1920240"/>
            <a:ext cx="274320" cy="457200"/>
          </a:xfrm>
          <a:prstGeom prst="rect">
            <a:avLst/>
          </a:prstGeom>
          <a:noFill/>
        </p:spPr>
        <p:txBody>
          <a:bodyPr wrap="square">
            <a:spAutoFit/>
          </a:bodyPr>
          <a:lstStyle/>
          <a:p>
            <a:pPr algn="ctr">
              <a:defRPr sz="2400" b="1">
                <a:solidFill>
                  <a:srgbClr val="666688"/>
                </a:solidFill>
                <a:latin typeface="Calibri"/>
              </a:defRPr>
            </a:pPr>
            <a:r>
              <a:t>→</a:t>
            </a:r>
          </a:p>
        </p:txBody>
      </p:sp>
      <p:sp>
        <p:nvSpPr>
          <p:cNvPr id="17" name="Rectangle 16"/>
          <p:cNvSpPr/>
          <p:nvPr/>
        </p:nvSpPr>
        <p:spPr>
          <a:xfrm>
            <a:off x="5120640" y="1645920"/>
            <a:ext cx="2103120" cy="1188720"/>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20640" y="1645920"/>
            <a:ext cx="2103120" cy="4572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1783080"/>
            <a:ext cx="1920240" cy="365760"/>
          </a:xfrm>
          <a:prstGeom prst="rect">
            <a:avLst/>
          </a:prstGeom>
          <a:noFill/>
        </p:spPr>
        <p:txBody>
          <a:bodyPr wrap="square">
            <a:spAutoFit/>
          </a:bodyPr>
          <a:lstStyle/>
          <a:p>
            <a:pPr algn="ctr">
              <a:defRPr sz="1200" b="1">
                <a:solidFill>
                  <a:srgbClr val="FF8C00"/>
                </a:solidFill>
                <a:latin typeface="Calibri"/>
              </a:defRPr>
            </a:pPr>
            <a:r>
              <a:t>validar_zarr.py</a:t>
            </a:r>
          </a:p>
        </p:txBody>
      </p:sp>
      <p:sp>
        <p:nvSpPr>
          <p:cNvPr id="20" name="TextBox 19"/>
          <p:cNvSpPr txBox="1"/>
          <p:nvPr/>
        </p:nvSpPr>
        <p:spPr>
          <a:xfrm>
            <a:off x="5212080" y="2148840"/>
            <a:ext cx="1920240" cy="548640"/>
          </a:xfrm>
          <a:prstGeom prst="rect">
            <a:avLst/>
          </a:prstGeom>
          <a:noFill/>
        </p:spPr>
        <p:txBody>
          <a:bodyPr wrap="square">
            <a:spAutoFit/>
          </a:bodyPr>
          <a:lstStyle/>
          <a:p>
            <a:pPr algn="ctr">
              <a:defRPr sz="1000" b="0">
                <a:solidFill>
                  <a:srgbClr val="BBBBCC"/>
                </a:solidFill>
                <a:latin typeface="Calibri"/>
              </a:defRPr>
            </a:pPr>
            <a:r>
              <a:t>Integridad: shape,</a:t>
            </a:r>
            <a:br/>
            <a:r>
              <a:t>bandas, %NaN, rango</a:t>
            </a:r>
          </a:p>
        </p:txBody>
      </p:sp>
      <p:sp>
        <p:nvSpPr>
          <p:cNvPr id="21" name="TextBox 20"/>
          <p:cNvSpPr txBox="1"/>
          <p:nvPr/>
        </p:nvSpPr>
        <p:spPr>
          <a:xfrm>
            <a:off x="7223760" y="1920240"/>
            <a:ext cx="274320" cy="457200"/>
          </a:xfrm>
          <a:prstGeom prst="rect">
            <a:avLst/>
          </a:prstGeom>
          <a:noFill/>
        </p:spPr>
        <p:txBody>
          <a:bodyPr wrap="square">
            <a:spAutoFit/>
          </a:bodyPr>
          <a:lstStyle/>
          <a:p>
            <a:pPr algn="ctr">
              <a:defRPr sz="2400" b="1">
                <a:solidFill>
                  <a:srgbClr val="666688"/>
                </a:solidFill>
                <a:latin typeface="Calibri"/>
              </a:defRPr>
            </a:pPr>
            <a:r>
              <a:t>→</a:t>
            </a:r>
          </a:p>
        </p:txBody>
      </p:sp>
      <p:sp>
        <p:nvSpPr>
          <p:cNvPr id="22" name="Rectangle 21"/>
          <p:cNvSpPr/>
          <p:nvPr/>
        </p:nvSpPr>
        <p:spPr>
          <a:xfrm>
            <a:off x="7452360" y="1645920"/>
            <a:ext cx="2103120" cy="1188720"/>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452360" y="1645920"/>
            <a:ext cx="2103120" cy="45720"/>
          </a:xfrm>
          <a:prstGeom prst="rect">
            <a:avLst/>
          </a:prstGeom>
          <a:solidFill>
            <a:srgbClr val="FF3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43800" y="1783080"/>
            <a:ext cx="1920240" cy="365760"/>
          </a:xfrm>
          <a:prstGeom prst="rect">
            <a:avLst/>
          </a:prstGeom>
          <a:noFill/>
        </p:spPr>
        <p:txBody>
          <a:bodyPr wrap="square">
            <a:spAutoFit/>
          </a:bodyPr>
          <a:lstStyle/>
          <a:p>
            <a:pPr algn="ctr">
              <a:defRPr sz="1200" b="1">
                <a:solidFill>
                  <a:srgbClr val="FF3D5A"/>
                </a:solidFill>
                <a:latin typeface="Calibri"/>
              </a:defRPr>
            </a:pPr>
            <a:r>
              <a:t>manifest.py</a:t>
            </a:r>
          </a:p>
        </p:txBody>
      </p:sp>
      <p:sp>
        <p:nvSpPr>
          <p:cNvPr id="25" name="TextBox 24"/>
          <p:cNvSpPr txBox="1"/>
          <p:nvPr/>
        </p:nvSpPr>
        <p:spPr>
          <a:xfrm>
            <a:off x="7543800" y="2148840"/>
            <a:ext cx="1920240" cy="548640"/>
          </a:xfrm>
          <a:prstGeom prst="rect">
            <a:avLst/>
          </a:prstGeom>
          <a:noFill/>
        </p:spPr>
        <p:txBody>
          <a:bodyPr wrap="square">
            <a:spAutoFit/>
          </a:bodyPr>
          <a:lstStyle/>
          <a:p>
            <a:pPr algn="ctr">
              <a:defRPr sz="1000" b="0">
                <a:solidFill>
                  <a:srgbClr val="BBBBCC"/>
                </a:solidFill>
                <a:latin typeface="Calibri"/>
              </a:defRPr>
            </a:pPr>
            <a:r>
              <a:t>Manifest global JSON</a:t>
            </a:r>
            <a:br/>
            <a:r>
              <a:t>MD5 verificable</a:t>
            </a:r>
          </a:p>
        </p:txBody>
      </p:sp>
      <p:sp>
        <p:nvSpPr>
          <p:cNvPr id="26" name="TextBox 25"/>
          <p:cNvSpPr txBox="1"/>
          <p:nvPr/>
        </p:nvSpPr>
        <p:spPr>
          <a:xfrm>
            <a:off x="9555480" y="1920240"/>
            <a:ext cx="274320" cy="457200"/>
          </a:xfrm>
          <a:prstGeom prst="rect">
            <a:avLst/>
          </a:prstGeom>
          <a:noFill/>
        </p:spPr>
        <p:txBody>
          <a:bodyPr wrap="square">
            <a:spAutoFit/>
          </a:bodyPr>
          <a:lstStyle/>
          <a:p>
            <a:pPr algn="ctr">
              <a:defRPr sz="2400" b="1">
                <a:solidFill>
                  <a:srgbClr val="666688"/>
                </a:solidFill>
                <a:latin typeface="Calibri"/>
              </a:defRPr>
            </a:pPr>
            <a:r>
              <a:t>→</a:t>
            </a:r>
          </a:p>
        </p:txBody>
      </p:sp>
      <p:sp>
        <p:nvSpPr>
          <p:cNvPr id="27" name="Rectangle 26"/>
          <p:cNvSpPr/>
          <p:nvPr/>
        </p:nvSpPr>
        <p:spPr>
          <a:xfrm>
            <a:off x="9784080" y="1645920"/>
            <a:ext cx="2103120" cy="1188720"/>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784080" y="1645920"/>
            <a:ext cx="2103120" cy="45720"/>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875520" y="1783080"/>
            <a:ext cx="1920240" cy="365760"/>
          </a:xfrm>
          <a:prstGeom prst="rect">
            <a:avLst/>
          </a:prstGeom>
          <a:noFill/>
        </p:spPr>
        <p:txBody>
          <a:bodyPr wrap="square">
            <a:spAutoFit/>
          </a:bodyPr>
          <a:lstStyle/>
          <a:p>
            <a:pPr algn="ctr">
              <a:defRPr sz="1200" b="1">
                <a:solidFill>
                  <a:srgbClr val="00E676"/>
                </a:solidFill>
                <a:latin typeface="Calibri"/>
              </a:defRPr>
            </a:pPr>
            <a:r>
              <a:t>generar_dataset</a:t>
            </a:r>
            <a:br/>
            <a:r>
              <a:t>_sit2_*.py</a:t>
            </a:r>
          </a:p>
        </p:txBody>
      </p:sp>
      <p:sp>
        <p:nvSpPr>
          <p:cNvPr id="30" name="TextBox 29"/>
          <p:cNvSpPr txBox="1"/>
          <p:nvPr/>
        </p:nvSpPr>
        <p:spPr>
          <a:xfrm>
            <a:off x="9875520" y="2148840"/>
            <a:ext cx="1920240" cy="548640"/>
          </a:xfrm>
          <a:prstGeom prst="rect">
            <a:avLst/>
          </a:prstGeom>
          <a:noFill/>
        </p:spPr>
        <p:txBody>
          <a:bodyPr wrap="square">
            <a:spAutoFit/>
          </a:bodyPr>
          <a:lstStyle/>
          <a:p>
            <a:pPr algn="ctr">
              <a:defRPr sz="1000" b="0">
                <a:solidFill>
                  <a:srgbClr val="BBBBCC"/>
                </a:solidFill>
                <a:latin typeface="Calibri"/>
              </a:defRPr>
            </a:pPr>
            <a:r>
              <a:t>Pares imagen-texto</a:t>
            </a:r>
            <a:br/>
            <a:r>
              <a:t>Split 70/15/15</a:t>
            </a:r>
          </a:p>
        </p:txBody>
      </p:sp>
      <p:sp>
        <p:nvSpPr>
          <p:cNvPr id="31" name="TextBox 30"/>
          <p:cNvSpPr txBox="1"/>
          <p:nvPr/>
        </p:nvSpPr>
        <p:spPr>
          <a:xfrm>
            <a:off x="731520" y="3200400"/>
            <a:ext cx="4572000" cy="365760"/>
          </a:xfrm>
          <a:prstGeom prst="rect">
            <a:avLst/>
          </a:prstGeom>
          <a:noFill/>
        </p:spPr>
        <p:txBody>
          <a:bodyPr wrap="square">
            <a:spAutoFit/>
          </a:bodyPr>
          <a:lstStyle/>
          <a:p>
            <a:pPr algn="l">
              <a:defRPr sz="1600" b="1">
                <a:solidFill>
                  <a:srgbClr val="009DFF"/>
                </a:solidFill>
                <a:latin typeface="Calibri"/>
              </a:defRPr>
            </a:pPr>
            <a:r>
              <a:t>Arquitectura de procesamiento</a:t>
            </a:r>
          </a:p>
        </p:txBody>
      </p:sp>
      <p:sp>
        <p:nvSpPr>
          <p:cNvPr id="32" name="TextBox 31"/>
          <p:cNvSpPr txBox="1"/>
          <p:nvPr/>
        </p:nvSpPr>
        <p:spPr>
          <a:xfrm>
            <a:off x="731520" y="3657600"/>
            <a:ext cx="5029200" cy="2743200"/>
          </a:xfrm>
          <a:prstGeom prst="rect">
            <a:avLst/>
          </a:prstGeom>
          <a:noFill/>
        </p:spPr>
        <p:txBody>
          <a:bodyPr wrap="square">
            <a:spAutoFit/>
          </a:bodyPr>
          <a:lstStyle/>
          <a:p>
            <a:pPr>
              <a:spcAft>
                <a:spcPts val="480"/>
              </a:spcAft>
              <a:defRPr sz="1200">
                <a:solidFill>
                  <a:srgbClr val="BBBBCC"/>
                </a:solidFill>
                <a:latin typeface="Calibri"/>
              </a:defRPr>
            </a:pPr>
            <a:r>
              <a:t>Zona 1 — GEE: Consultas lazy con xee, filtros espacial/temporal/nubes</a:t>
            </a:r>
          </a:p>
          <a:p>
            <a:pPr>
              <a:spcAft>
                <a:spcPts val="480"/>
              </a:spcAft>
              <a:defRPr sz="1200">
                <a:solidFill>
                  <a:srgbClr val="BBBBCC"/>
                </a:solidFill>
                <a:latin typeface="Calibri"/>
              </a:defRPr>
            </a:pPr>
            <a:r>
              <a:t>Zona 2 — Dask LocalCluster: 4 workers × 2 threads, 8 GB RAM</a:t>
            </a:r>
          </a:p>
          <a:p>
            <a:pPr>
              <a:spcAft>
                <a:spcPts val="480"/>
              </a:spcAft>
              <a:defRPr sz="1200">
                <a:solidFill>
                  <a:srgbClr val="BBBBCC"/>
                </a:solidFill>
                <a:latin typeface="Calibri"/>
              </a:defRPr>
            </a:pPr>
            <a:r>
              <a:t>  Paralelización por: banda espectral, chunking mensual, tile</a:t>
            </a:r>
          </a:p>
          <a:p>
            <a:pPr>
              <a:spcAft>
                <a:spcPts val="480"/>
              </a:spcAft>
              <a:defRPr sz="1200">
                <a:solidFill>
                  <a:srgbClr val="BBBBCC"/>
                </a:solidFill>
                <a:latin typeface="Calibri"/>
              </a:defRPr>
            </a:pPr>
            <a:r>
              <a:t>Zona 3 — GCS: Capa Raw (GeoTIFF) → Intermedia (Zarr) → Consumo (Parquet)</a:t>
            </a:r>
          </a:p>
          <a:p>
            <a:pPr>
              <a:spcAft>
                <a:spcPts val="480"/>
              </a:spcAft>
              <a:defRPr sz="1200">
                <a:solidFill>
                  <a:srgbClr val="BBBBCC"/>
                </a:solidFill>
                <a:latin typeface="Calibri"/>
              </a:defRPr>
            </a:pPr>
            <a:r>
              <a:t>Zona 4 — Gobernanza: runs/ con log.txt, eventos.jsonl, system.json</a:t>
            </a:r>
          </a:p>
          <a:p>
            <a:pPr>
              <a:spcAft>
                <a:spcPts val="480"/>
              </a:spcAft>
              <a:defRPr sz="1200">
                <a:solidFill>
                  <a:srgbClr val="BBBBCC"/>
                </a:solidFill>
                <a:latin typeface="Calibri"/>
              </a:defRPr>
            </a:pPr>
          </a:p>
          <a:p>
            <a:pPr>
              <a:spcAft>
                <a:spcPts val="480"/>
              </a:spcAft>
              <a:defRPr sz="1200">
                <a:solidFill>
                  <a:srgbClr val="BBBBCC"/>
                </a:solidFill>
                <a:latin typeface="Calibri"/>
              </a:defRPr>
            </a:pPr>
            <a:r>
              <a:t>Módulos CLI: --todas, --fuente no2, --anio 2023</a:t>
            </a:r>
          </a:p>
        </p:txBody>
      </p:sp>
      <p:sp>
        <p:nvSpPr>
          <p:cNvPr id="33" name="TextBox 32"/>
          <p:cNvSpPr txBox="1"/>
          <p:nvPr/>
        </p:nvSpPr>
        <p:spPr>
          <a:xfrm>
            <a:off x="6400800" y="3200400"/>
            <a:ext cx="5029200" cy="365760"/>
          </a:xfrm>
          <a:prstGeom prst="rect">
            <a:avLst/>
          </a:prstGeom>
          <a:noFill/>
        </p:spPr>
        <p:txBody>
          <a:bodyPr wrap="square">
            <a:spAutoFit/>
          </a:bodyPr>
          <a:lstStyle/>
          <a:p>
            <a:pPr algn="l">
              <a:defRPr sz="1600" b="1">
                <a:solidFill>
                  <a:srgbClr val="FF8C00"/>
                </a:solidFill>
                <a:latin typeface="Calibri"/>
              </a:defRPr>
            </a:pPr>
            <a:r>
              <a:t>Cuellos de botella identificados</a:t>
            </a:r>
          </a:p>
        </p:txBody>
      </p:sp>
      <p:sp>
        <p:nvSpPr>
          <p:cNvPr id="34" name="TextBox 33"/>
          <p:cNvSpPr txBox="1"/>
          <p:nvPr/>
        </p:nvSpPr>
        <p:spPr>
          <a:xfrm>
            <a:off x="6400800" y="3657600"/>
            <a:ext cx="5303520" cy="2743200"/>
          </a:xfrm>
          <a:prstGeom prst="rect">
            <a:avLst/>
          </a:prstGeom>
          <a:noFill/>
        </p:spPr>
        <p:txBody>
          <a:bodyPr wrap="square">
            <a:spAutoFit/>
          </a:bodyPr>
          <a:lstStyle/>
          <a:p>
            <a:pPr>
              <a:spcAft>
                <a:spcPts val="600"/>
              </a:spcAft>
              <a:defRPr sz="1100">
                <a:solidFill>
                  <a:srgbClr val="BBBBCC"/>
                </a:solidFill>
                <a:latin typeface="Calibri"/>
              </a:defRPr>
            </a:pPr>
            <a:r>
              <a:t>  ▸  Autenticación GEE en workers Dask (inicialización individual frágil)</a:t>
            </a:r>
          </a:p>
          <a:p>
            <a:pPr>
              <a:spcAft>
                <a:spcPts val="600"/>
              </a:spcAft>
              <a:defRPr sz="1100">
                <a:solidFill>
                  <a:srgbClr val="BBBBCC"/>
                </a:solidFill>
                <a:latin typeface="Calibri"/>
              </a:defRPr>
            </a:pPr>
            <a:r>
              <a:t>  ▸  Límite exportación GEE: 30 GB/día → chunking mensual</a:t>
            </a:r>
          </a:p>
          <a:p>
            <a:pPr>
              <a:spcAft>
                <a:spcPts val="600"/>
              </a:spcAft>
              <a:defRPr sz="1100">
                <a:solidFill>
                  <a:srgbClr val="BBBBCC"/>
                </a:solidFill>
                <a:latin typeface="Calibri"/>
              </a:defRPr>
            </a:pPr>
            <a:r>
              <a:t>  ▸  Nubosidad tropical: 67% de imágenes S2 descartadas</a:t>
            </a:r>
          </a:p>
          <a:p>
            <a:pPr>
              <a:spcAft>
                <a:spcPts val="600"/>
              </a:spcAft>
              <a:defRPr sz="1100">
                <a:solidFill>
                  <a:srgbClr val="BBBBCC"/>
                </a:solidFill>
                <a:latin typeface="Calibri"/>
              </a:defRPr>
            </a:pPr>
            <a:r>
              <a:t>  ▸  Cobertura DAGMA limitada: NO₂ solo en Univalle (69%)</a:t>
            </a:r>
          </a:p>
          <a:p>
            <a:pPr>
              <a:spcAft>
                <a:spcPts val="600"/>
              </a:spcAft>
              <a:defRPr sz="1100">
                <a:solidFill>
                  <a:srgbClr val="BBBBCC"/>
                </a:solidFill>
                <a:latin typeface="Calibri"/>
              </a:defRPr>
            </a:pPr>
            <a:r>
              <a:t>  ▸  Parseo de nombres S5P (timestamp en string del gránulo)</a:t>
            </a:r>
          </a:p>
          <a:p>
            <a:pPr>
              <a:spcAft>
                <a:spcPts val="600"/>
              </a:spcAft>
              <a:defRPr sz="1100">
                <a:solidFill>
                  <a:srgbClr val="BBBBCC"/>
                </a:solidFill>
                <a:latin typeface="Calibri"/>
              </a:defRPr>
            </a:pPr>
            <a:r>
              <a:t>  ▸  Cuota GEE tier no comercial limitó agregaciones MODIS/ERA5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9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548640" cy="457200"/>
          </a:xfrm>
          <a:prstGeom prst="rect">
            <a:avLst/>
          </a:prstGeom>
          <a:noFill/>
        </p:spPr>
        <p:txBody>
          <a:bodyPr wrap="square">
            <a:spAutoFit/>
          </a:bodyPr>
          <a:lstStyle/>
          <a:p>
            <a:pPr algn="l">
              <a:defRPr sz="2800" b="1">
                <a:solidFill>
                  <a:srgbClr val="009DFF"/>
                </a:solidFill>
                <a:latin typeface="Calibri"/>
              </a:defRPr>
            </a:pPr>
            <a:r>
              <a:t>06</a:t>
            </a:r>
          </a:p>
        </p:txBody>
      </p:sp>
      <p:sp>
        <p:nvSpPr>
          <p:cNvPr id="4" name="TextBox 3"/>
          <p:cNvSpPr txBox="1"/>
          <p:nvPr/>
        </p:nvSpPr>
        <p:spPr>
          <a:xfrm>
            <a:off x="1188720" y="274320"/>
            <a:ext cx="9144000" cy="457200"/>
          </a:xfrm>
          <a:prstGeom prst="rect">
            <a:avLst/>
          </a:prstGeom>
          <a:noFill/>
        </p:spPr>
        <p:txBody>
          <a:bodyPr wrap="square">
            <a:spAutoFit/>
          </a:bodyPr>
          <a:lstStyle/>
          <a:p>
            <a:pPr algn="l">
              <a:defRPr sz="2800" b="1">
                <a:solidFill>
                  <a:srgbClr val="FFFFFF"/>
                </a:solidFill>
                <a:latin typeface="Calibri"/>
              </a:defRPr>
            </a:pPr>
            <a:r>
              <a:t>EDA: Hallazgos Principales</a:t>
            </a:r>
          </a:p>
        </p:txBody>
      </p:sp>
      <p:sp>
        <p:nvSpPr>
          <p:cNvPr id="5" name="TextBox 4"/>
          <p:cNvSpPr txBox="1"/>
          <p:nvPr/>
        </p:nvSpPr>
        <p:spPr>
          <a:xfrm>
            <a:off x="1188720" y="685800"/>
            <a:ext cx="9144000" cy="365760"/>
          </a:xfrm>
          <a:prstGeom prst="rect">
            <a:avLst/>
          </a:prstGeom>
          <a:noFill/>
        </p:spPr>
        <p:txBody>
          <a:bodyPr wrap="square">
            <a:spAutoFit/>
          </a:bodyPr>
          <a:lstStyle/>
          <a:p>
            <a:pPr algn="l">
              <a:defRPr sz="1400" b="0">
                <a:solidFill>
                  <a:srgbClr val="666688"/>
                </a:solidFill>
                <a:latin typeface="Calibri"/>
              </a:defRPr>
            </a:pPr>
            <a:r>
              <a:t>5 notebooks · 30+ visualizaciones · 7 fuentes</a:t>
            </a:r>
          </a:p>
        </p:txBody>
      </p:sp>
      <p:sp>
        <p:nvSpPr>
          <p:cNvPr id="6" name="Rectangle 5"/>
          <p:cNvSpPr/>
          <p:nvPr/>
        </p:nvSpPr>
        <p:spPr>
          <a:xfrm>
            <a:off x="548640" y="1051560"/>
            <a:ext cx="11064240" cy="9144"/>
          </a:xfrm>
          <a:prstGeom prst="rect">
            <a:avLst/>
          </a:prstGeom>
          <a:solidFill>
            <a:srgbClr val="2233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371600"/>
            <a:ext cx="5486400" cy="1097280"/>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371600"/>
            <a:ext cx="54864" cy="1097280"/>
          </a:xfrm>
          <a:prstGeom prst="rect">
            <a:avLst/>
          </a:prstGeom>
          <a:solidFill>
            <a:srgbClr val="FF3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17320"/>
            <a:ext cx="5029200" cy="274320"/>
          </a:xfrm>
          <a:prstGeom prst="rect">
            <a:avLst/>
          </a:prstGeom>
          <a:noFill/>
        </p:spPr>
        <p:txBody>
          <a:bodyPr wrap="square">
            <a:spAutoFit/>
          </a:bodyPr>
          <a:lstStyle/>
          <a:p>
            <a:pPr algn="l">
              <a:defRPr sz="1300" b="1">
                <a:solidFill>
                  <a:srgbClr val="FF3D5A"/>
                </a:solidFill>
                <a:latin typeface="Calibri"/>
              </a:defRPr>
            </a:pPr>
            <a:r>
              <a:t>Nubosidad crítica</a:t>
            </a:r>
          </a:p>
        </p:txBody>
      </p:sp>
      <p:sp>
        <p:nvSpPr>
          <p:cNvPr id="10" name="TextBox 9"/>
          <p:cNvSpPr txBox="1"/>
          <p:nvPr/>
        </p:nvSpPr>
        <p:spPr>
          <a:xfrm>
            <a:off x="731520" y="1691640"/>
            <a:ext cx="5029200" cy="731520"/>
          </a:xfrm>
          <a:prstGeom prst="rect">
            <a:avLst/>
          </a:prstGeom>
          <a:noFill/>
        </p:spPr>
        <p:txBody>
          <a:bodyPr wrap="square">
            <a:spAutoFit/>
          </a:bodyPr>
          <a:lstStyle/>
          <a:p>
            <a:pPr algn="l">
              <a:defRPr sz="1000" b="0">
                <a:solidFill>
                  <a:srgbClr val="BBBBCC"/>
                </a:solidFill>
                <a:latin typeface="Calibri"/>
              </a:defRPr>
            </a:pPr>
            <a:r>
              <a:t>Solo 32.9% de escenas S2 y 7-25% de píxeles S5P son válidos. La tropicalidad limita severamente la disponibilidad óptica.</a:t>
            </a:r>
          </a:p>
        </p:txBody>
      </p:sp>
      <p:sp>
        <p:nvSpPr>
          <p:cNvPr id="11" name="Rectangle 10"/>
          <p:cNvSpPr/>
          <p:nvPr/>
        </p:nvSpPr>
        <p:spPr>
          <a:xfrm>
            <a:off x="6309360" y="1371600"/>
            <a:ext cx="5486400" cy="1097280"/>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9360" y="1371600"/>
            <a:ext cx="54864" cy="1097280"/>
          </a:xfrm>
          <a:prstGeom prst="rect">
            <a:avLst/>
          </a:prstGeom>
          <a:solidFill>
            <a:srgbClr val="009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1417320"/>
            <a:ext cx="5029200" cy="274320"/>
          </a:xfrm>
          <a:prstGeom prst="rect">
            <a:avLst/>
          </a:prstGeom>
          <a:noFill/>
        </p:spPr>
        <p:txBody>
          <a:bodyPr wrap="square">
            <a:spAutoFit/>
          </a:bodyPr>
          <a:lstStyle/>
          <a:p>
            <a:pPr algn="l">
              <a:defRPr sz="1300" b="1">
                <a:solidFill>
                  <a:srgbClr val="009DFF"/>
                </a:solidFill>
                <a:latin typeface="Calibri"/>
              </a:defRPr>
            </a:pPr>
            <a:r>
              <a:t>Índices espectrales</a:t>
            </a:r>
          </a:p>
        </p:txBody>
      </p:sp>
      <p:sp>
        <p:nvSpPr>
          <p:cNvPr id="14" name="TextBox 13"/>
          <p:cNvSpPr txBox="1"/>
          <p:nvPr/>
        </p:nvSpPr>
        <p:spPr>
          <a:xfrm>
            <a:off x="6492240" y="1691640"/>
            <a:ext cx="5029200" cy="731520"/>
          </a:xfrm>
          <a:prstGeom prst="rect">
            <a:avLst/>
          </a:prstGeom>
          <a:noFill/>
        </p:spPr>
        <p:txBody>
          <a:bodyPr wrap="square">
            <a:spAutoFit/>
          </a:bodyPr>
          <a:lstStyle/>
          <a:p>
            <a:pPr algn="l">
              <a:defRPr sz="1000" b="0">
                <a:solidFill>
                  <a:srgbClr val="BBBBCC"/>
                </a:solidFill>
                <a:latin typeface="Calibri"/>
              </a:defRPr>
            </a:pPr>
            <a:r>
              <a:t>BSI y NDBI confirman alta proporción de suelo desnudo en Yumbo-Acopi. NDVI diferencia zonas industrial (0.1-0.2), urbana (0.3-0.5) y rural (0.6-0.8).</a:t>
            </a:r>
          </a:p>
        </p:txBody>
      </p:sp>
      <p:sp>
        <p:nvSpPr>
          <p:cNvPr id="15" name="Rectangle 14"/>
          <p:cNvSpPr/>
          <p:nvPr/>
        </p:nvSpPr>
        <p:spPr>
          <a:xfrm>
            <a:off x="548640" y="2651760"/>
            <a:ext cx="5486400" cy="1097280"/>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651760"/>
            <a:ext cx="54864" cy="109728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2697480"/>
            <a:ext cx="5029200" cy="274320"/>
          </a:xfrm>
          <a:prstGeom prst="rect">
            <a:avLst/>
          </a:prstGeom>
          <a:noFill/>
        </p:spPr>
        <p:txBody>
          <a:bodyPr wrap="square">
            <a:spAutoFit/>
          </a:bodyPr>
          <a:lstStyle/>
          <a:p>
            <a:pPr algn="l">
              <a:defRPr sz="1300" b="1">
                <a:solidFill>
                  <a:srgbClr val="FF8C00"/>
                </a:solidFill>
                <a:latin typeface="Calibri"/>
              </a:defRPr>
            </a:pPr>
            <a:r>
              <a:t>Hotspot de aerosoles</a:t>
            </a:r>
          </a:p>
        </p:txBody>
      </p:sp>
      <p:sp>
        <p:nvSpPr>
          <p:cNvPr id="18" name="TextBox 17"/>
          <p:cNvSpPr txBox="1"/>
          <p:nvPr/>
        </p:nvSpPr>
        <p:spPr>
          <a:xfrm>
            <a:off x="731520" y="2971800"/>
            <a:ext cx="5029200" cy="731520"/>
          </a:xfrm>
          <a:prstGeom prst="rect">
            <a:avLst/>
          </a:prstGeom>
          <a:noFill/>
        </p:spPr>
        <p:txBody>
          <a:bodyPr wrap="square">
            <a:spAutoFit/>
          </a:bodyPr>
          <a:lstStyle/>
          <a:p>
            <a:pPr algn="l">
              <a:defRPr sz="1000" b="0">
                <a:solidFill>
                  <a:srgbClr val="BBBBCC"/>
                </a:solidFill>
                <a:latin typeface="Calibri"/>
              </a:defRPr>
            </a:pPr>
            <a:r>
              <a:t>Corredor Yumbo-Acopi con AOD ∼0.12 superior al promedio urbano (MODIS MCD19A2). Coincide con fuentes industriales.</a:t>
            </a:r>
          </a:p>
        </p:txBody>
      </p:sp>
      <p:sp>
        <p:nvSpPr>
          <p:cNvPr id="19" name="Rectangle 18"/>
          <p:cNvSpPr/>
          <p:nvPr/>
        </p:nvSpPr>
        <p:spPr>
          <a:xfrm>
            <a:off x="6309360" y="2651760"/>
            <a:ext cx="5486400" cy="1097280"/>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9360" y="2651760"/>
            <a:ext cx="54864" cy="1097280"/>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2697480"/>
            <a:ext cx="5029200" cy="274320"/>
          </a:xfrm>
          <a:prstGeom prst="rect">
            <a:avLst/>
          </a:prstGeom>
          <a:noFill/>
        </p:spPr>
        <p:txBody>
          <a:bodyPr wrap="square">
            <a:spAutoFit/>
          </a:bodyPr>
          <a:lstStyle/>
          <a:p>
            <a:pPr algn="l">
              <a:defRPr sz="1300" b="1">
                <a:solidFill>
                  <a:srgbClr val="00E676"/>
                </a:solidFill>
                <a:latin typeface="Calibri"/>
              </a:defRPr>
            </a:pPr>
            <a:r>
              <a:t>BLH: predictor clave</a:t>
            </a:r>
          </a:p>
        </p:txBody>
      </p:sp>
      <p:sp>
        <p:nvSpPr>
          <p:cNvPr id="22" name="TextBox 21"/>
          <p:cNvSpPr txBox="1"/>
          <p:nvPr/>
        </p:nvSpPr>
        <p:spPr>
          <a:xfrm>
            <a:off x="6492240" y="2971800"/>
            <a:ext cx="5029200" cy="731520"/>
          </a:xfrm>
          <a:prstGeom prst="rect">
            <a:avLst/>
          </a:prstGeom>
          <a:noFill/>
        </p:spPr>
        <p:txBody>
          <a:bodyPr wrap="square">
            <a:spAutoFit/>
          </a:bodyPr>
          <a:lstStyle/>
          <a:p>
            <a:pPr algn="l">
              <a:defRPr sz="1000" b="0">
                <a:solidFill>
                  <a:srgbClr val="BBBBCC"/>
                </a:solidFill>
                <a:latin typeface="Calibri"/>
              </a:defRPr>
            </a:pPr>
            <a:r>
              <a:t>r = -0.52 con NO₂. La altura de capa límite modula la dispersión vertical de contaminantes. Covariable más predictiva.</a:t>
            </a:r>
          </a:p>
        </p:txBody>
      </p:sp>
      <p:sp>
        <p:nvSpPr>
          <p:cNvPr id="23" name="Rectangle 22"/>
          <p:cNvSpPr/>
          <p:nvPr/>
        </p:nvSpPr>
        <p:spPr>
          <a:xfrm>
            <a:off x="548640" y="3931920"/>
            <a:ext cx="5486400" cy="1097280"/>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3931920"/>
            <a:ext cx="54864" cy="1097280"/>
          </a:xfrm>
          <a:prstGeom prst="rect">
            <a:avLst/>
          </a:prstGeom>
          <a:solidFill>
            <a:srgbClr val="009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3977640"/>
            <a:ext cx="5029200" cy="274320"/>
          </a:xfrm>
          <a:prstGeom prst="rect">
            <a:avLst/>
          </a:prstGeom>
          <a:noFill/>
        </p:spPr>
        <p:txBody>
          <a:bodyPr wrap="square">
            <a:spAutoFit/>
          </a:bodyPr>
          <a:lstStyle/>
          <a:p>
            <a:pPr algn="l">
              <a:defRPr sz="1300" b="1">
                <a:solidFill>
                  <a:srgbClr val="009DFF"/>
                </a:solidFill>
                <a:latin typeface="Calibri"/>
              </a:defRPr>
            </a:pPr>
            <a:r>
              <a:t>Tendencia COVID-19</a:t>
            </a:r>
          </a:p>
        </p:txBody>
      </p:sp>
      <p:sp>
        <p:nvSpPr>
          <p:cNvPr id="26" name="TextBox 25"/>
          <p:cNvSpPr txBox="1"/>
          <p:nvPr/>
        </p:nvSpPr>
        <p:spPr>
          <a:xfrm>
            <a:off x="731520" y="4251960"/>
            <a:ext cx="5029200" cy="731520"/>
          </a:xfrm>
          <a:prstGeom prst="rect">
            <a:avLst/>
          </a:prstGeom>
          <a:noFill/>
        </p:spPr>
        <p:txBody>
          <a:bodyPr wrap="square">
            <a:spAutoFit/>
          </a:bodyPr>
          <a:lstStyle/>
          <a:p>
            <a:pPr algn="l">
              <a:defRPr sz="1000" b="0">
                <a:solidFill>
                  <a:srgbClr val="BBBBCC"/>
                </a:solidFill>
                <a:latin typeface="Calibri"/>
              </a:defRPr>
            </a:pPr>
            <a:r>
              <a:t>Caída del 18% en NO₂ durante 2020, recuperación al 92% del nivel prepandemia en 2023.</a:t>
            </a:r>
          </a:p>
        </p:txBody>
      </p:sp>
      <p:sp>
        <p:nvSpPr>
          <p:cNvPr id="27" name="Rectangle 26"/>
          <p:cNvSpPr/>
          <p:nvPr/>
        </p:nvSpPr>
        <p:spPr>
          <a:xfrm>
            <a:off x="6309360" y="3931920"/>
            <a:ext cx="5486400" cy="1097280"/>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309360" y="3931920"/>
            <a:ext cx="54864" cy="109728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92240" y="3977640"/>
            <a:ext cx="5029200" cy="274320"/>
          </a:xfrm>
          <a:prstGeom prst="rect">
            <a:avLst/>
          </a:prstGeom>
          <a:noFill/>
        </p:spPr>
        <p:txBody>
          <a:bodyPr wrap="square">
            <a:spAutoFit/>
          </a:bodyPr>
          <a:lstStyle/>
          <a:p>
            <a:pPr algn="l">
              <a:defRPr sz="1300" b="1">
                <a:solidFill>
                  <a:srgbClr val="FF8C00"/>
                </a:solidFill>
                <a:latin typeface="Calibri"/>
              </a:defRPr>
            </a:pPr>
            <a:r>
              <a:t>Correlaciones entre contaminantes</a:t>
            </a:r>
          </a:p>
        </p:txBody>
      </p:sp>
      <p:sp>
        <p:nvSpPr>
          <p:cNvPr id="30" name="TextBox 29"/>
          <p:cNvSpPr txBox="1"/>
          <p:nvPr/>
        </p:nvSpPr>
        <p:spPr>
          <a:xfrm>
            <a:off x="6492240" y="4251960"/>
            <a:ext cx="5029200" cy="731520"/>
          </a:xfrm>
          <a:prstGeom prst="rect">
            <a:avLst/>
          </a:prstGeom>
          <a:noFill/>
        </p:spPr>
        <p:txBody>
          <a:bodyPr wrap="square">
            <a:spAutoFit/>
          </a:bodyPr>
          <a:lstStyle/>
          <a:p>
            <a:pPr algn="l">
              <a:defRPr sz="1000" b="0">
                <a:solidFill>
                  <a:srgbClr val="BBBBCC"/>
                </a:solidFill>
                <a:latin typeface="Calibri"/>
              </a:defRPr>
            </a:pPr>
            <a:r>
              <a:t>NO₂-O₃: r = -0.42 (titulación fotoquímica). NO₂-SO₂: r = 0.38 (fuentes compartidas: transporte + industria).</a:t>
            </a:r>
          </a:p>
        </p:txBody>
      </p:sp>
      <p:sp>
        <p:nvSpPr>
          <p:cNvPr id="31" name="Rectangle 30"/>
          <p:cNvSpPr/>
          <p:nvPr/>
        </p:nvSpPr>
        <p:spPr>
          <a:xfrm>
            <a:off x="548640" y="5212080"/>
            <a:ext cx="5486400" cy="1097280"/>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48640" y="5212080"/>
            <a:ext cx="54864" cy="1097280"/>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5257800"/>
            <a:ext cx="5029200" cy="274320"/>
          </a:xfrm>
          <a:prstGeom prst="rect">
            <a:avLst/>
          </a:prstGeom>
          <a:noFill/>
        </p:spPr>
        <p:txBody>
          <a:bodyPr wrap="square">
            <a:spAutoFit/>
          </a:bodyPr>
          <a:lstStyle/>
          <a:p>
            <a:pPr algn="l">
              <a:defRPr sz="1300" b="1">
                <a:solidFill>
                  <a:srgbClr val="00E676"/>
                </a:solidFill>
                <a:latin typeface="Calibri"/>
              </a:defRPr>
            </a:pPr>
            <a:r>
              <a:t>Separabilidad espectral S2</a:t>
            </a:r>
          </a:p>
        </p:txBody>
      </p:sp>
      <p:sp>
        <p:nvSpPr>
          <p:cNvPr id="34" name="TextBox 33"/>
          <p:cNvSpPr txBox="1"/>
          <p:nvPr/>
        </p:nvSpPr>
        <p:spPr>
          <a:xfrm>
            <a:off x="731520" y="5532120"/>
            <a:ext cx="5029200" cy="731520"/>
          </a:xfrm>
          <a:prstGeom prst="rect">
            <a:avLst/>
          </a:prstGeom>
          <a:noFill/>
        </p:spPr>
        <p:txBody>
          <a:bodyPr wrap="square">
            <a:spAutoFit/>
          </a:bodyPr>
          <a:lstStyle/>
          <a:p>
            <a:pPr algn="l">
              <a:defRPr sz="1000" b="0">
                <a:solidFill>
                  <a:srgbClr val="BBBBCC"/>
                </a:solidFill>
                <a:latin typeface="Calibri"/>
              </a:defRPr>
            </a:pPr>
            <a:r>
              <a:t>Bandas NIR (B8) y SWIR (B11-B12) discriminan 4 clases de cobertura. Diferencia 0.12-0.18 uds. de reflectancia en B8 entre clases.</a:t>
            </a:r>
          </a:p>
        </p:txBody>
      </p:sp>
      <p:sp>
        <p:nvSpPr>
          <p:cNvPr id="35" name="Rectangle 34"/>
          <p:cNvSpPr/>
          <p:nvPr/>
        </p:nvSpPr>
        <p:spPr>
          <a:xfrm>
            <a:off x="6309360" y="5212080"/>
            <a:ext cx="5486400" cy="1097280"/>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309360" y="5212080"/>
            <a:ext cx="54864" cy="1097280"/>
          </a:xfrm>
          <a:prstGeom prst="rect">
            <a:avLst/>
          </a:prstGeom>
          <a:solidFill>
            <a:srgbClr val="FF3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92240" y="5257800"/>
            <a:ext cx="5029200" cy="274320"/>
          </a:xfrm>
          <a:prstGeom prst="rect">
            <a:avLst/>
          </a:prstGeom>
          <a:noFill/>
        </p:spPr>
        <p:txBody>
          <a:bodyPr wrap="square">
            <a:spAutoFit/>
          </a:bodyPr>
          <a:lstStyle/>
          <a:p>
            <a:pPr algn="l">
              <a:defRPr sz="1300" b="1">
                <a:solidFill>
                  <a:srgbClr val="FF3D5A"/>
                </a:solidFill>
                <a:latin typeface="Calibri"/>
              </a:defRPr>
            </a:pPr>
            <a:r>
              <a:t>DAGMA limitado</a:t>
            </a:r>
          </a:p>
        </p:txBody>
      </p:sp>
      <p:sp>
        <p:nvSpPr>
          <p:cNvPr id="38" name="TextBox 37"/>
          <p:cNvSpPr txBox="1"/>
          <p:nvPr/>
        </p:nvSpPr>
        <p:spPr>
          <a:xfrm>
            <a:off x="6492240" y="5532120"/>
            <a:ext cx="5029200" cy="731520"/>
          </a:xfrm>
          <a:prstGeom prst="rect">
            <a:avLst/>
          </a:prstGeom>
          <a:noFill/>
        </p:spPr>
        <p:txBody>
          <a:bodyPr wrap="square">
            <a:spAutoFit/>
          </a:bodyPr>
          <a:lstStyle/>
          <a:p>
            <a:pPr algn="l">
              <a:defRPr sz="1000" b="0">
                <a:solidFill>
                  <a:srgbClr val="BBBBCC"/>
                </a:solidFill>
                <a:latin typeface="Calibri"/>
              </a:defRPr>
            </a:pPr>
            <a:r>
              <a:t>NO₂ disponible solo en Univalle (69%). Datos SVCASC son predicciones de modelo, no mediciones directas. Ventana 2020-2023.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9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548640" cy="457200"/>
          </a:xfrm>
          <a:prstGeom prst="rect">
            <a:avLst/>
          </a:prstGeom>
          <a:noFill/>
        </p:spPr>
        <p:txBody>
          <a:bodyPr wrap="square">
            <a:spAutoFit/>
          </a:bodyPr>
          <a:lstStyle/>
          <a:p>
            <a:pPr algn="l">
              <a:defRPr sz="2800" b="1">
                <a:solidFill>
                  <a:srgbClr val="009DFF"/>
                </a:solidFill>
                <a:latin typeface="Calibri"/>
              </a:defRPr>
            </a:pPr>
            <a:r>
              <a:t>07</a:t>
            </a:r>
          </a:p>
        </p:txBody>
      </p:sp>
      <p:sp>
        <p:nvSpPr>
          <p:cNvPr id="4" name="TextBox 3"/>
          <p:cNvSpPr txBox="1"/>
          <p:nvPr/>
        </p:nvSpPr>
        <p:spPr>
          <a:xfrm>
            <a:off x="1188720" y="274320"/>
            <a:ext cx="9144000" cy="457200"/>
          </a:xfrm>
          <a:prstGeom prst="rect">
            <a:avLst/>
          </a:prstGeom>
          <a:noFill/>
        </p:spPr>
        <p:txBody>
          <a:bodyPr wrap="square">
            <a:spAutoFit/>
          </a:bodyPr>
          <a:lstStyle/>
          <a:p>
            <a:pPr algn="l">
              <a:defRPr sz="2800" b="1">
                <a:solidFill>
                  <a:srgbClr val="FFFFFF"/>
                </a:solidFill>
                <a:latin typeface="Calibri"/>
              </a:defRPr>
            </a:pPr>
            <a:r>
              <a:t>EDA: Sentinel-5P y Sentinel-2</a:t>
            </a:r>
          </a:p>
        </p:txBody>
      </p:sp>
      <p:sp>
        <p:nvSpPr>
          <p:cNvPr id="5" name="TextBox 4"/>
          <p:cNvSpPr txBox="1"/>
          <p:nvPr/>
        </p:nvSpPr>
        <p:spPr>
          <a:xfrm>
            <a:off x="1188720" y="685800"/>
            <a:ext cx="9144000" cy="365760"/>
          </a:xfrm>
          <a:prstGeom prst="rect">
            <a:avLst/>
          </a:prstGeom>
          <a:noFill/>
        </p:spPr>
        <p:txBody>
          <a:bodyPr wrap="square">
            <a:spAutoFit/>
          </a:bodyPr>
          <a:lstStyle/>
          <a:p>
            <a:pPr algn="l">
              <a:defRPr sz="1400" b="0">
                <a:solidFill>
                  <a:srgbClr val="666688"/>
                </a:solidFill>
                <a:latin typeface="Calibri"/>
              </a:defRPr>
            </a:pPr>
            <a:r>
              <a:t>Gases traza y covariables ópticas</a:t>
            </a:r>
          </a:p>
        </p:txBody>
      </p:sp>
      <p:sp>
        <p:nvSpPr>
          <p:cNvPr id="6" name="Rectangle 5"/>
          <p:cNvSpPr/>
          <p:nvPr/>
        </p:nvSpPr>
        <p:spPr>
          <a:xfrm>
            <a:off x="548640" y="1051560"/>
            <a:ext cx="11064240" cy="9144"/>
          </a:xfrm>
          <a:prstGeom prst="rect">
            <a:avLst/>
          </a:prstGeom>
          <a:solidFill>
            <a:srgbClr val="2233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371600"/>
            <a:ext cx="5029200" cy="365760"/>
          </a:xfrm>
          <a:prstGeom prst="rect">
            <a:avLst/>
          </a:prstGeom>
          <a:noFill/>
        </p:spPr>
        <p:txBody>
          <a:bodyPr wrap="square">
            <a:spAutoFit/>
          </a:bodyPr>
          <a:lstStyle/>
          <a:p>
            <a:pPr algn="l">
              <a:defRPr sz="1800" b="1">
                <a:solidFill>
                  <a:srgbClr val="009DFF"/>
                </a:solidFill>
                <a:latin typeface="Calibri"/>
              </a:defRPr>
            </a:pPr>
            <a:r>
              <a:t>Sentinel-5P TROPOMI</a:t>
            </a:r>
          </a:p>
        </p:txBody>
      </p:sp>
      <p:sp>
        <p:nvSpPr>
          <p:cNvPr id="8" name="TextBox 7"/>
          <p:cNvSpPr txBox="1"/>
          <p:nvPr/>
        </p:nvSpPr>
        <p:spPr>
          <a:xfrm>
            <a:off x="731520" y="1828800"/>
            <a:ext cx="5029200" cy="4114800"/>
          </a:xfrm>
          <a:prstGeom prst="rect">
            <a:avLst/>
          </a:prstGeom>
          <a:noFill/>
        </p:spPr>
        <p:txBody>
          <a:bodyPr wrap="square">
            <a:spAutoFit/>
          </a:bodyPr>
          <a:lstStyle/>
          <a:p>
            <a:pPr>
              <a:spcAft>
                <a:spcPts val="480"/>
              </a:spcAft>
              <a:defRPr sz="1200">
                <a:solidFill>
                  <a:srgbClr val="BBBBCC"/>
                </a:solidFill>
                <a:latin typeface="Calibri"/>
              </a:defRPr>
            </a:pPr>
            <a:r>
              <a:t>Colecciones analizadas:</a:t>
            </a:r>
          </a:p>
          <a:p>
            <a:pPr>
              <a:spcAft>
                <a:spcPts val="480"/>
              </a:spcAft>
              <a:defRPr sz="1200">
                <a:solidFill>
                  <a:srgbClr val="BBBBCC"/>
                </a:solidFill>
                <a:latin typeface="Calibri"/>
              </a:defRPr>
            </a:pPr>
            <a:r>
              <a:t>  • NO₂: 28,303 escenas (cobertura efectiva ~25%)</a:t>
            </a:r>
          </a:p>
          <a:p>
            <a:pPr>
              <a:spcAft>
                <a:spcPts val="480"/>
              </a:spcAft>
              <a:defRPr sz="1200">
                <a:solidFill>
                  <a:srgbClr val="BBBBCC"/>
                </a:solidFill>
                <a:latin typeface="Calibri"/>
              </a:defRPr>
            </a:pPr>
            <a:r>
              <a:t>  • SO₂: 26,280 escenas (cobertura efectiva ~53%)</a:t>
            </a:r>
          </a:p>
          <a:p>
            <a:pPr>
              <a:spcAft>
                <a:spcPts val="480"/>
              </a:spcAft>
              <a:defRPr sz="1200">
                <a:solidFill>
                  <a:srgbClr val="BBBBCC"/>
                </a:solidFill>
                <a:latin typeface="Calibri"/>
              </a:defRPr>
            </a:pPr>
            <a:r>
              <a:t>  • O₃:  25,798 escenas (cobertura efectiva ~7%)</a:t>
            </a:r>
          </a:p>
          <a:p>
            <a:pPr>
              <a:spcAft>
                <a:spcPts val="480"/>
              </a:spcAft>
              <a:defRPr sz="1200">
                <a:solidFill>
                  <a:srgbClr val="BBBBCC"/>
                </a:solidFill>
                <a:latin typeface="Calibri"/>
              </a:defRPr>
            </a:pPr>
          </a:p>
          <a:p>
            <a:pPr>
              <a:spcAft>
                <a:spcPts val="480"/>
              </a:spcAft>
              <a:defRPr sz="1200">
                <a:solidFill>
                  <a:srgbClr val="BBBBCC"/>
                </a:solidFill>
                <a:latin typeface="Calibri"/>
              </a:defRPr>
            </a:pPr>
            <a:r>
              <a:t>Cobertura diaria: Verde = dato presente; Blanco = sin dato</a:t>
            </a:r>
          </a:p>
          <a:p>
            <a:pPr>
              <a:spcAft>
                <a:spcPts val="480"/>
              </a:spcAft>
              <a:defRPr sz="1200">
                <a:solidFill>
                  <a:srgbClr val="BBBBCC"/>
                </a:solidFill>
                <a:latin typeface="Calibri"/>
              </a:defRPr>
            </a:pPr>
            <a:r>
              <a:t>Impacto severo de nubosidad tropical en recuperaciones TROPOMI</a:t>
            </a:r>
          </a:p>
          <a:p>
            <a:pPr>
              <a:spcAft>
                <a:spcPts val="480"/>
              </a:spcAft>
              <a:defRPr sz="1200">
                <a:solidFill>
                  <a:srgbClr val="BBBBCC"/>
                </a:solidFill>
                <a:latin typeface="Calibri"/>
              </a:defRPr>
            </a:pPr>
          </a:p>
          <a:p>
            <a:pPr>
              <a:spcAft>
                <a:spcPts val="480"/>
              </a:spcAft>
              <a:defRPr sz="1200">
                <a:solidFill>
                  <a:srgbClr val="BBBBCC"/>
                </a:solidFill>
                <a:latin typeface="Calibri"/>
              </a:defRPr>
            </a:pPr>
            <a:r>
              <a:t>Series temporales mensuales (2019-2023):</a:t>
            </a:r>
          </a:p>
          <a:p>
            <a:pPr>
              <a:spcAft>
                <a:spcPts val="480"/>
              </a:spcAft>
              <a:defRPr sz="1200">
                <a:solidFill>
                  <a:srgbClr val="BBBBCC"/>
                </a:solidFill>
                <a:latin typeface="Calibri"/>
              </a:defRPr>
            </a:pPr>
            <a:r>
              <a:t>  • Picos de NO₂ en jul-ago (temporada de quemas de caña)</a:t>
            </a:r>
          </a:p>
          <a:p>
            <a:pPr>
              <a:spcAft>
                <a:spcPts val="480"/>
              </a:spcAft>
              <a:defRPr sz="1200">
                <a:solidFill>
                  <a:srgbClr val="BBBBCC"/>
                </a:solidFill>
                <a:latin typeface="Calibri"/>
              </a:defRPr>
            </a:pPr>
            <a:r>
              <a:t>  • Caída 18% NO₂ en 2020 (COVID-19), recuperación al 92% en 2023</a:t>
            </a:r>
          </a:p>
          <a:p>
            <a:pPr>
              <a:spcAft>
                <a:spcPts val="480"/>
              </a:spcAft>
              <a:defRPr sz="1200">
                <a:solidFill>
                  <a:srgbClr val="BBBBCC"/>
                </a:solidFill>
                <a:latin typeface="Calibri"/>
              </a:defRPr>
            </a:pPr>
            <a:r>
              <a:t>  • NO₂-O₃: correlación negativa (r = -0.42)</a:t>
            </a:r>
          </a:p>
          <a:p>
            <a:pPr>
              <a:spcAft>
                <a:spcPts val="480"/>
              </a:spcAft>
              <a:defRPr sz="1200">
                <a:solidFill>
                  <a:srgbClr val="BBBBCC"/>
                </a:solidFill>
                <a:latin typeface="Calibri"/>
              </a:defRPr>
            </a:pPr>
            <a:r>
              <a:t>  • NO₂-SO₂: correlación positiva (r = 0.38)</a:t>
            </a:r>
          </a:p>
        </p:txBody>
      </p:sp>
      <p:sp>
        <p:nvSpPr>
          <p:cNvPr id="9" name="TextBox 8"/>
          <p:cNvSpPr txBox="1"/>
          <p:nvPr/>
        </p:nvSpPr>
        <p:spPr>
          <a:xfrm>
            <a:off x="6400800" y="1371600"/>
            <a:ext cx="5029200" cy="365760"/>
          </a:xfrm>
          <a:prstGeom prst="rect">
            <a:avLst/>
          </a:prstGeom>
          <a:noFill/>
        </p:spPr>
        <p:txBody>
          <a:bodyPr wrap="square">
            <a:spAutoFit/>
          </a:bodyPr>
          <a:lstStyle/>
          <a:p>
            <a:pPr algn="l">
              <a:defRPr sz="1800" b="1">
                <a:solidFill>
                  <a:srgbClr val="00E676"/>
                </a:solidFill>
                <a:latin typeface="Calibri"/>
              </a:defRPr>
            </a:pPr>
            <a:r>
              <a:t>Sentinel-2 MSI</a:t>
            </a:r>
          </a:p>
        </p:txBody>
      </p:sp>
      <p:sp>
        <p:nvSpPr>
          <p:cNvPr id="10" name="TextBox 9"/>
          <p:cNvSpPr txBox="1"/>
          <p:nvPr/>
        </p:nvSpPr>
        <p:spPr>
          <a:xfrm>
            <a:off x="6400800" y="1828800"/>
            <a:ext cx="5029200" cy="4114800"/>
          </a:xfrm>
          <a:prstGeom prst="rect">
            <a:avLst/>
          </a:prstGeom>
          <a:noFill/>
        </p:spPr>
        <p:txBody>
          <a:bodyPr wrap="square">
            <a:spAutoFit/>
          </a:bodyPr>
          <a:lstStyle/>
          <a:p>
            <a:pPr>
              <a:spcAft>
                <a:spcPts val="480"/>
              </a:spcAft>
              <a:defRPr sz="1200">
                <a:solidFill>
                  <a:srgbClr val="BBBBCC"/>
                </a:solidFill>
                <a:latin typeface="Calibri"/>
              </a:defRPr>
            </a:pPr>
            <a:r>
              <a:t>Colección: COPERNICUS/S2_SR_HARMONIZED</a:t>
            </a:r>
          </a:p>
          <a:p>
            <a:pPr>
              <a:spcAft>
                <a:spcPts val="480"/>
              </a:spcAft>
              <a:defRPr sz="1200">
                <a:solidFill>
                  <a:srgbClr val="BBBBCC"/>
                </a:solidFill>
                <a:latin typeface="Calibri"/>
              </a:defRPr>
            </a:pPr>
            <a:r>
              <a:t>  736 escenas totales (S2A+S2B) en 5 años</a:t>
            </a:r>
          </a:p>
          <a:p>
            <a:pPr>
              <a:spcAft>
                <a:spcPts val="480"/>
              </a:spcAft>
              <a:defRPr sz="1200">
                <a:solidFill>
                  <a:srgbClr val="BBBBCC"/>
                </a:solidFill>
                <a:latin typeface="Calibri"/>
              </a:defRPr>
            </a:pPr>
            <a:r>
              <a:t>  Solo 242 (32.9%) con &lt;60% de nubosidad</a:t>
            </a:r>
          </a:p>
          <a:p>
            <a:pPr>
              <a:spcAft>
                <a:spcPts val="480"/>
              </a:spcAft>
              <a:defRPr sz="1200">
                <a:solidFill>
                  <a:srgbClr val="BBBBCC"/>
                </a:solidFill>
                <a:latin typeface="Calibri"/>
              </a:defRPr>
            </a:pPr>
            <a:r>
              <a:t>  Promedio mensual: 4.2 escenas útiles</a:t>
            </a:r>
          </a:p>
          <a:p>
            <a:pPr>
              <a:spcAft>
                <a:spcPts val="480"/>
              </a:spcAft>
              <a:defRPr sz="1200">
                <a:solidFill>
                  <a:srgbClr val="BBBBCC"/>
                </a:solidFill>
                <a:latin typeface="Calibri"/>
              </a:defRPr>
            </a:pPr>
          </a:p>
          <a:p>
            <a:pPr>
              <a:spcAft>
                <a:spcPts val="480"/>
              </a:spcAft>
              <a:defRPr sz="1200">
                <a:solidFill>
                  <a:srgbClr val="BBBBCC"/>
                </a:solidFill>
                <a:latin typeface="Calibri"/>
              </a:defRPr>
            </a:pPr>
            <a:r>
              <a:t>Índices espectrales calculados:</a:t>
            </a:r>
          </a:p>
          <a:p>
            <a:pPr>
              <a:spcAft>
                <a:spcPts val="480"/>
              </a:spcAft>
              <a:defRPr sz="1200">
                <a:solidFill>
                  <a:srgbClr val="BBBBCC"/>
                </a:solidFill>
                <a:latin typeface="Calibri"/>
              </a:defRPr>
            </a:pPr>
            <a:r>
              <a:t>  • BSI (Bare Soil Index) → suelo desnudo Yumbo-Acopi</a:t>
            </a:r>
          </a:p>
          <a:p>
            <a:pPr>
              <a:spcAft>
                <a:spcPts val="480"/>
              </a:spcAft>
              <a:defRPr sz="1200">
                <a:solidFill>
                  <a:srgbClr val="BBBBCC"/>
                </a:solidFill>
                <a:latin typeface="Calibri"/>
              </a:defRPr>
            </a:pPr>
            <a:r>
              <a:t>  • NDBI (Built-up Index) → superficie construida</a:t>
            </a:r>
          </a:p>
          <a:p>
            <a:pPr>
              <a:spcAft>
                <a:spcPts val="480"/>
              </a:spcAft>
              <a:defRPr sz="1200">
                <a:solidFill>
                  <a:srgbClr val="BBBBCC"/>
                </a:solidFill>
                <a:latin typeface="Calibri"/>
              </a:defRPr>
            </a:pPr>
            <a:r>
              <a:t>  • NDVI → vegetación (0.1-0.8 según zona)</a:t>
            </a:r>
          </a:p>
          <a:p>
            <a:pPr>
              <a:spcAft>
                <a:spcPts val="480"/>
              </a:spcAft>
              <a:defRPr sz="1200">
                <a:solidFill>
                  <a:srgbClr val="BBBBCC"/>
                </a:solidFill>
                <a:latin typeface="Calibri"/>
              </a:defRPr>
            </a:pPr>
          </a:p>
          <a:p>
            <a:pPr>
              <a:spcAft>
                <a:spcPts val="480"/>
              </a:spcAft>
              <a:defRPr sz="1200">
                <a:solidFill>
                  <a:srgbClr val="BBBBCC"/>
                </a:solidFill>
                <a:latin typeface="Calibri"/>
              </a:defRPr>
            </a:pPr>
            <a:r>
              <a:t>Perfiles espectrales: 4 clases de cobertura</a:t>
            </a:r>
          </a:p>
          <a:p>
            <a:pPr>
              <a:spcAft>
                <a:spcPts val="480"/>
              </a:spcAft>
              <a:defRPr sz="1200">
                <a:solidFill>
                  <a:srgbClr val="BBBBCC"/>
                </a:solidFill>
                <a:latin typeface="Calibri"/>
              </a:defRPr>
            </a:pPr>
            <a:r>
              <a:t>  separables en NIR (B8) y SWIR (B11-B12)</a:t>
            </a:r>
          </a:p>
          <a:p>
            <a:pPr>
              <a:spcAft>
                <a:spcPts val="480"/>
              </a:spcAft>
              <a:defRPr sz="1200">
                <a:solidFill>
                  <a:srgbClr val="BBBBCC"/>
                </a:solidFill>
                <a:latin typeface="Calibri"/>
              </a:defRPr>
            </a:pPr>
            <a:r>
              <a:t>  13 bandas → 3 bloques de alta correlación interna</a:t>
            </a:r>
          </a:p>
        </p:txBody>
      </p:sp>
      <p:sp>
        <p:nvSpPr>
          <p:cNvPr id="11" name="Rectangle 10"/>
          <p:cNvSpPr/>
          <p:nvPr/>
        </p:nvSpPr>
        <p:spPr>
          <a:xfrm>
            <a:off x="548640" y="5943600"/>
            <a:ext cx="11064240" cy="640080"/>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5989320"/>
            <a:ext cx="10698480" cy="548640"/>
          </a:xfrm>
          <a:prstGeom prst="rect">
            <a:avLst/>
          </a:prstGeom>
          <a:noFill/>
        </p:spPr>
        <p:txBody>
          <a:bodyPr wrap="square">
            <a:spAutoFit/>
          </a:bodyPr>
          <a:lstStyle/>
          <a:p>
            <a:pPr algn="l">
              <a:defRPr sz="1200" b="0">
                <a:solidFill>
                  <a:srgbClr val="FF8C00"/>
                </a:solidFill>
                <a:latin typeface="Calibri"/>
              </a:defRPr>
            </a:pPr>
            <a:r>
              <a:t>💡 La firma espectral de Sentinel-2 (vegetación, suelo desnudo, sombra urbana) contiene información predictiva para downscaling de S5P a escala sub-pixel.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9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548640" cy="457200"/>
          </a:xfrm>
          <a:prstGeom prst="rect">
            <a:avLst/>
          </a:prstGeom>
          <a:noFill/>
        </p:spPr>
        <p:txBody>
          <a:bodyPr wrap="square">
            <a:spAutoFit/>
          </a:bodyPr>
          <a:lstStyle/>
          <a:p>
            <a:pPr algn="l">
              <a:defRPr sz="2800" b="1">
                <a:solidFill>
                  <a:srgbClr val="009DFF"/>
                </a:solidFill>
                <a:latin typeface="Calibri"/>
              </a:defRPr>
            </a:pPr>
            <a:r>
              <a:t>08</a:t>
            </a:r>
          </a:p>
        </p:txBody>
      </p:sp>
      <p:sp>
        <p:nvSpPr>
          <p:cNvPr id="4" name="TextBox 3"/>
          <p:cNvSpPr txBox="1"/>
          <p:nvPr/>
        </p:nvSpPr>
        <p:spPr>
          <a:xfrm>
            <a:off x="1188720" y="274320"/>
            <a:ext cx="9144000" cy="457200"/>
          </a:xfrm>
          <a:prstGeom prst="rect">
            <a:avLst/>
          </a:prstGeom>
          <a:noFill/>
        </p:spPr>
        <p:txBody>
          <a:bodyPr wrap="square">
            <a:spAutoFit/>
          </a:bodyPr>
          <a:lstStyle/>
          <a:p>
            <a:pPr algn="l">
              <a:defRPr sz="2800" b="1">
                <a:solidFill>
                  <a:srgbClr val="FFFFFF"/>
                </a:solidFill>
                <a:latin typeface="Calibri"/>
              </a:defRPr>
            </a:pPr>
            <a:r>
              <a:t>EDA: MODIS, ERA5 y Ground Truth DAGMA</a:t>
            </a:r>
          </a:p>
        </p:txBody>
      </p:sp>
      <p:sp>
        <p:nvSpPr>
          <p:cNvPr id="5" name="TextBox 4"/>
          <p:cNvSpPr txBox="1"/>
          <p:nvPr/>
        </p:nvSpPr>
        <p:spPr>
          <a:xfrm>
            <a:off x="1188720" y="685800"/>
            <a:ext cx="9144000" cy="365760"/>
          </a:xfrm>
          <a:prstGeom prst="rect">
            <a:avLst/>
          </a:prstGeom>
          <a:noFill/>
        </p:spPr>
        <p:txBody>
          <a:bodyPr wrap="square">
            <a:spAutoFit/>
          </a:bodyPr>
          <a:lstStyle/>
          <a:p>
            <a:pPr algn="l">
              <a:defRPr sz="1400" b="0">
                <a:solidFill>
                  <a:srgbClr val="666688"/>
                </a:solidFill>
                <a:latin typeface="Calibri"/>
              </a:defRPr>
            </a:pPr>
            <a:r>
              <a:t>Covariables y validación</a:t>
            </a:r>
          </a:p>
        </p:txBody>
      </p:sp>
      <p:sp>
        <p:nvSpPr>
          <p:cNvPr id="6" name="Rectangle 5"/>
          <p:cNvSpPr/>
          <p:nvPr/>
        </p:nvSpPr>
        <p:spPr>
          <a:xfrm>
            <a:off x="548640" y="1051560"/>
            <a:ext cx="11064240" cy="9144"/>
          </a:xfrm>
          <a:prstGeom prst="rect">
            <a:avLst/>
          </a:prstGeom>
          <a:solidFill>
            <a:srgbClr val="2233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371600"/>
            <a:ext cx="5029200" cy="365760"/>
          </a:xfrm>
          <a:prstGeom prst="rect">
            <a:avLst/>
          </a:prstGeom>
          <a:noFill/>
        </p:spPr>
        <p:txBody>
          <a:bodyPr wrap="square">
            <a:spAutoFit/>
          </a:bodyPr>
          <a:lstStyle/>
          <a:p>
            <a:pPr algn="l">
              <a:defRPr sz="1500" b="1">
                <a:solidFill>
                  <a:srgbClr val="FF8C00"/>
                </a:solidFill>
                <a:latin typeface="Calibri"/>
              </a:defRPr>
            </a:pPr>
            <a:r>
              <a:t>MODIS MCD19A2 — Aerosoles</a:t>
            </a:r>
          </a:p>
        </p:txBody>
      </p:sp>
      <p:sp>
        <p:nvSpPr>
          <p:cNvPr id="8" name="TextBox 7"/>
          <p:cNvSpPr txBox="1"/>
          <p:nvPr/>
        </p:nvSpPr>
        <p:spPr>
          <a:xfrm>
            <a:off x="731520" y="1828800"/>
            <a:ext cx="5029200" cy="1828800"/>
          </a:xfrm>
          <a:prstGeom prst="rect">
            <a:avLst/>
          </a:prstGeom>
          <a:noFill/>
        </p:spPr>
        <p:txBody>
          <a:bodyPr wrap="square">
            <a:spAutoFit/>
          </a:bodyPr>
          <a:lstStyle/>
          <a:p>
            <a:pPr>
              <a:spcAft>
                <a:spcPts val="440"/>
              </a:spcAft>
              <a:defRPr sz="1100">
                <a:solidFill>
                  <a:srgbClr val="BBBBCC"/>
                </a:solidFill>
                <a:latin typeface="Calibri"/>
              </a:defRPr>
            </a:pPr>
            <a:r>
              <a:t>140,120 gránulos sobre Cali (2019-2023)</a:t>
            </a:r>
          </a:p>
          <a:p>
            <a:pPr>
              <a:spcAft>
                <a:spcPts val="440"/>
              </a:spcAft>
              <a:defRPr sz="1100">
                <a:solidFill>
                  <a:srgbClr val="BBBBCC"/>
                </a:solidFill>
                <a:latin typeface="Calibri"/>
              </a:defRPr>
            </a:pPr>
            <a:r>
              <a:t>AOD (550 nm) promedio: ~0.28</a:t>
            </a:r>
          </a:p>
          <a:p>
            <a:pPr>
              <a:spcAft>
                <a:spcPts val="440"/>
              </a:spcAft>
              <a:defRPr sz="1100">
                <a:solidFill>
                  <a:srgbClr val="BBBBCC"/>
                </a:solidFill>
                <a:latin typeface="Calibri"/>
              </a:defRPr>
            </a:pPr>
            <a:r>
              <a:t>Máximos ~0.45 en jul-ago (quemas de caña)</a:t>
            </a:r>
          </a:p>
          <a:p>
            <a:pPr>
              <a:spcAft>
                <a:spcPts val="440"/>
              </a:spcAft>
              <a:defRPr sz="1100">
                <a:solidFill>
                  <a:srgbClr val="BBBBCC"/>
                </a:solidFill>
                <a:latin typeface="Calibri"/>
              </a:defRPr>
            </a:pPr>
            <a:r>
              <a:t>Hotspot: Yumbo-Acopi (AOD +0.12 vs promedio)</a:t>
            </a:r>
          </a:p>
          <a:p>
            <a:pPr>
              <a:spcAft>
                <a:spcPts val="440"/>
              </a:spcAft>
              <a:defRPr sz="1100">
                <a:solidFill>
                  <a:srgbClr val="BBBBCC"/>
                </a:solidFill>
                <a:latin typeface="Calibri"/>
              </a:defRPr>
            </a:pPr>
            <a:r>
              <a:t>Proxy indirecto de PM2.5 y PM10</a:t>
            </a:r>
          </a:p>
        </p:txBody>
      </p:sp>
      <p:sp>
        <p:nvSpPr>
          <p:cNvPr id="9" name="TextBox 8"/>
          <p:cNvSpPr txBox="1"/>
          <p:nvPr/>
        </p:nvSpPr>
        <p:spPr>
          <a:xfrm>
            <a:off x="731520" y="3200400"/>
            <a:ext cx="5029200" cy="365760"/>
          </a:xfrm>
          <a:prstGeom prst="rect">
            <a:avLst/>
          </a:prstGeom>
          <a:noFill/>
        </p:spPr>
        <p:txBody>
          <a:bodyPr wrap="square">
            <a:spAutoFit/>
          </a:bodyPr>
          <a:lstStyle/>
          <a:p>
            <a:pPr algn="l">
              <a:defRPr sz="1500" b="1">
                <a:solidFill>
                  <a:srgbClr val="009DFF"/>
                </a:solidFill>
                <a:latin typeface="Calibri"/>
              </a:defRPr>
            </a:pPr>
            <a:r>
              <a:t>ERA5-Land — Meteorología</a:t>
            </a:r>
          </a:p>
        </p:txBody>
      </p:sp>
      <p:sp>
        <p:nvSpPr>
          <p:cNvPr id="10" name="TextBox 9"/>
          <p:cNvSpPr txBox="1"/>
          <p:nvPr/>
        </p:nvSpPr>
        <p:spPr>
          <a:xfrm>
            <a:off x="731520" y="3657600"/>
            <a:ext cx="5029200" cy="2286000"/>
          </a:xfrm>
          <a:prstGeom prst="rect">
            <a:avLst/>
          </a:prstGeom>
          <a:noFill/>
        </p:spPr>
        <p:txBody>
          <a:bodyPr wrap="square">
            <a:spAutoFit/>
          </a:bodyPr>
          <a:lstStyle/>
          <a:p>
            <a:pPr>
              <a:spcAft>
                <a:spcPts val="440"/>
              </a:spcAft>
              <a:defRPr sz="1100">
                <a:solidFill>
                  <a:srgbClr val="BBBBCC"/>
                </a:solidFill>
                <a:latin typeface="Calibri"/>
              </a:defRPr>
            </a:pPr>
            <a:r>
              <a:t>43,815 archivos horarios en GCS</a:t>
            </a:r>
          </a:p>
          <a:p>
            <a:pPr>
              <a:spcAft>
                <a:spcPts val="440"/>
              </a:spcAft>
              <a:defRPr sz="1100">
                <a:solidFill>
                  <a:srgbClr val="BBBBCC"/>
                </a:solidFill>
                <a:latin typeface="Calibri"/>
              </a:defRPr>
            </a:pPr>
            <a:r>
              <a:t>Variables: T2m, viento (u,v), BLH, HR, precipitación</a:t>
            </a:r>
          </a:p>
          <a:p>
            <a:pPr>
              <a:spcAft>
                <a:spcPts val="440"/>
              </a:spcAft>
              <a:defRPr sz="1100">
                <a:solidFill>
                  <a:srgbClr val="BBBBCC"/>
                </a:solidFill>
                <a:latin typeface="Calibri"/>
              </a:defRPr>
            </a:pPr>
          </a:p>
          <a:p>
            <a:pPr>
              <a:spcAft>
                <a:spcPts val="440"/>
              </a:spcAft>
              <a:defRPr sz="1100">
                <a:solidFill>
                  <a:srgbClr val="BBBBCC"/>
                </a:solidFill>
                <a:latin typeface="Calibri"/>
              </a:defRPr>
            </a:pPr>
            <a:r>
              <a:t>Correlaciones clave (justifican su inclusión):</a:t>
            </a:r>
          </a:p>
          <a:p>
            <a:pPr>
              <a:spcAft>
                <a:spcPts val="440"/>
              </a:spcAft>
              <a:defRPr sz="1100">
                <a:solidFill>
                  <a:srgbClr val="BBBBCC"/>
                </a:solidFill>
                <a:latin typeface="Calibri"/>
              </a:defRPr>
            </a:pPr>
            <a:r>
              <a:t>  • BLH vs NO₂: r = -0.52 (la más predictiva)</a:t>
            </a:r>
          </a:p>
          <a:p>
            <a:pPr>
              <a:spcAft>
                <a:spcPts val="440"/>
              </a:spcAft>
              <a:defRPr sz="1100">
                <a:solidFill>
                  <a:srgbClr val="BBBBCC"/>
                </a:solidFill>
                <a:latin typeface="Calibri"/>
              </a:defRPr>
            </a:pPr>
            <a:r>
              <a:t>  • T2m vs NO₂: r = -0.38</a:t>
            </a:r>
          </a:p>
          <a:p>
            <a:pPr>
              <a:spcAft>
                <a:spcPts val="440"/>
              </a:spcAft>
              <a:defRPr sz="1100">
                <a:solidFill>
                  <a:srgbClr val="BBBBCC"/>
                </a:solidFill>
                <a:latin typeface="Calibri"/>
              </a:defRPr>
            </a:pPr>
            <a:r>
              <a:t>  • HR vs O₃: r = 0.41</a:t>
            </a:r>
          </a:p>
          <a:p>
            <a:pPr>
              <a:spcAft>
                <a:spcPts val="440"/>
              </a:spcAft>
              <a:defRPr sz="1100">
                <a:solidFill>
                  <a:srgbClr val="BBBBCC"/>
                </a:solidFill>
                <a:latin typeface="Calibri"/>
              </a:defRPr>
            </a:pPr>
            <a:r>
              <a:t>  • Viento vs SO₂: r = -0.29</a:t>
            </a:r>
          </a:p>
        </p:txBody>
      </p:sp>
      <p:sp>
        <p:nvSpPr>
          <p:cNvPr id="11" name="TextBox 10"/>
          <p:cNvSpPr txBox="1"/>
          <p:nvPr/>
        </p:nvSpPr>
        <p:spPr>
          <a:xfrm>
            <a:off x="6400800" y="1371600"/>
            <a:ext cx="5029200" cy="365760"/>
          </a:xfrm>
          <a:prstGeom prst="rect">
            <a:avLst/>
          </a:prstGeom>
          <a:noFill/>
        </p:spPr>
        <p:txBody>
          <a:bodyPr wrap="square">
            <a:spAutoFit/>
          </a:bodyPr>
          <a:lstStyle/>
          <a:p>
            <a:pPr algn="l">
              <a:defRPr sz="1500" b="1">
                <a:solidFill>
                  <a:srgbClr val="00E676"/>
                </a:solidFill>
                <a:latin typeface="Calibri"/>
              </a:defRPr>
            </a:pPr>
            <a:r>
              <a:t>Ground Truth DAGMA / SVCASC</a:t>
            </a:r>
          </a:p>
        </p:txBody>
      </p:sp>
      <p:sp>
        <p:nvSpPr>
          <p:cNvPr id="12" name="TextBox 11"/>
          <p:cNvSpPr txBox="1"/>
          <p:nvPr/>
        </p:nvSpPr>
        <p:spPr>
          <a:xfrm>
            <a:off x="6400800" y="1828800"/>
            <a:ext cx="5029200" cy="4572000"/>
          </a:xfrm>
          <a:prstGeom prst="rect">
            <a:avLst/>
          </a:prstGeom>
          <a:noFill/>
        </p:spPr>
        <p:txBody>
          <a:bodyPr wrap="square">
            <a:spAutoFit/>
          </a:bodyPr>
          <a:lstStyle/>
          <a:p>
            <a:pPr>
              <a:spcAft>
                <a:spcPts val="440"/>
              </a:spcAft>
              <a:defRPr sz="1100">
                <a:solidFill>
                  <a:srgbClr val="BBBBCC"/>
                </a:solidFill>
                <a:latin typeface="Calibri"/>
              </a:defRPr>
            </a:pPr>
            <a:r>
              <a:t>9 estaciones en área metropolitana</a:t>
            </a:r>
          </a:p>
          <a:p>
            <a:pPr>
              <a:spcAft>
                <a:spcPts val="440"/>
              </a:spcAft>
              <a:defRPr sz="1100">
                <a:solidFill>
                  <a:srgbClr val="BBBBCC"/>
                </a:solidFill>
                <a:latin typeface="Calibri"/>
              </a:defRPr>
            </a:pPr>
            <a:r>
              <a:t>33,580 registros horarios (2020-2023), 87 columnas</a:t>
            </a:r>
          </a:p>
          <a:p>
            <a:pPr>
              <a:spcAft>
                <a:spcPts val="440"/>
              </a:spcAft>
              <a:defRPr sz="1100">
                <a:solidFill>
                  <a:srgbClr val="BBBBCC"/>
                </a:solidFill>
                <a:latin typeface="Calibri"/>
              </a:defRPr>
            </a:pPr>
          </a:p>
          <a:p>
            <a:pPr>
              <a:spcAft>
                <a:spcPts val="440"/>
              </a:spcAft>
              <a:defRPr sz="1100">
                <a:solidFill>
                  <a:srgbClr val="BBBBCC"/>
                </a:solidFill>
                <a:latin typeface="Calibri"/>
              </a:defRPr>
            </a:pPr>
            <a:r>
              <a:t>Cobertura por contaminante:</a:t>
            </a:r>
          </a:p>
          <a:p>
            <a:pPr>
              <a:spcAft>
                <a:spcPts val="440"/>
              </a:spcAft>
              <a:defRPr sz="1100">
                <a:solidFill>
                  <a:srgbClr val="BBBBCC"/>
                </a:solidFill>
                <a:latin typeface="Calibri"/>
              </a:defRPr>
            </a:pPr>
            <a:r>
              <a:t>  • NO₂: solo en Univalle (69% cobertura)</a:t>
            </a:r>
          </a:p>
          <a:p>
            <a:pPr>
              <a:spcAft>
                <a:spcPts val="440"/>
              </a:spcAft>
              <a:defRPr sz="1100">
                <a:solidFill>
                  <a:srgbClr val="BBBBCC"/>
                </a:solidFill>
                <a:latin typeface="Calibri"/>
              </a:defRPr>
            </a:pPr>
            <a:r>
              <a:t>  • O₃: 6 estaciones (48-83%)</a:t>
            </a:r>
          </a:p>
          <a:p>
            <a:pPr>
              <a:spcAft>
                <a:spcPts val="440"/>
              </a:spcAft>
              <a:defRPr sz="1100">
                <a:solidFill>
                  <a:srgbClr val="BBBBCC"/>
                </a:solidFill>
                <a:latin typeface="Calibri"/>
              </a:defRPr>
            </a:pPr>
            <a:r>
              <a:t>  • SO₂: 5 estaciones (9-88%)</a:t>
            </a:r>
          </a:p>
          <a:p>
            <a:pPr>
              <a:spcAft>
                <a:spcPts val="440"/>
              </a:spcAft>
              <a:defRPr sz="1100">
                <a:solidFill>
                  <a:srgbClr val="BBBBCC"/>
                </a:solidFill>
                <a:latin typeface="Calibri"/>
              </a:defRPr>
            </a:pPr>
            <a:r>
              <a:t>  • PM2.5: 3 estaciones (62-83%)</a:t>
            </a:r>
          </a:p>
          <a:p>
            <a:pPr>
              <a:spcAft>
                <a:spcPts val="440"/>
              </a:spcAft>
              <a:defRPr sz="1100">
                <a:solidFill>
                  <a:srgbClr val="BBBBCC"/>
                </a:solidFill>
                <a:latin typeface="Calibri"/>
              </a:defRPr>
            </a:pPr>
            <a:r>
              <a:t>  • PM10: 7 estaciones (80-89%)</a:t>
            </a:r>
          </a:p>
          <a:p>
            <a:pPr>
              <a:spcAft>
                <a:spcPts val="440"/>
              </a:spcAft>
              <a:defRPr sz="1100">
                <a:solidFill>
                  <a:srgbClr val="BBBBCC"/>
                </a:solidFill>
                <a:latin typeface="Calibri"/>
              </a:defRPr>
            </a:pPr>
          </a:p>
          <a:p>
            <a:pPr>
              <a:spcAft>
                <a:spcPts val="440"/>
              </a:spcAft>
              <a:defRPr sz="1100">
                <a:solidFill>
                  <a:srgbClr val="BBBBCC"/>
                </a:solidFill>
                <a:latin typeface="Calibri"/>
              </a:defRPr>
            </a:pPr>
            <a:r>
              <a:t>Limitaciones documentadas:</a:t>
            </a:r>
          </a:p>
          <a:p>
            <a:pPr>
              <a:spcAft>
                <a:spcPts val="440"/>
              </a:spcAft>
              <a:defRPr sz="1100">
                <a:solidFill>
                  <a:srgbClr val="BBBBCC"/>
                </a:solidFill>
                <a:latin typeface="Calibri"/>
              </a:defRPr>
            </a:pPr>
            <a:r>
              <a:t>  • SVCASC genera predicciones de modelo, NO mediciones directas</a:t>
            </a:r>
          </a:p>
          <a:p>
            <a:pPr>
              <a:spcAft>
                <a:spcPts val="440"/>
              </a:spcAft>
              <a:defRPr sz="1100">
                <a:solidFill>
                  <a:srgbClr val="BBBBCC"/>
                </a:solidFill>
                <a:latin typeface="Calibri"/>
              </a:defRPr>
            </a:pPr>
            <a:r>
              <a:t>  • NO₂ restringido a Univalle → validación espacial limitada</a:t>
            </a:r>
          </a:p>
          <a:p>
            <a:pPr>
              <a:spcAft>
                <a:spcPts val="440"/>
              </a:spcAft>
              <a:defRPr sz="1100">
                <a:solidFill>
                  <a:srgbClr val="BBBBCC"/>
                </a:solidFill>
                <a:latin typeface="Calibri"/>
              </a:defRPr>
            </a:pPr>
            <a:r>
              <a:t>  • Ventana 2020-2023 (1 año menos que satélites)</a:t>
            </a:r>
          </a:p>
          <a:p>
            <a:pPr>
              <a:spcAft>
                <a:spcPts val="440"/>
              </a:spcAft>
              <a:defRPr sz="1100">
                <a:solidFill>
                  <a:srgbClr val="BBBBCC"/>
                </a:solidFill>
                <a:latin typeface="Calibri"/>
              </a:defRPr>
            </a:pPr>
            <a:r>
              <a:t>  • Black Carbon y UV-PM: &lt;5% datos válidos</a:t>
            </a:r>
          </a:p>
        </p:txBody>
      </p:sp>
      <p:sp>
        <p:nvSpPr>
          <p:cNvPr id="13" name="Rectangle 12"/>
          <p:cNvSpPr/>
          <p:nvPr/>
        </p:nvSpPr>
        <p:spPr>
          <a:xfrm>
            <a:off x="548640" y="5760720"/>
            <a:ext cx="11064240" cy="822960"/>
          </a:xfrm>
          <a:prstGeom prst="rect">
            <a:avLst/>
          </a:prstGeom>
          <a:solidFill>
            <a:srgbClr val="1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5760720"/>
            <a:ext cx="73152" cy="822960"/>
          </a:xfrm>
          <a:prstGeom prst="rect">
            <a:avLst/>
          </a:prstGeom>
          <a:solidFill>
            <a:srgbClr val="FF3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5806440"/>
            <a:ext cx="10515600" cy="731520"/>
          </a:xfrm>
          <a:prstGeom prst="rect">
            <a:avLst/>
          </a:prstGeom>
          <a:noFill/>
        </p:spPr>
        <p:txBody>
          <a:bodyPr wrap="square">
            <a:spAutoFit/>
          </a:bodyPr>
          <a:lstStyle/>
          <a:p>
            <a:pPr algn="l">
              <a:defRPr sz="1100" b="0">
                <a:solidFill>
                  <a:srgbClr val="FF9999"/>
                </a:solidFill>
                <a:latin typeface="Calibri"/>
              </a:defRPr>
            </a:pPr>
            <a:r>
              <a:t>⚠️ Los datos SVCASC son la mejor aproximación disponible al ground truth para Cali. El modelo CLIP se entrena con percentiles de S5P (no DAGMA). DAGMA se usa principalmente para validación en Situación 3 (LOO-CV).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9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548640" cy="457200"/>
          </a:xfrm>
          <a:prstGeom prst="rect">
            <a:avLst/>
          </a:prstGeom>
          <a:noFill/>
        </p:spPr>
        <p:txBody>
          <a:bodyPr wrap="square">
            <a:spAutoFit/>
          </a:bodyPr>
          <a:lstStyle/>
          <a:p>
            <a:pPr algn="l">
              <a:defRPr sz="2800" b="1">
                <a:solidFill>
                  <a:srgbClr val="009DFF"/>
                </a:solidFill>
                <a:latin typeface="Calibri"/>
              </a:defRPr>
            </a:pPr>
            <a:r>
              <a:t>09</a:t>
            </a:r>
          </a:p>
        </p:txBody>
      </p:sp>
      <p:sp>
        <p:nvSpPr>
          <p:cNvPr id="4" name="TextBox 3"/>
          <p:cNvSpPr txBox="1"/>
          <p:nvPr/>
        </p:nvSpPr>
        <p:spPr>
          <a:xfrm>
            <a:off x="1188720" y="274320"/>
            <a:ext cx="9144000" cy="457200"/>
          </a:xfrm>
          <a:prstGeom prst="rect">
            <a:avLst/>
          </a:prstGeom>
          <a:noFill/>
        </p:spPr>
        <p:txBody>
          <a:bodyPr wrap="square">
            <a:spAutoFit/>
          </a:bodyPr>
          <a:lstStyle/>
          <a:p>
            <a:pPr algn="l">
              <a:defRPr sz="2800" b="1">
                <a:solidFill>
                  <a:srgbClr val="FFFFFF"/>
                </a:solidFill>
                <a:latin typeface="Calibri"/>
              </a:defRPr>
            </a:pPr>
            <a:r>
              <a:t>Dataset Situación 2</a:t>
            </a:r>
          </a:p>
        </p:txBody>
      </p:sp>
      <p:sp>
        <p:nvSpPr>
          <p:cNvPr id="5" name="TextBox 4"/>
          <p:cNvSpPr txBox="1"/>
          <p:nvPr/>
        </p:nvSpPr>
        <p:spPr>
          <a:xfrm>
            <a:off x="1188720" y="685800"/>
            <a:ext cx="9144000" cy="365760"/>
          </a:xfrm>
          <a:prstGeom prst="rect">
            <a:avLst/>
          </a:prstGeom>
          <a:noFill/>
        </p:spPr>
        <p:txBody>
          <a:bodyPr wrap="square">
            <a:spAutoFit/>
          </a:bodyPr>
          <a:lstStyle/>
          <a:p>
            <a:pPr algn="l">
              <a:defRPr sz="1400" b="0">
                <a:solidFill>
                  <a:srgbClr val="666688"/>
                </a:solidFill>
                <a:latin typeface="Calibri"/>
              </a:defRPr>
            </a:pPr>
            <a:r>
              <a:t>2,276 pares imagen-texto · 5 clases · Split 70/15/15</a:t>
            </a:r>
          </a:p>
        </p:txBody>
      </p:sp>
      <p:sp>
        <p:nvSpPr>
          <p:cNvPr id="6" name="Rectangle 5"/>
          <p:cNvSpPr/>
          <p:nvPr/>
        </p:nvSpPr>
        <p:spPr>
          <a:xfrm>
            <a:off x="548640" y="1051560"/>
            <a:ext cx="11064240" cy="9144"/>
          </a:xfrm>
          <a:prstGeom prst="rect">
            <a:avLst/>
          </a:prstGeom>
          <a:solidFill>
            <a:srgbClr val="2233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371600"/>
            <a:ext cx="2606040" cy="1051560"/>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371600"/>
            <a:ext cx="2606040" cy="36576"/>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508760"/>
            <a:ext cx="2331720" cy="457200"/>
          </a:xfrm>
          <a:prstGeom prst="rect">
            <a:avLst/>
          </a:prstGeom>
          <a:noFill/>
        </p:spPr>
        <p:txBody>
          <a:bodyPr wrap="square">
            <a:spAutoFit/>
          </a:bodyPr>
          <a:lstStyle/>
          <a:p>
            <a:pPr algn="ctr">
              <a:defRPr sz="2400" b="1">
                <a:solidFill>
                  <a:srgbClr val="00E676"/>
                </a:solidFill>
                <a:latin typeface="Calibri"/>
              </a:defRPr>
            </a:pPr>
            <a:r>
              <a:t>2,276</a:t>
            </a:r>
          </a:p>
        </p:txBody>
      </p:sp>
      <p:sp>
        <p:nvSpPr>
          <p:cNvPr id="10" name="TextBox 9"/>
          <p:cNvSpPr txBox="1"/>
          <p:nvPr/>
        </p:nvSpPr>
        <p:spPr>
          <a:xfrm>
            <a:off x="685800" y="1920240"/>
            <a:ext cx="2331720" cy="457200"/>
          </a:xfrm>
          <a:prstGeom prst="rect">
            <a:avLst/>
          </a:prstGeom>
          <a:noFill/>
        </p:spPr>
        <p:txBody>
          <a:bodyPr wrap="square">
            <a:spAutoFit/>
          </a:bodyPr>
          <a:lstStyle/>
          <a:p>
            <a:pPr algn="ctr">
              <a:defRPr sz="1100" b="0">
                <a:solidFill>
                  <a:srgbClr val="BBBBCC"/>
                </a:solidFill>
                <a:latin typeface="Calibri"/>
              </a:defRPr>
            </a:pPr>
            <a:r>
              <a:t>Pares generados</a:t>
            </a:r>
            <a:br/>
            <a:r>
              <a:t>(227% del mínimo)</a:t>
            </a:r>
          </a:p>
        </p:txBody>
      </p:sp>
      <p:sp>
        <p:nvSpPr>
          <p:cNvPr id="11" name="Rectangle 10"/>
          <p:cNvSpPr/>
          <p:nvPr/>
        </p:nvSpPr>
        <p:spPr>
          <a:xfrm>
            <a:off x="3383280" y="1371600"/>
            <a:ext cx="2606040" cy="1051560"/>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83280" y="1371600"/>
            <a:ext cx="2606040" cy="36576"/>
          </a:xfrm>
          <a:prstGeom prst="rect">
            <a:avLst/>
          </a:prstGeom>
          <a:solidFill>
            <a:srgbClr val="009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20440" y="1508760"/>
            <a:ext cx="2331720" cy="457200"/>
          </a:xfrm>
          <a:prstGeom prst="rect">
            <a:avLst/>
          </a:prstGeom>
          <a:noFill/>
        </p:spPr>
        <p:txBody>
          <a:bodyPr wrap="square">
            <a:spAutoFit/>
          </a:bodyPr>
          <a:lstStyle/>
          <a:p>
            <a:pPr algn="ctr">
              <a:defRPr sz="2400" b="1">
                <a:solidFill>
                  <a:srgbClr val="009DFF"/>
                </a:solidFill>
                <a:latin typeface="Calibri"/>
              </a:defRPr>
            </a:pPr>
            <a:r>
              <a:t>5 clases</a:t>
            </a:r>
          </a:p>
        </p:txBody>
      </p:sp>
      <p:sp>
        <p:nvSpPr>
          <p:cNvPr id="14" name="TextBox 13"/>
          <p:cNvSpPr txBox="1"/>
          <p:nvPr/>
        </p:nvSpPr>
        <p:spPr>
          <a:xfrm>
            <a:off x="3520440" y="1920240"/>
            <a:ext cx="2331720" cy="457200"/>
          </a:xfrm>
          <a:prstGeom prst="rect">
            <a:avLst/>
          </a:prstGeom>
          <a:noFill/>
        </p:spPr>
        <p:txBody>
          <a:bodyPr wrap="square">
            <a:spAutoFit/>
          </a:bodyPr>
          <a:lstStyle/>
          <a:p>
            <a:pPr algn="ctr">
              <a:defRPr sz="1100" b="0">
                <a:solidFill>
                  <a:srgbClr val="BBBBCC"/>
                </a:solidFill>
                <a:latin typeface="Calibri"/>
              </a:defRPr>
            </a:pPr>
            <a:r>
              <a:t>NO₂, SO₂, O₃,</a:t>
            </a:r>
            <a:br/>
            <a:r>
              <a:t>Vegetación, Urbano</a:t>
            </a:r>
          </a:p>
        </p:txBody>
      </p:sp>
      <p:sp>
        <p:nvSpPr>
          <p:cNvPr id="15" name="Rectangle 14"/>
          <p:cNvSpPr/>
          <p:nvPr/>
        </p:nvSpPr>
        <p:spPr>
          <a:xfrm>
            <a:off x="6217920" y="1371600"/>
            <a:ext cx="2606040" cy="1051560"/>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1371600"/>
            <a:ext cx="2606040" cy="36576"/>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1508760"/>
            <a:ext cx="2331720" cy="457200"/>
          </a:xfrm>
          <a:prstGeom prst="rect">
            <a:avLst/>
          </a:prstGeom>
          <a:noFill/>
        </p:spPr>
        <p:txBody>
          <a:bodyPr wrap="square">
            <a:spAutoFit/>
          </a:bodyPr>
          <a:lstStyle/>
          <a:p>
            <a:pPr algn="ctr">
              <a:defRPr sz="2400" b="1">
                <a:solidFill>
                  <a:srgbClr val="FF8C00"/>
                </a:solidFill>
                <a:latin typeface="Calibri"/>
              </a:defRPr>
            </a:pPr>
            <a:r>
              <a:t>30</a:t>
            </a:r>
          </a:p>
        </p:txBody>
      </p:sp>
      <p:sp>
        <p:nvSpPr>
          <p:cNvPr id="18" name="TextBox 17"/>
          <p:cNvSpPr txBox="1"/>
          <p:nvPr/>
        </p:nvSpPr>
        <p:spPr>
          <a:xfrm>
            <a:off x="6355080" y="1920240"/>
            <a:ext cx="2331720" cy="457200"/>
          </a:xfrm>
          <a:prstGeom prst="rect">
            <a:avLst/>
          </a:prstGeom>
          <a:noFill/>
        </p:spPr>
        <p:txBody>
          <a:bodyPr wrap="square">
            <a:spAutoFit/>
          </a:bodyPr>
          <a:lstStyle/>
          <a:p>
            <a:pPr algn="ctr">
              <a:defRPr sz="1100" b="0">
                <a:solidFill>
                  <a:srgbClr val="BBBBCC"/>
                </a:solidFill>
                <a:latin typeface="Calibri"/>
              </a:defRPr>
            </a:pPr>
            <a:r>
              <a:t>Secuencias de 8</a:t>
            </a:r>
            <a:br/>
            <a:r>
              <a:t>fechas consecutivas</a:t>
            </a:r>
          </a:p>
        </p:txBody>
      </p:sp>
      <p:sp>
        <p:nvSpPr>
          <p:cNvPr id="19" name="Rectangle 18"/>
          <p:cNvSpPr/>
          <p:nvPr/>
        </p:nvSpPr>
        <p:spPr>
          <a:xfrm>
            <a:off x="9052560" y="1371600"/>
            <a:ext cx="2606040" cy="1051560"/>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52560" y="1371600"/>
            <a:ext cx="2606040" cy="36576"/>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89720" y="1508760"/>
            <a:ext cx="2331720" cy="457200"/>
          </a:xfrm>
          <a:prstGeom prst="rect">
            <a:avLst/>
          </a:prstGeom>
          <a:noFill/>
        </p:spPr>
        <p:txBody>
          <a:bodyPr wrap="square">
            <a:spAutoFit/>
          </a:bodyPr>
          <a:lstStyle/>
          <a:p>
            <a:pPr algn="ctr">
              <a:defRPr sz="2400" b="1">
                <a:solidFill>
                  <a:srgbClr val="00E676"/>
                </a:solidFill>
                <a:latin typeface="Calibri"/>
              </a:defRPr>
            </a:pPr>
            <a:r>
              <a:t>70/15/15</a:t>
            </a:r>
          </a:p>
        </p:txBody>
      </p:sp>
      <p:sp>
        <p:nvSpPr>
          <p:cNvPr id="22" name="TextBox 21"/>
          <p:cNvSpPr txBox="1"/>
          <p:nvPr/>
        </p:nvSpPr>
        <p:spPr>
          <a:xfrm>
            <a:off x="9189720" y="1920240"/>
            <a:ext cx="2331720" cy="457200"/>
          </a:xfrm>
          <a:prstGeom prst="rect">
            <a:avLst/>
          </a:prstGeom>
          <a:noFill/>
        </p:spPr>
        <p:txBody>
          <a:bodyPr wrap="square">
            <a:spAutoFit/>
          </a:bodyPr>
          <a:lstStyle/>
          <a:p>
            <a:pPr algn="ctr">
              <a:defRPr sz="1100" b="0">
                <a:solidFill>
                  <a:srgbClr val="BBBBCC"/>
                </a:solidFill>
                <a:latin typeface="Calibri"/>
              </a:defRPr>
            </a:pPr>
            <a:r>
              <a:t>Split estratificado</a:t>
            </a:r>
            <a:br/>
            <a:r>
              <a:t>con SEED=42</a:t>
            </a:r>
          </a:p>
        </p:txBody>
      </p:sp>
      <p:sp>
        <p:nvSpPr>
          <p:cNvPr id="23" name="TextBox 22"/>
          <p:cNvSpPr txBox="1"/>
          <p:nvPr/>
        </p:nvSpPr>
        <p:spPr>
          <a:xfrm>
            <a:off x="731520" y="2743200"/>
            <a:ext cx="5029200" cy="365760"/>
          </a:xfrm>
          <a:prstGeom prst="rect">
            <a:avLst/>
          </a:prstGeom>
          <a:noFill/>
        </p:spPr>
        <p:txBody>
          <a:bodyPr wrap="square">
            <a:spAutoFit/>
          </a:bodyPr>
          <a:lstStyle/>
          <a:p>
            <a:pPr algn="l">
              <a:defRPr sz="1600" b="1">
                <a:solidFill>
                  <a:srgbClr val="009DFF"/>
                </a:solidFill>
                <a:latin typeface="Calibri"/>
              </a:defRPr>
            </a:pPr>
            <a:r>
              <a:t>Estructura del dataset</a:t>
            </a:r>
          </a:p>
        </p:txBody>
      </p:sp>
      <p:sp>
        <p:nvSpPr>
          <p:cNvPr id="24" name="TextBox 23"/>
          <p:cNvSpPr txBox="1"/>
          <p:nvPr/>
        </p:nvSpPr>
        <p:spPr>
          <a:xfrm>
            <a:off x="731520" y="3200400"/>
            <a:ext cx="5029200" cy="3200400"/>
          </a:xfrm>
          <a:prstGeom prst="rect">
            <a:avLst/>
          </a:prstGeom>
          <a:noFill/>
        </p:spPr>
        <p:txBody>
          <a:bodyPr wrap="square">
            <a:spAutoFit/>
          </a:bodyPr>
          <a:lstStyle/>
          <a:p>
            <a:pPr>
              <a:spcAft>
                <a:spcPts val="480"/>
              </a:spcAft>
              <a:defRPr sz="1200">
                <a:solidFill>
                  <a:srgbClr val="BBBBCC"/>
                </a:solidFill>
                <a:latin typeface="Calibri"/>
              </a:defRPr>
            </a:pPr>
            <a:r>
              <a:t>Tile: recorte 64×64 px (~640 m) de escena S2, 13 bandas (B1-B12 + SCL)</a:t>
            </a:r>
          </a:p>
          <a:p>
            <a:pPr>
              <a:spcAft>
                <a:spcPts val="480"/>
              </a:spcAft>
              <a:defRPr sz="1200">
                <a:solidFill>
                  <a:srgbClr val="BBBBCC"/>
                </a:solidFill>
                <a:latin typeface="Calibri"/>
              </a:defRPr>
            </a:pPr>
            <a:r>
              <a:t>Descripción: texto en español con plantillas v2 (NDBI, exceso, built-up)</a:t>
            </a:r>
          </a:p>
          <a:p>
            <a:pPr>
              <a:spcAft>
                <a:spcPts val="480"/>
              </a:spcAft>
              <a:defRPr sz="1200">
                <a:solidFill>
                  <a:srgbClr val="BBBBCC"/>
                </a:solidFill>
                <a:latin typeface="Calibri"/>
              </a:defRPr>
            </a:pPr>
          </a:p>
          <a:p>
            <a:pPr>
              <a:spcAft>
                <a:spcPts val="480"/>
              </a:spcAft>
              <a:defRPr sz="1200">
                <a:solidFill>
                  <a:srgbClr val="BBBBCC"/>
                </a:solidFill>
                <a:latin typeface="Calibri"/>
              </a:defRPr>
            </a:pPr>
            <a:r>
              <a:t>Distribución por clase:</a:t>
            </a:r>
          </a:p>
          <a:p>
            <a:pPr>
              <a:spcAft>
                <a:spcPts val="480"/>
              </a:spcAft>
              <a:defRPr sz="1200">
                <a:solidFill>
                  <a:srgbClr val="BBBBCC"/>
                </a:solidFill>
                <a:latin typeface="Calibri"/>
              </a:defRPr>
            </a:pPr>
            <a:r>
              <a:t>  • NO₂ alto:         500 tiles</a:t>
            </a:r>
          </a:p>
          <a:p>
            <a:pPr>
              <a:spcAft>
                <a:spcPts val="480"/>
              </a:spcAft>
              <a:defRPr sz="1200">
                <a:solidFill>
                  <a:srgbClr val="BBBBCC"/>
                </a:solidFill>
                <a:latin typeface="Calibri"/>
              </a:defRPr>
            </a:pPr>
            <a:r>
              <a:t>  • SO₂ alto:         276 tiles</a:t>
            </a:r>
          </a:p>
          <a:p>
            <a:pPr>
              <a:spcAft>
                <a:spcPts val="480"/>
              </a:spcAft>
              <a:defRPr sz="1200">
                <a:solidFill>
                  <a:srgbClr val="BBBBCC"/>
                </a:solidFill>
                <a:latin typeface="Calibri"/>
              </a:defRPr>
            </a:pPr>
            <a:r>
              <a:t>  • Ozono anómalo:    500 tiles</a:t>
            </a:r>
          </a:p>
          <a:p>
            <a:pPr>
              <a:spcAft>
                <a:spcPts val="480"/>
              </a:spcAft>
              <a:defRPr sz="1200">
                <a:solidFill>
                  <a:srgbClr val="BBBBCC"/>
                </a:solidFill>
                <a:latin typeface="Calibri"/>
              </a:defRPr>
            </a:pPr>
            <a:r>
              <a:t>  • Vegetación densa: 500 tiles</a:t>
            </a:r>
          </a:p>
          <a:p>
            <a:pPr>
              <a:spcAft>
                <a:spcPts val="480"/>
              </a:spcAft>
              <a:defRPr sz="1200">
                <a:solidFill>
                  <a:srgbClr val="BBBBCC"/>
                </a:solidFill>
                <a:latin typeface="Calibri"/>
              </a:defRPr>
            </a:pPr>
            <a:r>
              <a:t>  • Suelo urbano:     500 tiles</a:t>
            </a:r>
          </a:p>
          <a:p>
            <a:pPr>
              <a:spcAft>
                <a:spcPts val="480"/>
              </a:spcAft>
              <a:defRPr sz="1200">
                <a:solidFill>
                  <a:srgbClr val="BBBBCC"/>
                </a:solidFill>
                <a:latin typeface="Calibri"/>
              </a:defRPr>
            </a:pPr>
          </a:p>
          <a:p>
            <a:pPr>
              <a:spcAft>
                <a:spcPts val="480"/>
              </a:spcAft>
              <a:defRPr sz="1200">
                <a:solidFill>
                  <a:srgbClr val="BBBBCC"/>
                </a:solidFill>
                <a:latin typeface="Calibri"/>
              </a:defRPr>
            </a:pPr>
            <a:r>
              <a:t>Archivos generados:</a:t>
            </a:r>
          </a:p>
          <a:p>
            <a:pPr>
              <a:spcAft>
                <a:spcPts val="480"/>
              </a:spcAft>
              <a:defRPr sz="1200">
                <a:solidFill>
                  <a:srgbClr val="BBBBCC"/>
                </a:solidFill>
                <a:latin typeface="Calibri"/>
              </a:defRPr>
            </a:pPr>
            <a:r>
              <a:t>  dataset_sit2/tiles.zarr  →  (2276, 13, 64, 64) int16</a:t>
            </a:r>
          </a:p>
          <a:p>
            <a:pPr>
              <a:spcAft>
                <a:spcPts val="480"/>
              </a:spcAft>
              <a:defRPr sz="1200">
                <a:solidFill>
                  <a:srgbClr val="BBBBCC"/>
                </a:solidFill>
                <a:latin typeface="Calibri"/>
              </a:defRPr>
            </a:pPr>
            <a:r>
              <a:t>  dataset_sit2/metadatos.parquet  →  2276 filas</a:t>
            </a:r>
          </a:p>
          <a:p>
            <a:pPr>
              <a:spcAft>
                <a:spcPts val="480"/>
              </a:spcAft>
              <a:defRPr sz="1200">
                <a:solidFill>
                  <a:srgbClr val="BBBBCC"/>
                </a:solidFill>
                <a:latin typeface="Calibri"/>
              </a:defRPr>
            </a:pPr>
            <a:r>
              <a:t>  dataset_sit2/secuencias.json    →  30 secuencias × 8 fechas</a:t>
            </a:r>
          </a:p>
        </p:txBody>
      </p:sp>
      <p:sp>
        <p:nvSpPr>
          <p:cNvPr id="25" name="TextBox 24"/>
          <p:cNvSpPr txBox="1"/>
          <p:nvPr/>
        </p:nvSpPr>
        <p:spPr>
          <a:xfrm>
            <a:off x="6400800" y="2743200"/>
            <a:ext cx="5029200" cy="365760"/>
          </a:xfrm>
          <a:prstGeom prst="rect">
            <a:avLst/>
          </a:prstGeom>
          <a:noFill/>
        </p:spPr>
        <p:txBody>
          <a:bodyPr wrap="square">
            <a:spAutoFit/>
          </a:bodyPr>
          <a:lstStyle/>
          <a:p>
            <a:pPr algn="l">
              <a:defRPr sz="1600" b="1">
                <a:solidFill>
                  <a:srgbClr val="00E676"/>
                </a:solidFill>
                <a:latin typeface="Calibri"/>
              </a:defRPr>
            </a:pPr>
            <a:r>
              <a:t>Etiquetado semi-supervisado</a:t>
            </a:r>
          </a:p>
        </p:txBody>
      </p:sp>
      <p:sp>
        <p:nvSpPr>
          <p:cNvPr id="26" name="TextBox 25"/>
          <p:cNvSpPr txBox="1"/>
          <p:nvPr/>
        </p:nvSpPr>
        <p:spPr>
          <a:xfrm>
            <a:off x="6400800" y="3200400"/>
            <a:ext cx="5029200" cy="3200400"/>
          </a:xfrm>
          <a:prstGeom prst="rect">
            <a:avLst/>
          </a:prstGeom>
          <a:noFill/>
        </p:spPr>
        <p:txBody>
          <a:bodyPr wrap="square">
            <a:spAutoFit/>
          </a:bodyPr>
          <a:lstStyle/>
          <a:p>
            <a:pPr>
              <a:spcAft>
                <a:spcPts val="480"/>
              </a:spcAft>
              <a:defRPr sz="1200">
                <a:solidFill>
                  <a:srgbClr val="BBBBCC"/>
                </a:solidFill>
                <a:latin typeface="Calibri"/>
              </a:defRPr>
            </a:pPr>
            <a:r>
              <a:t>Pseudo-labels basados en percentiles S5P:</a:t>
            </a:r>
          </a:p>
          <a:p>
            <a:pPr>
              <a:spcAft>
                <a:spcPts val="480"/>
              </a:spcAft>
              <a:defRPr sz="1200">
                <a:solidFill>
                  <a:srgbClr val="BBBBCC"/>
                </a:solidFill>
                <a:latin typeface="Calibri"/>
              </a:defRPr>
            </a:pPr>
          </a:p>
          <a:p>
            <a:pPr>
              <a:spcAft>
                <a:spcPts val="480"/>
              </a:spcAft>
              <a:defRPr sz="1200">
                <a:solidFill>
                  <a:srgbClr val="BBBBCC"/>
                </a:solidFill>
                <a:latin typeface="Calibri"/>
              </a:defRPr>
            </a:pPr>
            <a:r>
              <a:t>  Contaminante    p50          p90          p99</a:t>
            </a:r>
          </a:p>
          <a:p>
            <a:pPr>
              <a:spcAft>
                <a:spcPts val="480"/>
              </a:spcAft>
              <a:defRPr sz="1200">
                <a:solidFill>
                  <a:srgbClr val="BBBBCC"/>
                </a:solidFill>
                <a:latin typeface="Calibri"/>
              </a:defRPr>
            </a:pPr>
            <a:r>
              <a:t>  NO₂        2.40e-5     4.57e-5     8.56e-5</a:t>
            </a:r>
          </a:p>
          <a:p>
            <a:pPr>
              <a:spcAft>
                <a:spcPts val="480"/>
              </a:spcAft>
              <a:defRPr sz="1200">
                <a:solidFill>
                  <a:srgbClr val="BBBBCC"/>
                </a:solidFill>
                <a:latin typeface="Calibri"/>
              </a:defRPr>
            </a:pPr>
            <a:r>
              <a:t>  SO₂        2.04e-4     5.90e-4     1.28e-3</a:t>
            </a:r>
          </a:p>
          <a:p>
            <a:pPr>
              <a:spcAft>
                <a:spcPts val="480"/>
              </a:spcAft>
              <a:defRPr sz="1200">
                <a:solidFill>
                  <a:srgbClr val="BBBBCC"/>
                </a:solidFill>
                <a:latin typeface="Calibri"/>
              </a:defRPr>
            </a:pPr>
            <a:r>
              <a:t>  O₃         0.115       0.122       0.129</a:t>
            </a:r>
          </a:p>
          <a:p>
            <a:pPr>
              <a:spcAft>
                <a:spcPts val="480"/>
              </a:spcAft>
              <a:defRPr sz="1200">
                <a:solidFill>
                  <a:srgbClr val="BBBBCC"/>
                </a:solidFill>
                <a:latin typeface="Calibri"/>
              </a:defRPr>
            </a:pPr>
          </a:p>
          <a:p>
            <a:pPr>
              <a:spcAft>
                <a:spcPts val="480"/>
              </a:spcAft>
              <a:defRPr sz="1200">
                <a:solidFill>
                  <a:srgbClr val="BBBBCC"/>
                </a:solidFill>
                <a:latin typeface="Calibri"/>
              </a:defRPr>
            </a:pPr>
            <a:r>
              <a:t>Ventana: ±7 días S5P alrededor de la fecha S2 (nanmax)</a:t>
            </a:r>
          </a:p>
          <a:p>
            <a:pPr>
              <a:spcAft>
                <a:spcPts val="480"/>
              </a:spcAft>
              <a:defRPr sz="1200">
                <a:solidFill>
                  <a:srgbClr val="BBBBCC"/>
                </a:solidFill>
                <a:latin typeface="Calibri"/>
              </a:defRPr>
            </a:pPr>
            <a:r>
              <a:t>v2: score-based (no prioridad fija NO₂)</a:t>
            </a:r>
          </a:p>
          <a:p>
            <a:pPr>
              <a:spcAft>
                <a:spcPts val="480"/>
              </a:spcAft>
              <a:defRPr sz="1200">
                <a:solidFill>
                  <a:srgbClr val="BBBBCC"/>
                </a:solidFill>
                <a:latin typeface="Calibri"/>
              </a:defRPr>
            </a:pPr>
          </a:p>
          <a:p>
            <a:pPr>
              <a:spcAft>
                <a:spcPts val="480"/>
              </a:spcAft>
              <a:defRPr sz="1200">
                <a:solidFill>
                  <a:srgbClr val="BBBBCC"/>
                </a:solidFill>
                <a:latin typeface="Calibri"/>
              </a:defRPr>
            </a:pPr>
            <a:r>
              <a:t>Pipeline: generar_dataset_sit2_v2.py (6 pasos)</a:t>
            </a:r>
          </a:p>
          <a:p>
            <a:pPr>
              <a:spcAft>
                <a:spcPts val="480"/>
              </a:spcAft>
              <a:defRPr sz="1200">
                <a:solidFill>
                  <a:srgbClr val="BBBBCC"/>
                </a:solidFill>
                <a:latin typeface="Calibri"/>
              </a:defRPr>
            </a:pPr>
            <a:r>
              <a:t>  1. Percentiles S5P → 2. Barrido S2 (Dask)</a:t>
            </a:r>
          </a:p>
          <a:p>
            <a:pPr>
              <a:spcAft>
                <a:spcPts val="480"/>
              </a:spcAft>
              <a:defRPr sz="1200">
                <a:solidFill>
                  <a:srgbClr val="BBBBCC"/>
                </a:solidFill>
                <a:latin typeface="Calibri"/>
              </a:defRPr>
            </a:pPr>
            <a:r>
              <a:t>  3. Filtro SCL nube/claro → 4. NDVI·BSI·NDBI·frac_built_up</a:t>
            </a:r>
          </a:p>
          <a:p>
            <a:pPr>
              <a:spcAft>
                <a:spcPts val="480"/>
              </a:spcAft>
              <a:defRPr sz="1200">
                <a:solidFill>
                  <a:srgbClr val="BBBBCC"/>
                </a:solidFill>
                <a:latin typeface="Calibri"/>
              </a:defRPr>
            </a:pPr>
            <a:r>
              <a:t>  5. generar_descripcion → 6. Split + secuencias.json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9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548640" cy="457200"/>
          </a:xfrm>
          <a:prstGeom prst="rect">
            <a:avLst/>
          </a:prstGeom>
          <a:noFill/>
        </p:spPr>
        <p:txBody>
          <a:bodyPr wrap="square">
            <a:spAutoFit/>
          </a:bodyPr>
          <a:lstStyle/>
          <a:p>
            <a:pPr algn="l">
              <a:defRPr sz="2800" b="1">
                <a:solidFill>
                  <a:srgbClr val="009DFF"/>
                </a:solidFill>
                <a:latin typeface="Calibri"/>
              </a:defRPr>
            </a:pPr>
            <a:r>
              <a:t>10</a:t>
            </a:r>
          </a:p>
        </p:txBody>
      </p:sp>
      <p:sp>
        <p:nvSpPr>
          <p:cNvPr id="4" name="TextBox 3"/>
          <p:cNvSpPr txBox="1"/>
          <p:nvPr/>
        </p:nvSpPr>
        <p:spPr>
          <a:xfrm>
            <a:off x="1188720" y="274320"/>
            <a:ext cx="9144000" cy="457200"/>
          </a:xfrm>
          <a:prstGeom prst="rect">
            <a:avLst/>
          </a:prstGeom>
          <a:noFill/>
        </p:spPr>
        <p:txBody>
          <a:bodyPr wrap="square">
            <a:spAutoFit/>
          </a:bodyPr>
          <a:lstStyle/>
          <a:p>
            <a:pPr algn="l">
              <a:defRPr sz="2800" b="1">
                <a:solidFill>
                  <a:srgbClr val="FFFFFF"/>
                </a:solidFill>
                <a:latin typeface="Calibri"/>
              </a:defRPr>
            </a:pPr>
            <a:r>
              <a:t>Modelo GeoVision-CLIP + SAE</a:t>
            </a:r>
          </a:p>
        </p:txBody>
      </p:sp>
      <p:sp>
        <p:nvSpPr>
          <p:cNvPr id="5" name="TextBox 4"/>
          <p:cNvSpPr txBox="1"/>
          <p:nvPr/>
        </p:nvSpPr>
        <p:spPr>
          <a:xfrm>
            <a:off x="1188720" y="685800"/>
            <a:ext cx="9144000" cy="365760"/>
          </a:xfrm>
          <a:prstGeom prst="rect">
            <a:avLst/>
          </a:prstGeom>
          <a:noFill/>
        </p:spPr>
        <p:txBody>
          <a:bodyPr wrap="square">
            <a:spAutoFit/>
          </a:bodyPr>
          <a:lstStyle/>
          <a:p>
            <a:pPr algn="l">
              <a:defRPr sz="1400" b="0">
                <a:solidFill>
                  <a:srgbClr val="666688"/>
                </a:solidFill>
                <a:latin typeface="Calibri"/>
              </a:defRPr>
            </a:pPr>
            <a:r>
              <a:t>Arquitectura multimodal contrastiva</a:t>
            </a:r>
          </a:p>
        </p:txBody>
      </p:sp>
      <p:sp>
        <p:nvSpPr>
          <p:cNvPr id="6" name="Rectangle 5"/>
          <p:cNvSpPr/>
          <p:nvPr/>
        </p:nvSpPr>
        <p:spPr>
          <a:xfrm>
            <a:off x="548640" y="1051560"/>
            <a:ext cx="11064240" cy="9144"/>
          </a:xfrm>
          <a:prstGeom prst="rect">
            <a:avLst/>
          </a:prstGeom>
          <a:solidFill>
            <a:srgbClr val="2233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371600"/>
            <a:ext cx="5029200" cy="365760"/>
          </a:xfrm>
          <a:prstGeom prst="rect">
            <a:avLst/>
          </a:prstGeom>
          <a:noFill/>
        </p:spPr>
        <p:txBody>
          <a:bodyPr wrap="square">
            <a:spAutoFit/>
          </a:bodyPr>
          <a:lstStyle/>
          <a:p>
            <a:pPr algn="l">
              <a:defRPr sz="1700" b="1">
                <a:solidFill>
                  <a:srgbClr val="009DFF"/>
                </a:solidFill>
                <a:latin typeface="Calibri"/>
              </a:defRPr>
            </a:pPr>
            <a:r>
              <a:t>Rama Imagen</a:t>
            </a:r>
          </a:p>
        </p:txBody>
      </p:sp>
      <p:sp>
        <p:nvSpPr>
          <p:cNvPr id="8" name="TextBox 7"/>
          <p:cNvSpPr txBox="1"/>
          <p:nvPr/>
        </p:nvSpPr>
        <p:spPr>
          <a:xfrm>
            <a:off x="731520" y="1828800"/>
            <a:ext cx="5029200" cy="1828800"/>
          </a:xfrm>
          <a:prstGeom prst="rect">
            <a:avLst/>
          </a:prstGeom>
          <a:noFill/>
        </p:spPr>
        <p:txBody>
          <a:bodyPr wrap="square">
            <a:spAutoFit/>
          </a:bodyPr>
          <a:lstStyle/>
          <a:p>
            <a:pPr>
              <a:spcAft>
                <a:spcPts val="480"/>
              </a:spcAft>
              <a:defRPr sz="1200">
                <a:solidFill>
                  <a:srgbClr val="BBBBCC"/>
                </a:solidFill>
                <a:latin typeface="Calibri"/>
              </a:defRPr>
            </a:pPr>
            <a:r>
              <a:t>Tile (13, H, W) → Conv 13→3 (true-color: B4→R, B3→G, B2→B)</a:t>
            </a:r>
          </a:p>
          <a:p>
            <a:pPr>
              <a:spcAft>
                <a:spcPts val="480"/>
              </a:spcAft>
              <a:defRPr sz="1200">
                <a:solidFill>
                  <a:srgbClr val="BBBBCC"/>
                </a:solidFill>
                <a:latin typeface="Calibri"/>
              </a:defRPr>
            </a:pPr>
            <a:r>
              <a:t>→ ViT-B/32 RemoteCLIP (pesos frozen parcialmente)</a:t>
            </a:r>
          </a:p>
          <a:p>
            <a:pPr>
              <a:spcAft>
                <a:spcPts val="480"/>
              </a:spcAft>
              <a:defRPr sz="1200">
                <a:solidFill>
                  <a:srgbClr val="BBBBCC"/>
                </a:solidFill>
                <a:latin typeface="Calibri"/>
              </a:defRPr>
            </a:pPr>
            <a:r>
              <a:t>→ SAE_img: 768 → 512 → 768 (Sparse Autoencoder)</a:t>
            </a:r>
          </a:p>
          <a:p>
            <a:pPr>
              <a:spcAft>
                <a:spcPts val="480"/>
              </a:spcAft>
              <a:defRPr sz="1200">
                <a:solidFill>
                  <a:srgbClr val="BBBBCC"/>
                </a:solidFill>
                <a:latin typeface="Calibri"/>
              </a:defRPr>
            </a:pPr>
            <a:r>
              <a:t>→ Projection head: 512 → 256 (espacio contrastivo)</a:t>
            </a:r>
          </a:p>
          <a:p>
            <a:pPr>
              <a:spcAft>
                <a:spcPts val="480"/>
              </a:spcAft>
              <a:defRPr sz="1200">
                <a:solidFill>
                  <a:srgbClr val="BBBBCC"/>
                </a:solidFill>
                <a:latin typeface="Calibri"/>
              </a:defRPr>
            </a:pPr>
          </a:p>
          <a:p>
            <a:pPr>
              <a:spcAft>
                <a:spcPts val="480"/>
              </a:spcAft>
              <a:defRPr sz="1200">
                <a:solidFill>
                  <a:srgbClr val="BBBBCC"/>
                </a:solidFill>
                <a:latin typeface="Calibri"/>
              </a:defRPr>
            </a:pPr>
            <a:r>
              <a:t>Nota: fine-tune condicional en capas finales del ViT</a:t>
            </a:r>
          </a:p>
        </p:txBody>
      </p:sp>
      <p:sp>
        <p:nvSpPr>
          <p:cNvPr id="9" name="TextBox 8"/>
          <p:cNvSpPr txBox="1"/>
          <p:nvPr/>
        </p:nvSpPr>
        <p:spPr>
          <a:xfrm>
            <a:off x="6400800" y="1371600"/>
            <a:ext cx="5029200" cy="365760"/>
          </a:xfrm>
          <a:prstGeom prst="rect">
            <a:avLst/>
          </a:prstGeom>
          <a:noFill/>
        </p:spPr>
        <p:txBody>
          <a:bodyPr wrap="square">
            <a:spAutoFit/>
          </a:bodyPr>
          <a:lstStyle/>
          <a:p>
            <a:pPr algn="l">
              <a:defRPr sz="1700" b="1">
                <a:solidFill>
                  <a:srgbClr val="00E676"/>
                </a:solidFill>
                <a:latin typeface="Calibri"/>
              </a:defRPr>
            </a:pPr>
            <a:r>
              <a:t>Rama Texto</a:t>
            </a:r>
          </a:p>
        </p:txBody>
      </p:sp>
      <p:sp>
        <p:nvSpPr>
          <p:cNvPr id="10" name="TextBox 9"/>
          <p:cNvSpPr txBox="1"/>
          <p:nvPr/>
        </p:nvSpPr>
        <p:spPr>
          <a:xfrm>
            <a:off x="6400800" y="1828800"/>
            <a:ext cx="5029200" cy="1828800"/>
          </a:xfrm>
          <a:prstGeom prst="rect">
            <a:avLst/>
          </a:prstGeom>
          <a:noFill/>
        </p:spPr>
        <p:txBody>
          <a:bodyPr wrap="square">
            <a:spAutoFit/>
          </a:bodyPr>
          <a:lstStyle/>
          <a:p>
            <a:pPr>
              <a:spcAft>
                <a:spcPts val="480"/>
              </a:spcAft>
              <a:defRPr sz="1200">
                <a:solidFill>
                  <a:srgbClr val="BBBBCC"/>
                </a:solidFill>
                <a:latin typeface="Calibri"/>
              </a:defRPr>
            </a:pPr>
            <a:r>
              <a:t>Descripción en español → MiniLM-L12 (384-d) multilingüe</a:t>
            </a:r>
          </a:p>
          <a:p>
            <a:pPr>
              <a:spcAft>
                <a:spcPts val="480"/>
              </a:spcAft>
              <a:defRPr sz="1200">
                <a:solidFill>
                  <a:srgbClr val="BBBBCC"/>
                </a:solidFill>
                <a:latin typeface="Calibri"/>
              </a:defRPr>
            </a:pPr>
            <a:r>
              <a:t>→ Linear: 384 → 512</a:t>
            </a:r>
          </a:p>
          <a:p>
            <a:pPr>
              <a:spcAft>
                <a:spcPts val="480"/>
              </a:spcAft>
              <a:defRPr sz="1200">
                <a:solidFill>
                  <a:srgbClr val="BBBBCC"/>
                </a:solidFill>
                <a:latin typeface="Calibri"/>
              </a:defRPr>
            </a:pPr>
            <a:r>
              <a:t>→ SAE_txt: 512 → 512 → 512</a:t>
            </a:r>
          </a:p>
          <a:p>
            <a:pPr>
              <a:spcAft>
                <a:spcPts val="480"/>
              </a:spcAft>
              <a:defRPr sz="1200">
                <a:solidFill>
                  <a:srgbClr val="BBBBCC"/>
                </a:solidFill>
                <a:latin typeface="Calibri"/>
              </a:defRPr>
            </a:pPr>
            <a:r>
              <a:t>→ Projection head: 512 → 256</a:t>
            </a:r>
          </a:p>
          <a:p>
            <a:pPr>
              <a:spcAft>
                <a:spcPts val="480"/>
              </a:spcAft>
              <a:defRPr sz="1200">
                <a:solidFill>
                  <a:srgbClr val="BBBBCC"/>
                </a:solidFill>
                <a:latin typeface="Calibri"/>
              </a:defRPr>
            </a:pPr>
          </a:p>
          <a:p>
            <a:pPr>
              <a:spcAft>
                <a:spcPts val="480"/>
              </a:spcAft>
              <a:defRPr sz="1200">
                <a:solidFill>
                  <a:srgbClr val="BBBBCC"/>
                </a:solidFill>
                <a:latin typeface="Calibri"/>
              </a:defRPr>
            </a:pPr>
            <a:r>
              <a:t>Tokenizer multilingüe · max 256 tokens</a:t>
            </a:r>
          </a:p>
          <a:p>
            <a:pPr>
              <a:spcAft>
                <a:spcPts val="480"/>
              </a:spcAft>
              <a:defRPr sz="1200">
                <a:solidFill>
                  <a:srgbClr val="BBBBCC"/>
                </a:solidFill>
                <a:latin typeface="Calibri"/>
              </a:defRPr>
            </a:pPr>
            <a:r>
              <a:t>Plantillas v2 incluyen: ndbi, exceso_*, built-up</a:t>
            </a:r>
          </a:p>
        </p:txBody>
      </p:sp>
      <p:sp>
        <p:nvSpPr>
          <p:cNvPr id="11" name="TextBox 10"/>
          <p:cNvSpPr txBox="1"/>
          <p:nvPr/>
        </p:nvSpPr>
        <p:spPr>
          <a:xfrm>
            <a:off x="731520" y="3657600"/>
            <a:ext cx="10698480" cy="365760"/>
          </a:xfrm>
          <a:prstGeom prst="rect">
            <a:avLst/>
          </a:prstGeom>
          <a:noFill/>
        </p:spPr>
        <p:txBody>
          <a:bodyPr wrap="square">
            <a:spAutoFit/>
          </a:bodyPr>
          <a:lstStyle/>
          <a:p>
            <a:pPr algn="l">
              <a:defRPr sz="1600" b="1">
                <a:solidFill>
                  <a:srgbClr val="FF8C00"/>
                </a:solidFill>
                <a:latin typeface="Calibri"/>
              </a:defRPr>
            </a:pPr>
            <a:r>
              <a:t>Función de Pérdida</a:t>
            </a:r>
          </a:p>
        </p:txBody>
      </p:sp>
      <p:sp>
        <p:nvSpPr>
          <p:cNvPr id="12" name="Rectangle 11"/>
          <p:cNvSpPr/>
          <p:nvPr/>
        </p:nvSpPr>
        <p:spPr>
          <a:xfrm>
            <a:off x="731520" y="4023360"/>
            <a:ext cx="10698480" cy="1097280"/>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4023360"/>
            <a:ext cx="54864" cy="109728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069080"/>
            <a:ext cx="10241280" cy="1005840"/>
          </a:xfrm>
          <a:prstGeom prst="rect">
            <a:avLst/>
          </a:prstGeom>
          <a:noFill/>
        </p:spPr>
        <p:txBody>
          <a:bodyPr wrap="square">
            <a:spAutoFit/>
          </a:bodyPr>
          <a:lstStyle/>
          <a:p>
            <a:pPr>
              <a:spcAft>
                <a:spcPts val="480"/>
              </a:spcAft>
              <a:defRPr sz="1200">
                <a:solidFill>
                  <a:srgbClr val="BBBBCC"/>
                </a:solidFill>
                <a:latin typeface="Calibri"/>
              </a:defRPr>
            </a:pPr>
            <a:r>
              <a:t>L_total = L_InfoNCE + α · (L_SAE_img + L_SAE_txt)</a:t>
            </a:r>
          </a:p>
          <a:p>
            <a:pPr>
              <a:spcAft>
                <a:spcPts val="480"/>
              </a:spcAft>
              <a:defRPr sz="1200">
                <a:solidFill>
                  <a:srgbClr val="BBBBCC"/>
                </a:solidFill>
                <a:latin typeface="Calibri"/>
              </a:defRPr>
            </a:pPr>
            <a:r>
              <a:t>  L_InfoNCE = -(1/N) · Σᵢ log[ exp(sim(eᵢ,fᵢ)/τ) / Σⱼ exp(sim(eᵢ,fⱼ)/τ) ]</a:t>
            </a:r>
          </a:p>
          <a:p>
            <a:pPr>
              <a:spcAft>
                <a:spcPts val="480"/>
              </a:spcAft>
              <a:defRPr sz="1200">
                <a:solidFill>
                  <a:srgbClr val="BBBBCC"/>
                </a:solidFill>
                <a:latin typeface="Calibri"/>
              </a:defRPr>
            </a:pPr>
            <a:r>
              <a:t>  L_SAE = ‖x - x̂‖² + λ · ‖z‖₁</a:t>
            </a:r>
          </a:p>
          <a:p>
            <a:pPr>
              <a:spcAft>
                <a:spcPts val="480"/>
              </a:spcAft>
              <a:defRPr sz="1200">
                <a:solidFill>
                  <a:srgbClr val="BBBBCC"/>
                </a:solidFill>
                <a:latin typeface="Calibri"/>
              </a:defRPr>
            </a:pPr>
          </a:p>
          <a:p>
            <a:pPr>
              <a:spcAft>
                <a:spcPts val="480"/>
              </a:spcAft>
              <a:defRPr sz="1200">
                <a:solidFill>
                  <a:srgbClr val="BBBBCC"/>
                </a:solidFill>
                <a:latin typeface="Calibri"/>
              </a:defRPr>
            </a:pPr>
            <a:r>
              <a:t>Parámetros: τ = 0.07 (learnable)  |  α = 0.1  |  λ = 1e-3  |  d (embedding) = 512  |  dim contrastiva = 256</a:t>
            </a:r>
          </a:p>
        </p:txBody>
      </p:sp>
      <p:sp>
        <p:nvSpPr>
          <p:cNvPr id="15" name="TextBox 14"/>
          <p:cNvSpPr txBox="1"/>
          <p:nvPr/>
        </p:nvSpPr>
        <p:spPr>
          <a:xfrm>
            <a:off x="731520" y="5394960"/>
            <a:ext cx="5029200" cy="365760"/>
          </a:xfrm>
          <a:prstGeom prst="rect">
            <a:avLst/>
          </a:prstGeom>
          <a:noFill/>
        </p:spPr>
        <p:txBody>
          <a:bodyPr wrap="square">
            <a:spAutoFit/>
          </a:bodyPr>
          <a:lstStyle/>
          <a:p>
            <a:pPr algn="l">
              <a:defRPr sz="1500" b="1">
                <a:solidFill>
                  <a:srgbClr val="009DFF"/>
                </a:solidFill>
                <a:latin typeface="Calibri"/>
              </a:defRPr>
            </a:pPr>
            <a:r>
              <a:t>Configuración de entrenamiento</a:t>
            </a:r>
          </a:p>
        </p:txBody>
      </p:sp>
      <p:sp>
        <p:nvSpPr>
          <p:cNvPr id="16" name="TextBox 15"/>
          <p:cNvSpPr txBox="1"/>
          <p:nvPr/>
        </p:nvSpPr>
        <p:spPr>
          <a:xfrm>
            <a:off x="731520" y="5669280"/>
            <a:ext cx="5029200" cy="914400"/>
          </a:xfrm>
          <a:prstGeom prst="rect">
            <a:avLst/>
          </a:prstGeom>
          <a:noFill/>
        </p:spPr>
        <p:txBody>
          <a:bodyPr wrap="square">
            <a:spAutoFit/>
          </a:bodyPr>
          <a:lstStyle/>
          <a:p>
            <a:pPr>
              <a:spcAft>
                <a:spcPts val="440"/>
              </a:spcAft>
              <a:defRPr sz="1100">
                <a:solidFill>
                  <a:srgbClr val="BBBBCC"/>
                </a:solidFill>
                <a:latin typeface="Calibri"/>
              </a:defRPr>
            </a:pPr>
            <a:r>
              <a:t>Framework: PyTorch Lightning  |  GPU: T4/P100 (Kaggle), A100 (Colab)</a:t>
            </a:r>
          </a:p>
          <a:p>
            <a:pPr>
              <a:spcAft>
                <a:spcPts val="440"/>
              </a:spcAft>
              <a:defRPr sz="1100">
                <a:solidFill>
                  <a:srgbClr val="BBBBCC"/>
                </a:solidFill>
                <a:latin typeface="Calibri"/>
              </a:defRPr>
            </a:pPr>
            <a:r>
              <a:t>Optimizer: AdamW (lr=1e-4)  |  Batch: 32-64</a:t>
            </a:r>
          </a:p>
          <a:p>
            <a:pPr>
              <a:spcAft>
                <a:spcPts val="440"/>
              </a:spcAft>
              <a:defRPr sz="1100">
                <a:solidFill>
                  <a:srgbClr val="BBBBCC"/>
                </a:solidFill>
                <a:latin typeface="Calibri"/>
              </a:defRPr>
            </a:pPr>
            <a:r>
              <a:t>Early stopping con paciencia 10  |  Warmup: α=0 primeras épocas</a:t>
            </a:r>
          </a:p>
        </p:txBody>
      </p:sp>
      <p:sp>
        <p:nvSpPr>
          <p:cNvPr id="17" name="TextBox 16"/>
          <p:cNvSpPr txBox="1"/>
          <p:nvPr/>
        </p:nvSpPr>
        <p:spPr>
          <a:xfrm>
            <a:off x="6400800" y="5394960"/>
            <a:ext cx="5029200" cy="365760"/>
          </a:xfrm>
          <a:prstGeom prst="rect">
            <a:avLst/>
          </a:prstGeom>
          <a:noFill/>
        </p:spPr>
        <p:txBody>
          <a:bodyPr wrap="square">
            <a:spAutoFit/>
          </a:bodyPr>
          <a:lstStyle/>
          <a:p>
            <a:pPr algn="l">
              <a:defRPr sz="1500" b="1">
                <a:solidFill>
                  <a:srgbClr val="00E676"/>
                </a:solidFill>
                <a:latin typeface="Calibri"/>
              </a:defRPr>
            </a:pPr>
            <a:r>
              <a:t>Implementación</a:t>
            </a:r>
          </a:p>
        </p:txBody>
      </p:sp>
      <p:sp>
        <p:nvSpPr>
          <p:cNvPr id="18" name="TextBox 17"/>
          <p:cNvSpPr txBox="1"/>
          <p:nvPr/>
        </p:nvSpPr>
        <p:spPr>
          <a:xfrm>
            <a:off x="6400800" y="5669280"/>
            <a:ext cx="5029200" cy="914400"/>
          </a:xfrm>
          <a:prstGeom prst="rect">
            <a:avLst/>
          </a:prstGeom>
          <a:noFill/>
        </p:spPr>
        <p:txBody>
          <a:bodyPr wrap="square">
            <a:spAutoFit/>
          </a:bodyPr>
          <a:lstStyle/>
          <a:p>
            <a:pPr>
              <a:spcAft>
                <a:spcPts val="440"/>
              </a:spcAft>
              <a:defRPr sz="1100">
                <a:solidFill>
                  <a:srgbClr val="BBBBCC"/>
                </a:solidFill>
                <a:latin typeface="Calibri"/>
              </a:defRPr>
            </a:pPr>
            <a:r>
              <a:t>src/modelos/geovision_clip_sae.py → modelo completo</a:t>
            </a:r>
          </a:p>
          <a:p>
            <a:pPr>
              <a:spcAft>
                <a:spcPts val="440"/>
              </a:spcAft>
              <a:defRPr sz="1100">
                <a:solidFill>
                  <a:srgbClr val="BBBBCC"/>
                </a:solidFill>
                <a:latin typeface="Calibri"/>
              </a:defRPr>
            </a:pPr>
            <a:r>
              <a:t>src/modelos/sae.py → Sparse Autoencoder</a:t>
            </a:r>
          </a:p>
          <a:p>
            <a:pPr>
              <a:spcAft>
                <a:spcPts val="440"/>
              </a:spcAft>
              <a:defRPr sz="1100">
                <a:solidFill>
                  <a:srgbClr val="BBBBCC"/>
                </a:solidFill>
                <a:latin typeface="Calibri"/>
              </a:defRPr>
            </a:pPr>
            <a:r>
              <a:t>src/modelos/clip_metrics.py → Recall@K, sparsity</a:t>
            </a:r>
          </a:p>
          <a:p>
            <a:pPr>
              <a:spcAft>
                <a:spcPts val="440"/>
              </a:spcAft>
              <a:defRPr sz="1100">
                <a:solidFill>
                  <a:srgbClr val="BBBBCC"/>
                </a:solidFill>
                <a:latin typeface="Calibri"/>
              </a:defRPr>
            </a:pPr>
            <a:r>
              <a:t>src/training/lit_geovision.py → LightningModule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9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548640" cy="457200"/>
          </a:xfrm>
          <a:prstGeom prst="rect">
            <a:avLst/>
          </a:prstGeom>
          <a:noFill/>
        </p:spPr>
        <p:txBody>
          <a:bodyPr wrap="square">
            <a:spAutoFit/>
          </a:bodyPr>
          <a:lstStyle/>
          <a:p>
            <a:pPr algn="l">
              <a:defRPr sz="2800" b="1">
                <a:solidFill>
                  <a:srgbClr val="009DFF"/>
                </a:solidFill>
                <a:latin typeface="Calibri"/>
              </a:defRPr>
            </a:pPr>
            <a:r>
              <a:t>11</a:t>
            </a:r>
          </a:p>
        </p:txBody>
      </p:sp>
      <p:sp>
        <p:nvSpPr>
          <p:cNvPr id="4" name="TextBox 3"/>
          <p:cNvSpPr txBox="1"/>
          <p:nvPr/>
        </p:nvSpPr>
        <p:spPr>
          <a:xfrm>
            <a:off x="1188720" y="274320"/>
            <a:ext cx="9144000" cy="457200"/>
          </a:xfrm>
          <a:prstGeom prst="rect">
            <a:avLst/>
          </a:prstGeom>
          <a:noFill/>
        </p:spPr>
        <p:txBody>
          <a:bodyPr wrap="square">
            <a:spAutoFit/>
          </a:bodyPr>
          <a:lstStyle/>
          <a:p>
            <a:pPr algn="l">
              <a:defRPr sz="2800" b="1">
                <a:solidFill>
                  <a:srgbClr val="FFFFFF"/>
                </a:solidFill>
                <a:latin typeface="Calibri"/>
              </a:defRPr>
            </a:pPr>
            <a:r>
              <a:t>KPIs y Resultados</a:t>
            </a:r>
          </a:p>
        </p:txBody>
      </p:sp>
      <p:sp>
        <p:nvSpPr>
          <p:cNvPr id="5" name="TextBox 4"/>
          <p:cNvSpPr txBox="1"/>
          <p:nvPr/>
        </p:nvSpPr>
        <p:spPr>
          <a:xfrm>
            <a:off x="1188720" y="685800"/>
            <a:ext cx="9144000" cy="365760"/>
          </a:xfrm>
          <a:prstGeom prst="rect">
            <a:avLst/>
          </a:prstGeom>
          <a:noFill/>
        </p:spPr>
        <p:txBody>
          <a:bodyPr wrap="square">
            <a:spAutoFit/>
          </a:bodyPr>
          <a:lstStyle/>
          <a:p>
            <a:pPr algn="l">
              <a:defRPr sz="1400" b="0">
                <a:solidFill>
                  <a:srgbClr val="666688"/>
                </a:solidFill>
                <a:latin typeface="Calibri"/>
              </a:defRPr>
            </a:pPr>
            <a:r>
              <a:t>Estado actual del entrenamiento</a:t>
            </a:r>
          </a:p>
        </p:txBody>
      </p:sp>
      <p:sp>
        <p:nvSpPr>
          <p:cNvPr id="6" name="Rectangle 5"/>
          <p:cNvSpPr/>
          <p:nvPr/>
        </p:nvSpPr>
        <p:spPr>
          <a:xfrm>
            <a:off x="548640" y="1051560"/>
            <a:ext cx="11064240" cy="9144"/>
          </a:xfrm>
          <a:prstGeom prst="rect">
            <a:avLst/>
          </a:prstGeom>
          <a:solidFill>
            <a:srgbClr val="2233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371600"/>
            <a:ext cx="3200400" cy="320040"/>
          </a:xfrm>
          <a:prstGeom prst="rect">
            <a:avLst/>
          </a:prstGeom>
          <a:solidFill>
            <a:srgbClr val="006D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71600"/>
            <a:ext cx="3200400" cy="320040"/>
          </a:xfrm>
          <a:prstGeom prst="rect">
            <a:avLst/>
          </a:prstGeom>
          <a:noFill/>
        </p:spPr>
        <p:txBody>
          <a:bodyPr wrap="square">
            <a:spAutoFit/>
          </a:bodyPr>
          <a:lstStyle/>
          <a:p>
            <a:pPr algn="ctr">
              <a:defRPr sz="1100" b="1">
                <a:solidFill>
                  <a:srgbClr val="FFFFFF"/>
                </a:solidFill>
                <a:latin typeface="Calibri"/>
              </a:defRPr>
            </a:pPr>
            <a:r>
              <a:t>KPI</a:t>
            </a:r>
          </a:p>
        </p:txBody>
      </p:sp>
      <p:sp>
        <p:nvSpPr>
          <p:cNvPr id="9" name="Rectangle 8"/>
          <p:cNvSpPr/>
          <p:nvPr/>
        </p:nvSpPr>
        <p:spPr>
          <a:xfrm>
            <a:off x="3749040" y="1371600"/>
            <a:ext cx="1828800" cy="320040"/>
          </a:xfrm>
          <a:prstGeom prst="rect">
            <a:avLst/>
          </a:prstGeom>
          <a:solidFill>
            <a:srgbClr val="006D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49040" y="1371600"/>
            <a:ext cx="1828800" cy="320040"/>
          </a:xfrm>
          <a:prstGeom prst="rect">
            <a:avLst/>
          </a:prstGeom>
          <a:noFill/>
        </p:spPr>
        <p:txBody>
          <a:bodyPr wrap="square">
            <a:spAutoFit/>
          </a:bodyPr>
          <a:lstStyle/>
          <a:p>
            <a:pPr algn="ctr">
              <a:defRPr sz="1100" b="1">
                <a:solidFill>
                  <a:srgbClr val="FFFFFF"/>
                </a:solidFill>
                <a:latin typeface="Calibri"/>
              </a:defRPr>
            </a:pPr>
            <a:r>
              <a:t>Mínimo</a:t>
            </a:r>
          </a:p>
        </p:txBody>
      </p:sp>
      <p:sp>
        <p:nvSpPr>
          <p:cNvPr id="11" name="Rectangle 10"/>
          <p:cNvSpPr/>
          <p:nvPr/>
        </p:nvSpPr>
        <p:spPr>
          <a:xfrm>
            <a:off x="5577840" y="1371600"/>
            <a:ext cx="1645920" cy="320040"/>
          </a:xfrm>
          <a:prstGeom prst="rect">
            <a:avLst/>
          </a:prstGeom>
          <a:solidFill>
            <a:srgbClr val="006D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77840" y="1371600"/>
            <a:ext cx="1645920" cy="320040"/>
          </a:xfrm>
          <a:prstGeom prst="rect">
            <a:avLst/>
          </a:prstGeom>
          <a:noFill/>
        </p:spPr>
        <p:txBody>
          <a:bodyPr wrap="square">
            <a:spAutoFit/>
          </a:bodyPr>
          <a:lstStyle/>
          <a:p>
            <a:pPr algn="ctr">
              <a:defRPr sz="1100" b="1">
                <a:solidFill>
                  <a:srgbClr val="FFFFFF"/>
                </a:solidFill>
                <a:latin typeface="Calibri"/>
              </a:defRPr>
            </a:pPr>
            <a:r>
              <a:t>Excelente</a:t>
            </a:r>
          </a:p>
        </p:txBody>
      </p:sp>
      <p:sp>
        <p:nvSpPr>
          <p:cNvPr id="13" name="Rectangle 12"/>
          <p:cNvSpPr/>
          <p:nvPr/>
        </p:nvSpPr>
        <p:spPr>
          <a:xfrm>
            <a:off x="7223760" y="1371600"/>
            <a:ext cx="1645920" cy="320040"/>
          </a:xfrm>
          <a:prstGeom prst="rect">
            <a:avLst/>
          </a:prstGeom>
          <a:solidFill>
            <a:srgbClr val="006D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23760" y="1371600"/>
            <a:ext cx="1645920" cy="320040"/>
          </a:xfrm>
          <a:prstGeom prst="rect">
            <a:avLst/>
          </a:prstGeom>
          <a:noFill/>
        </p:spPr>
        <p:txBody>
          <a:bodyPr wrap="square">
            <a:spAutoFit/>
          </a:bodyPr>
          <a:lstStyle/>
          <a:p>
            <a:pPr algn="ctr">
              <a:defRPr sz="1100" b="1">
                <a:solidFill>
                  <a:srgbClr val="FFFFFF"/>
                </a:solidFill>
                <a:latin typeface="Calibri"/>
              </a:defRPr>
            </a:pPr>
            <a:r>
              <a:t>Logrado</a:t>
            </a:r>
          </a:p>
        </p:txBody>
      </p:sp>
      <p:sp>
        <p:nvSpPr>
          <p:cNvPr id="15" name="Rectangle 14"/>
          <p:cNvSpPr/>
          <p:nvPr/>
        </p:nvSpPr>
        <p:spPr>
          <a:xfrm>
            <a:off x="8869680" y="1371600"/>
            <a:ext cx="2286000" cy="320040"/>
          </a:xfrm>
          <a:prstGeom prst="rect">
            <a:avLst/>
          </a:prstGeom>
          <a:solidFill>
            <a:srgbClr val="006D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0" y="1371600"/>
            <a:ext cx="2286000" cy="320040"/>
          </a:xfrm>
          <a:prstGeom prst="rect">
            <a:avLst/>
          </a:prstGeom>
          <a:noFill/>
        </p:spPr>
        <p:txBody>
          <a:bodyPr wrap="square">
            <a:spAutoFit/>
          </a:bodyPr>
          <a:lstStyle/>
          <a:p>
            <a:pPr algn="ctr">
              <a:defRPr sz="1100" b="1">
                <a:solidFill>
                  <a:srgbClr val="FFFFFF"/>
                </a:solidFill>
                <a:latin typeface="Calibri"/>
              </a:defRPr>
            </a:pPr>
            <a:r>
              <a:t>Estado</a:t>
            </a:r>
          </a:p>
        </p:txBody>
      </p:sp>
      <p:sp>
        <p:nvSpPr>
          <p:cNvPr id="17" name="Rectangle 16"/>
          <p:cNvSpPr/>
          <p:nvPr/>
        </p:nvSpPr>
        <p:spPr>
          <a:xfrm>
            <a:off x="548640" y="1691640"/>
            <a:ext cx="3200400" cy="292608"/>
          </a:xfrm>
          <a:prstGeom prst="rect">
            <a:avLst/>
          </a:prstGeom>
          <a:solidFill>
            <a:srgbClr val="18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1691640"/>
            <a:ext cx="3200400" cy="292608"/>
          </a:xfrm>
          <a:prstGeom prst="rect">
            <a:avLst/>
          </a:prstGeom>
          <a:noFill/>
        </p:spPr>
        <p:txBody>
          <a:bodyPr wrap="square">
            <a:spAutoFit/>
          </a:bodyPr>
          <a:lstStyle/>
          <a:p>
            <a:pPr algn="ctr">
              <a:defRPr sz="1000" b="0">
                <a:solidFill>
                  <a:srgbClr val="FFFFFF"/>
                </a:solidFill>
                <a:latin typeface="Calibri"/>
              </a:defRPr>
            </a:pPr>
            <a:r>
              <a:t>Recall@1</a:t>
            </a:r>
          </a:p>
        </p:txBody>
      </p:sp>
      <p:sp>
        <p:nvSpPr>
          <p:cNvPr id="19" name="Rectangle 18"/>
          <p:cNvSpPr/>
          <p:nvPr/>
        </p:nvSpPr>
        <p:spPr>
          <a:xfrm>
            <a:off x="3749040" y="1691640"/>
            <a:ext cx="1828800" cy="292608"/>
          </a:xfrm>
          <a:prstGeom prst="rect">
            <a:avLst/>
          </a:prstGeom>
          <a:solidFill>
            <a:srgbClr val="18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49040" y="1691640"/>
            <a:ext cx="1828800" cy="292608"/>
          </a:xfrm>
          <a:prstGeom prst="rect">
            <a:avLst/>
          </a:prstGeom>
          <a:noFill/>
        </p:spPr>
        <p:txBody>
          <a:bodyPr wrap="square">
            <a:spAutoFit/>
          </a:bodyPr>
          <a:lstStyle/>
          <a:p>
            <a:pPr algn="ctr">
              <a:defRPr sz="1000" b="0">
                <a:solidFill>
                  <a:srgbClr val="FFFFFF"/>
                </a:solidFill>
                <a:latin typeface="Calibri"/>
              </a:defRPr>
            </a:pPr>
            <a:r>
              <a:t>≥ 0.45</a:t>
            </a:r>
          </a:p>
        </p:txBody>
      </p:sp>
      <p:sp>
        <p:nvSpPr>
          <p:cNvPr id="21" name="Rectangle 20"/>
          <p:cNvSpPr/>
          <p:nvPr/>
        </p:nvSpPr>
        <p:spPr>
          <a:xfrm>
            <a:off x="5577840" y="1691640"/>
            <a:ext cx="1645920" cy="292608"/>
          </a:xfrm>
          <a:prstGeom prst="rect">
            <a:avLst/>
          </a:prstGeom>
          <a:solidFill>
            <a:srgbClr val="18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77840" y="1691640"/>
            <a:ext cx="1645920" cy="292608"/>
          </a:xfrm>
          <a:prstGeom prst="rect">
            <a:avLst/>
          </a:prstGeom>
          <a:noFill/>
        </p:spPr>
        <p:txBody>
          <a:bodyPr wrap="square">
            <a:spAutoFit/>
          </a:bodyPr>
          <a:lstStyle/>
          <a:p>
            <a:pPr algn="ctr">
              <a:defRPr sz="1000" b="0">
                <a:solidFill>
                  <a:srgbClr val="FFFFFF"/>
                </a:solidFill>
                <a:latin typeface="Calibri"/>
              </a:defRPr>
            </a:pPr>
            <a:r>
              <a:t>≥ 0.65</a:t>
            </a:r>
          </a:p>
        </p:txBody>
      </p:sp>
      <p:sp>
        <p:nvSpPr>
          <p:cNvPr id="23" name="Rectangle 22"/>
          <p:cNvSpPr/>
          <p:nvPr/>
        </p:nvSpPr>
        <p:spPr>
          <a:xfrm>
            <a:off x="7223760" y="1691640"/>
            <a:ext cx="1645920" cy="292608"/>
          </a:xfrm>
          <a:prstGeom prst="rect">
            <a:avLst/>
          </a:prstGeom>
          <a:solidFill>
            <a:srgbClr val="18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23760" y="1691640"/>
            <a:ext cx="1645920" cy="292608"/>
          </a:xfrm>
          <a:prstGeom prst="rect">
            <a:avLst/>
          </a:prstGeom>
          <a:noFill/>
        </p:spPr>
        <p:txBody>
          <a:bodyPr wrap="square">
            <a:spAutoFit/>
          </a:bodyPr>
          <a:lstStyle/>
          <a:p>
            <a:pPr algn="ctr">
              <a:defRPr sz="1000" b="0">
                <a:solidFill>
                  <a:srgbClr val="FFFFFF"/>
                </a:solidFill>
                <a:latin typeface="Calibri"/>
              </a:defRPr>
            </a:pPr>
            <a:r>
              <a:t>0.11</a:t>
            </a:r>
          </a:p>
        </p:txBody>
      </p:sp>
      <p:sp>
        <p:nvSpPr>
          <p:cNvPr id="25" name="Rectangle 24"/>
          <p:cNvSpPr/>
          <p:nvPr/>
        </p:nvSpPr>
        <p:spPr>
          <a:xfrm>
            <a:off x="8869680" y="1691640"/>
            <a:ext cx="2286000" cy="292608"/>
          </a:xfrm>
          <a:prstGeom prst="rect">
            <a:avLst/>
          </a:prstGeom>
          <a:solidFill>
            <a:srgbClr val="18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0" y="1691640"/>
            <a:ext cx="2286000" cy="292608"/>
          </a:xfrm>
          <a:prstGeom prst="rect">
            <a:avLst/>
          </a:prstGeom>
          <a:noFill/>
        </p:spPr>
        <p:txBody>
          <a:bodyPr wrap="square">
            <a:spAutoFit/>
          </a:bodyPr>
          <a:lstStyle/>
          <a:p>
            <a:pPr algn="ctr">
              <a:defRPr sz="1000" b="1">
                <a:solidFill>
                  <a:srgbClr val="FF8C00"/>
                </a:solidFill>
                <a:latin typeface="Calibri"/>
              </a:defRPr>
            </a:pPr>
            <a:r>
              <a:t>△ Mejorando</a:t>
            </a:r>
          </a:p>
        </p:txBody>
      </p:sp>
      <p:sp>
        <p:nvSpPr>
          <p:cNvPr id="27" name="Rectangle 26"/>
          <p:cNvSpPr/>
          <p:nvPr/>
        </p:nvSpPr>
        <p:spPr>
          <a:xfrm>
            <a:off x="548640" y="1984248"/>
            <a:ext cx="3200400" cy="292608"/>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1984248"/>
            <a:ext cx="3200400" cy="292608"/>
          </a:xfrm>
          <a:prstGeom prst="rect">
            <a:avLst/>
          </a:prstGeom>
          <a:noFill/>
        </p:spPr>
        <p:txBody>
          <a:bodyPr wrap="square">
            <a:spAutoFit/>
          </a:bodyPr>
          <a:lstStyle/>
          <a:p>
            <a:pPr algn="ctr">
              <a:defRPr sz="1000" b="0">
                <a:solidFill>
                  <a:srgbClr val="FFFFFF"/>
                </a:solidFill>
                <a:latin typeface="Calibri"/>
              </a:defRPr>
            </a:pPr>
            <a:r>
              <a:t>Recall@5</a:t>
            </a:r>
          </a:p>
        </p:txBody>
      </p:sp>
      <p:sp>
        <p:nvSpPr>
          <p:cNvPr id="29" name="Rectangle 28"/>
          <p:cNvSpPr/>
          <p:nvPr/>
        </p:nvSpPr>
        <p:spPr>
          <a:xfrm>
            <a:off x="3749040" y="1984248"/>
            <a:ext cx="1828800" cy="292608"/>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49040" y="1984248"/>
            <a:ext cx="1828800" cy="292608"/>
          </a:xfrm>
          <a:prstGeom prst="rect">
            <a:avLst/>
          </a:prstGeom>
          <a:noFill/>
        </p:spPr>
        <p:txBody>
          <a:bodyPr wrap="square">
            <a:spAutoFit/>
          </a:bodyPr>
          <a:lstStyle/>
          <a:p>
            <a:pPr algn="ctr">
              <a:defRPr sz="1000" b="0">
                <a:solidFill>
                  <a:srgbClr val="FFFFFF"/>
                </a:solidFill>
                <a:latin typeface="Calibri"/>
              </a:defRPr>
            </a:pPr>
            <a:r>
              <a:t>≥ 0.70</a:t>
            </a:r>
          </a:p>
        </p:txBody>
      </p:sp>
      <p:sp>
        <p:nvSpPr>
          <p:cNvPr id="31" name="Rectangle 30"/>
          <p:cNvSpPr/>
          <p:nvPr/>
        </p:nvSpPr>
        <p:spPr>
          <a:xfrm>
            <a:off x="5577840" y="1984248"/>
            <a:ext cx="1645920" cy="292608"/>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577840" y="1984248"/>
            <a:ext cx="1645920" cy="292608"/>
          </a:xfrm>
          <a:prstGeom prst="rect">
            <a:avLst/>
          </a:prstGeom>
          <a:noFill/>
        </p:spPr>
        <p:txBody>
          <a:bodyPr wrap="square">
            <a:spAutoFit/>
          </a:bodyPr>
          <a:lstStyle/>
          <a:p>
            <a:pPr algn="ctr">
              <a:defRPr sz="1000" b="0">
                <a:solidFill>
                  <a:srgbClr val="FFFFFF"/>
                </a:solidFill>
                <a:latin typeface="Calibri"/>
              </a:defRPr>
            </a:pPr>
            <a:r>
              <a:t>≥ 0.85</a:t>
            </a:r>
          </a:p>
        </p:txBody>
      </p:sp>
      <p:sp>
        <p:nvSpPr>
          <p:cNvPr id="33" name="Rectangle 32"/>
          <p:cNvSpPr/>
          <p:nvPr/>
        </p:nvSpPr>
        <p:spPr>
          <a:xfrm>
            <a:off x="7223760" y="1984248"/>
            <a:ext cx="1645920" cy="292608"/>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23760" y="1984248"/>
            <a:ext cx="1645920" cy="292608"/>
          </a:xfrm>
          <a:prstGeom prst="rect">
            <a:avLst/>
          </a:prstGeom>
          <a:noFill/>
        </p:spPr>
        <p:txBody>
          <a:bodyPr wrap="square">
            <a:spAutoFit/>
          </a:bodyPr>
          <a:lstStyle/>
          <a:p>
            <a:pPr algn="ctr">
              <a:defRPr sz="1000" b="0">
                <a:solidFill>
                  <a:srgbClr val="FFFFFF"/>
                </a:solidFill>
                <a:latin typeface="Calibri"/>
              </a:defRPr>
            </a:pPr>
            <a:r>
              <a:t>0.24</a:t>
            </a:r>
          </a:p>
        </p:txBody>
      </p:sp>
      <p:sp>
        <p:nvSpPr>
          <p:cNvPr id="35" name="Rectangle 34"/>
          <p:cNvSpPr/>
          <p:nvPr/>
        </p:nvSpPr>
        <p:spPr>
          <a:xfrm>
            <a:off x="8869680" y="1984248"/>
            <a:ext cx="2286000" cy="292608"/>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0" y="1984248"/>
            <a:ext cx="2286000" cy="292608"/>
          </a:xfrm>
          <a:prstGeom prst="rect">
            <a:avLst/>
          </a:prstGeom>
          <a:noFill/>
        </p:spPr>
        <p:txBody>
          <a:bodyPr wrap="square">
            <a:spAutoFit/>
          </a:bodyPr>
          <a:lstStyle/>
          <a:p>
            <a:pPr algn="ctr">
              <a:defRPr sz="1000" b="1">
                <a:solidFill>
                  <a:srgbClr val="FF8C00"/>
                </a:solidFill>
                <a:latin typeface="Calibri"/>
              </a:defRPr>
            </a:pPr>
            <a:r>
              <a:t>△ Mejorando</a:t>
            </a:r>
          </a:p>
        </p:txBody>
      </p:sp>
      <p:sp>
        <p:nvSpPr>
          <p:cNvPr id="37" name="Rectangle 36"/>
          <p:cNvSpPr/>
          <p:nvPr/>
        </p:nvSpPr>
        <p:spPr>
          <a:xfrm>
            <a:off x="548640" y="2276856"/>
            <a:ext cx="3200400" cy="292608"/>
          </a:xfrm>
          <a:prstGeom prst="rect">
            <a:avLst/>
          </a:prstGeom>
          <a:solidFill>
            <a:srgbClr val="18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48640" y="2276856"/>
            <a:ext cx="3200400" cy="292608"/>
          </a:xfrm>
          <a:prstGeom prst="rect">
            <a:avLst/>
          </a:prstGeom>
          <a:noFill/>
        </p:spPr>
        <p:txBody>
          <a:bodyPr wrap="square">
            <a:spAutoFit/>
          </a:bodyPr>
          <a:lstStyle/>
          <a:p>
            <a:pPr algn="ctr">
              <a:defRPr sz="1000" b="0">
                <a:solidFill>
                  <a:srgbClr val="FFFFFF"/>
                </a:solidFill>
                <a:latin typeface="Calibri"/>
              </a:defRPr>
            </a:pPr>
            <a:r>
              <a:t>Sparsity SAE visual</a:t>
            </a:r>
          </a:p>
        </p:txBody>
      </p:sp>
      <p:sp>
        <p:nvSpPr>
          <p:cNvPr id="39" name="Rectangle 38"/>
          <p:cNvSpPr/>
          <p:nvPr/>
        </p:nvSpPr>
        <p:spPr>
          <a:xfrm>
            <a:off x="3749040" y="2276856"/>
            <a:ext cx="1828800" cy="292608"/>
          </a:xfrm>
          <a:prstGeom prst="rect">
            <a:avLst/>
          </a:prstGeom>
          <a:solidFill>
            <a:srgbClr val="18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749040" y="2276856"/>
            <a:ext cx="1828800" cy="292608"/>
          </a:xfrm>
          <a:prstGeom prst="rect">
            <a:avLst/>
          </a:prstGeom>
          <a:noFill/>
        </p:spPr>
        <p:txBody>
          <a:bodyPr wrap="square">
            <a:spAutoFit/>
          </a:bodyPr>
          <a:lstStyle/>
          <a:p>
            <a:pPr algn="ctr">
              <a:defRPr sz="1000" b="0">
                <a:solidFill>
                  <a:srgbClr val="FFFFFF"/>
                </a:solidFill>
                <a:latin typeface="Calibri"/>
              </a:defRPr>
            </a:pPr>
            <a:r>
              <a:t>≥ 0.70</a:t>
            </a:r>
          </a:p>
        </p:txBody>
      </p:sp>
      <p:sp>
        <p:nvSpPr>
          <p:cNvPr id="41" name="Rectangle 40"/>
          <p:cNvSpPr/>
          <p:nvPr/>
        </p:nvSpPr>
        <p:spPr>
          <a:xfrm>
            <a:off x="5577840" y="2276856"/>
            <a:ext cx="1645920" cy="292608"/>
          </a:xfrm>
          <a:prstGeom prst="rect">
            <a:avLst/>
          </a:prstGeom>
          <a:solidFill>
            <a:srgbClr val="18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577840" y="2276856"/>
            <a:ext cx="1645920" cy="292608"/>
          </a:xfrm>
          <a:prstGeom prst="rect">
            <a:avLst/>
          </a:prstGeom>
          <a:noFill/>
        </p:spPr>
        <p:txBody>
          <a:bodyPr wrap="square">
            <a:spAutoFit/>
          </a:bodyPr>
          <a:lstStyle/>
          <a:p>
            <a:pPr algn="ctr">
              <a:defRPr sz="1000" b="0">
                <a:solidFill>
                  <a:srgbClr val="FFFFFF"/>
                </a:solidFill>
                <a:latin typeface="Calibri"/>
              </a:defRPr>
            </a:pPr>
            <a:r>
              <a:t>≥ 0.85</a:t>
            </a:r>
          </a:p>
        </p:txBody>
      </p:sp>
      <p:sp>
        <p:nvSpPr>
          <p:cNvPr id="43" name="Rectangle 42"/>
          <p:cNvSpPr/>
          <p:nvPr/>
        </p:nvSpPr>
        <p:spPr>
          <a:xfrm>
            <a:off x="7223760" y="2276856"/>
            <a:ext cx="1645920" cy="292608"/>
          </a:xfrm>
          <a:prstGeom prst="rect">
            <a:avLst/>
          </a:prstGeom>
          <a:solidFill>
            <a:srgbClr val="18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223760" y="2276856"/>
            <a:ext cx="1645920" cy="292608"/>
          </a:xfrm>
          <a:prstGeom prst="rect">
            <a:avLst/>
          </a:prstGeom>
          <a:noFill/>
        </p:spPr>
        <p:txBody>
          <a:bodyPr wrap="square">
            <a:spAutoFit/>
          </a:bodyPr>
          <a:lstStyle/>
          <a:p>
            <a:pPr algn="ctr">
              <a:defRPr sz="1000" b="0">
                <a:solidFill>
                  <a:srgbClr val="FFFFFF"/>
                </a:solidFill>
                <a:latin typeface="Calibri"/>
              </a:defRPr>
            </a:pPr>
            <a:r>
              <a:t>0.04</a:t>
            </a:r>
          </a:p>
        </p:txBody>
      </p:sp>
      <p:sp>
        <p:nvSpPr>
          <p:cNvPr id="45" name="Rectangle 44"/>
          <p:cNvSpPr/>
          <p:nvPr/>
        </p:nvSpPr>
        <p:spPr>
          <a:xfrm>
            <a:off x="8869680" y="2276856"/>
            <a:ext cx="2286000" cy="292608"/>
          </a:xfrm>
          <a:prstGeom prst="rect">
            <a:avLst/>
          </a:prstGeom>
          <a:solidFill>
            <a:srgbClr val="18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869680" y="2276856"/>
            <a:ext cx="2286000" cy="292608"/>
          </a:xfrm>
          <a:prstGeom prst="rect">
            <a:avLst/>
          </a:prstGeom>
          <a:noFill/>
        </p:spPr>
        <p:txBody>
          <a:bodyPr wrap="square">
            <a:spAutoFit/>
          </a:bodyPr>
          <a:lstStyle/>
          <a:p>
            <a:pPr algn="ctr">
              <a:defRPr sz="1000" b="1">
                <a:solidFill>
                  <a:srgbClr val="FF8C00"/>
                </a:solidFill>
                <a:latin typeface="Calibri"/>
              </a:defRPr>
            </a:pPr>
            <a:r>
              <a:t>△ Mejorando</a:t>
            </a:r>
          </a:p>
        </p:txBody>
      </p:sp>
      <p:sp>
        <p:nvSpPr>
          <p:cNvPr id="47" name="Rectangle 46"/>
          <p:cNvSpPr/>
          <p:nvPr/>
        </p:nvSpPr>
        <p:spPr>
          <a:xfrm>
            <a:off x="548640" y="2569464"/>
            <a:ext cx="3200400" cy="292608"/>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48640" y="2569464"/>
            <a:ext cx="3200400" cy="292608"/>
          </a:xfrm>
          <a:prstGeom prst="rect">
            <a:avLst/>
          </a:prstGeom>
          <a:noFill/>
        </p:spPr>
        <p:txBody>
          <a:bodyPr wrap="square">
            <a:spAutoFit/>
          </a:bodyPr>
          <a:lstStyle/>
          <a:p>
            <a:pPr algn="ctr">
              <a:defRPr sz="1000" b="0">
                <a:solidFill>
                  <a:srgbClr val="FFFFFF"/>
                </a:solidFill>
                <a:latin typeface="Calibri"/>
              </a:defRPr>
            </a:pPr>
            <a:r>
              <a:t>Loss reconstrucción SAE</a:t>
            </a:r>
          </a:p>
        </p:txBody>
      </p:sp>
      <p:sp>
        <p:nvSpPr>
          <p:cNvPr id="49" name="Rectangle 48"/>
          <p:cNvSpPr/>
          <p:nvPr/>
        </p:nvSpPr>
        <p:spPr>
          <a:xfrm>
            <a:off x="3749040" y="2569464"/>
            <a:ext cx="1828800" cy="292608"/>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749040" y="2569464"/>
            <a:ext cx="1828800" cy="292608"/>
          </a:xfrm>
          <a:prstGeom prst="rect">
            <a:avLst/>
          </a:prstGeom>
          <a:noFill/>
        </p:spPr>
        <p:txBody>
          <a:bodyPr wrap="square">
            <a:spAutoFit/>
          </a:bodyPr>
          <a:lstStyle/>
          <a:p>
            <a:pPr algn="ctr">
              <a:defRPr sz="1000" b="0">
                <a:solidFill>
                  <a:srgbClr val="FFFFFF"/>
                </a:solidFill>
                <a:latin typeface="Calibri"/>
              </a:defRPr>
            </a:pPr>
            <a:r>
              <a:t>≤ 0.05</a:t>
            </a:r>
          </a:p>
        </p:txBody>
      </p:sp>
      <p:sp>
        <p:nvSpPr>
          <p:cNvPr id="51" name="Rectangle 50"/>
          <p:cNvSpPr/>
          <p:nvPr/>
        </p:nvSpPr>
        <p:spPr>
          <a:xfrm>
            <a:off x="5577840" y="2569464"/>
            <a:ext cx="1645920" cy="292608"/>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577840" y="2569464"/>
            <a:ext cx="1645920" cy="292608"/>
          </a:xfrm>
          <a:prstGeom prst="rect">
            <a:avLst/>
          </a:prstGeom>
          <a:noFill/>
        </p:spPr>
        <p:txBody>
          <a:bodyPr wrap="square">
            <a:spAutoFit/>
          </a:bodyPr>
          <a:lstStyle/>
          <a:p>
            <a:pPr algn="ctr">
              <a:defRPr sz="1000" b="0">
                <a:solidFill>
                  <a:srgbClr val="FFFFFF"/>
                </a:solidFill>
                <a:latin typeface="Calibri"/>
              </a:defRPr>
            </a:pPr>
            <a:r>
              <a:t>≤ 0.02</a:t>
            </a:r>
          </a:p>
        </p:txBody>
      </p:sp>
      <p:sp>
        <p:nvSpPr>
          <p:cNvPr id="53" name="Rectangle 52"/>
          <p:cNvSpPr/>
          <p:nvPr/>
        </p:nvSpPr>
        <p:spPr>
          <a:xfrm>
            <a:off x="7223760" y="2569464"/>
            <a:ext cx="1645920" cy="292608"/>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223760" y="2569464"/>
            <a:ext cx="1645920" cy="292608"/>
          </a:xfrm>
          <a:prstGeom prst="rect">
            <a:avLst/>
          </a:prstGeom>
          <a:noFill/>
        </p:spPr>
        <p:txBody>
          <a:bodyPr wrap="square">
            <a:spAutoFit/>
          </a:bodyPr>
          <a:lstStyle/>
          <a:p>
            <a:pPr algn="ctr">
              <a:defRPr sz="1000" b="0">
                <a:solidFill>
                  <a:srgbClr val="FFFFFF"/>
                </a:solidFill>
                <a:latin typeface="Calibri"/>
              </a:defRPr>
            </a:pPr>
            <a:r>
              <a:t>0.028</a:t>
            </a:r>
          </a:p>
        </p:txBody>
      </p:sp>
      <p:sp>
        <p:nvSpPr>
          <p:cNvPr id="55" name="Rectangle 54"/>
          <p:cNvSpPr/>
          <p:nvPr/>
        </p:nvSpPr>
        <p:spPr>
          <a:xfrm>
            <a:off x="8869680" y="2569464"/>
            <a:ext cx="2286000" cy="292608"/>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869680" y="2569464"/>
            <a:ext cx="2286000" cy="292608"/>
          </a:xfrm>
          <a:prstGeom prst="rect">
            <a:avLst/>
          </a:prstGeom>
          <a:noFill/>
        </p:spPr>
        <p:txBody>
          <a:bodyPr wrap="square">
            <a:spAutoFit/>
          </a:bodyPr>
          <a:lstStyle/>
          <a:p>
            <a:pPr algn="ctr">
              <a:defRPr sz="1000" b="1">
                <a:solidFill>
                  <a:srgbClr val="00E676"/>
                </a:solidFill>
                <a:latin typeface="Calibri"/>
              </a:defRPr>
            </a:pPr>
            <a:r>
              <a:t>✓ Logrado</a:t>
            </a:r>
          </a:p>
        </p:txBody>
      </p:sp>
      <p:sp>
        <p:nvSpPr>
          <p:cNvPr id="57" name="Rectangle 56"/>
          <p:cNvSpPr/>
          <p:nvPr/>
        </p:nvSpPr>
        <p:spPr>
          <a:xfrm>
            <a:off x="548640" y="2862072"/>
            <a:ext cx="3200400" cy="292608"/>
          </a:xfrm>
          <a:prstGeom prst="rect">
            <a:avLst/>
          </a:prstGeom>
          <a:solidFill>
            <a:srgbClr val="18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48640" y="2862072"/>
            <a:ext cx="3200400" cy="292608"/>
          </a:xfrm>
          <a:prstGeom prst="rect">
            <a:avLst/>
          </a:prstGeom>
          <a:noFill/>
        </p:spPr>
        <p:txBody>
          <a:bodyPr wrap="square">
            <a:spAutoFit/>
          </a:bodyPr>
          <a:lstStyle/>
          <a:p>
            <a:pPr algn="ctr">
              <a:defRPr sz="1000" b="0">
                <a:solidFill>
                  <a:srgbClr val="FFFFFF"/>
                </a:solidFill>
                <a:latin typeface="Calibri"/>
              </a:defRPr>
            </a:pPr>
            <a:r>
              <a:t>Varianza AFE (m factores)</a:t>
            </a:r>
          </a:p>
        </p:txBody>
      </p:sp>
      <p:sp>
        <p:nvSpPr>
          <p:cNvPr id="59" name="Rectangle 58"/>
          <p:cNvSpPr/>
          <p:nvPr/>
        </p:nvSpPr>
        <p:spPr>
          <a:xfrm>
            <a:off x="3749040" y="2862072"/>
            <a:ext cx="1828800" cy="292608"/>
          </a:xfrm>
          <a:prstGeom prst="rect">
            <a:avLst/>
          </a:prstGeom>
          <a:solidFill>
            <a:srgbClr val="18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749040" y="2862072"/>
            <a:ext cx="1828800" cy="292608"/>
          </a:xfrm>
          <a:prstGeom prst="rect">
            <a:avLst/>
          </a:prstGeom>
          <a:noFill/>
        </p:spPr>
        <p:txBody>
          <a:bodyPr wrap="square">
            <a:spAutoFit/>
          </a:bodyPr>
          <a:lstStyle/>
          <a:p>
            <a:pPr algn="ctr">
              <a:defRPr sz="1000" b="0">
                <a:solidFill>
                  <a:srgbClr val="FFFFFF"/>
                </a:solidFill>
                <a:latin typeface="Calibri"/>
              </a:defRPr>
            </a:pPr>
            <a:r>
              <a:t>≥ 80%</a:t>
            </a:r>
          </a:p>
        </p:txBody>
      </p:sp>
      <p:sp>
        <p:nvSpPr>
          <p:cNvPr id="61" name="Rectangle 60"/>
          <p:cNvSpPr/>
          <p:nvPr/>
        </p:nvSpPr>
        <p:spPr>
          <a:xfrm>
            <a:off x="5577840" y="2862072"/>
            <a:ext cx="1645920" cy="292608"/>
          </a:xfrm>
          <a:prstGeom prst="rect">
            <a:avLst/>
          </a:prstGeom>
          <a:solidFill>
            <a:srgbClr val="18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577840" y="2862072"/>
            <a:ext cx="1645920" cy="292608"/>
          </a:xfrm>
          <a:prstGeom prst="rect">
            <a:avLst/>
          </a:prstGeom>
          <a:noFill/>
        </p:spPr>
        <p:txBody>
          <a:bodyPr wrap="square">
            <a:spAutoFit/>
          </a:bodyPr>
          <a:lstStyle/>
          <a:p>
            <a:pPr algn="ctr">
              <a:defRPr sz="1000" b="0">
                <a:solidFill>
                  <a:srgbClr val="FFFFFF"/>
                </a:solidFill>
                <a:latin typeface="Calibri"/>
              </a:defRPr>
            </a:pPr>
            <a:r>
              <a:t>≥ 90%</a:t>
            </a:r>
          </a:p>
        </p:txBody>
      </p:sp>
      <p:sp>
        <p:nvSpPr>
          <p:cNvPr id="63" name="Rectangle 62"/>
          <p:cNvSpPr/>
          <p:nvPr/>
        </p:nvSpPr>
        <p:spPr>
          <a:xfrm>
            <a:off x="7223760" y="2862072"/>
            <a:ext cx="1645920" cy="292608"/>
          </a:xfrm>
          <a:prstGeom prst="rect">
            <a:avLst/>
          </a:prstGeom>
          <a:solidFill>
            <a:srgbClr val="18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223760" y="2862072"/>
            <a:ext cx="1645920" cy="292608"/>
          </a:xfrm>
          <a:prstGeom prst="rect">
            <a:avLst/>
          </a:prstGeom>
          <a:noFill/>
        </p:spPr>
        <p:txBody>
          <a:bodyPr wrap="square">
            <a:spAutoFit/>
          </a:bodyPr>
          <a:lstStyle/>
          <a:p>
            <a:pPr algn="ctr">
              <a:defRPr sz="1000" b="0">
                <a:solidFill>
                  <a:srgbClr val="FFFFFF"/>
                </a:solidFill>
                <a:latin typeface="Calibri"/>
              </a:defRPr>
            </a:pPr>
            <a:r>
              <a:t>Pendiente</a:t>
            </a:r>
          </a:p>
        </p:txBody>
      </p:sp>
      <p:sp>
        <p:nvSpPr>
          <p:cNvPr id="65" name="Rectangle 64"/>
          <p:cNvSpPr/>
          <p:nvPr/>
        </p:nvSpPr>
        <p:spPr>
          <a:xfrm>
            <a:off x="8869680" y="2862072"/>
            <a:ext cx="2286000" cy="292608"/>
          </a:xfrm>
          <a:prstGeom prst="rect">
            <a:avLst/>
          </a:prstGeom>
          <a:solidFill>
            <a:srgbClr val="18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869680" y="2862072"/>
            <a:ext cx="2286000" cy="292608"/>
          </a:xfrm>
          <a:prstGeom prst="rect">
            <a:avLst/>
          </a:prstGeom>
          <a:noFill/>
        </p:spPr>
        <p:txBody>
          <a:bodyPr wrap="square">
            <a:spAutoFit/>
          </a:bodyPr>
          <a:lstStyle/>
          <a:p>
            <a:pPr algn="ctr">
              <a:defRPr sz="1000" b="1">
                <a:solidFill>
                  <a:srgbClr val="666688"/>
                </a:solidFill>
                <a:latin typeface="Calibri"/>
              </a:defRPr>
            </a:pPr>
            <a:r>
              <a:t>⬜</a:t>
            </a:r>
          </a:p>
        </p:txBody>
      </p:sp>
      <p:sp>
        <p:nvSpPr>
          <p:cNvPr id="67" name="Rectangle 66"/>
          <p:cNvSpPr/>
          <p:nvPr/>
        </p:nvSpPr>
        <p:spPr>
          <a:xfrm>
            <a:off x="548640" y="3154680"/>
            <a:ext cx="3200400" cy="292608"/>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48640" y="3154680"/>
            <a:ext cx="3200400" cy="292608"/>
          </a:xfrm>
          <a:prstGeom prst="rect">
            <a:avLst/>
          </a:prstGeom>
          <a:noFill/>
        </p:spPr>
        <p:txBody>
          <a:bodyPr wrap="square">
            <a:spAutoFit/>
          </a:bodyPr>
          <a:lstStyle/>
          <a:p>
            <a:pPr algn="ctr">
              <a:defRPr sz="1000" b="0">
                <a:solidFill>
                  <a:srgbClr val="FFFFFF"/>
                </a:solidFill>
                <a:latin typeface="Calibri"/>
              </a:defRPr>
            </a:pPr>
            <a:r>
              <a:t>RMSEA (AFC)</a:t>
            </a:r>
          </a:p>
        </p:txBody>
      </p:sp>
      <p:sp>
        <p:nvSpPr>
          <p:cNvPr id="69" name="Rectangle 68"/>
          <p:cNvSpPr/>
          <p:nvPr/>
        </p:nvSpPr>
        <p:spPr>
          <a:xfrm>
            <a:off x="3749040" y="3154680"/>
            <a:ext cx="1828800" cy="292608"/>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749040" y="3154680"/>
            <a:ext cx="1828800" cy="292608"/>
          </a:xfrm>
          <a:prstGeom prst="rect">
            <a:avLst/>
          </a:prstGeom>
          <a:noFill/>
        </p:spPr>
        <p:txBody>
          <a:bodyPr wrap="square">
            <a:spAutoFit/>
          </a:bodyPr>
          <a:lstStyle/>
          <a:p>
            <a:pPr algn="ctr">
              <a:defRPr sz="1000" b="0">
                <a:solidFill>
                  <a:srgbClr val="FFFFFF"/>
                </a:solidFill>
                <a:latin typeface="Calibri"/>
              </a:defRPr>
            </a:pPr>
            <a:r>
              <a:t>&lt; 0.08</a:t>
            </a:r>
          </a:p>
        </p:txBody>
      </p:sp>
      <p:sp>
        <p:nvSpPr>
          <p:cNvPr id="71" name="Rectangle 70"/>
          <p:cNvSpPr/>
          <p:nvPr/>
        </p:nvSpPr>
        <p:spPr>
          <a:xfrm>
            <a:off x="5577840" y="3154680"/>
            <a:ext cx="1645920" cy="292608"/>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577840" y="3154680"/>
            <a:ext cx="1645920" cy="292608"/>
          </a:xfrm>
          <a:prstGeom prst="rect">
            <a:avLst/>
          </a:prstGeom>
          <a:noFill/>
        </p:spPr>
        <p:txBody>
          <a:bodyPr wrap="square">
            <a:spAutoFit/>
          </a:bodyPr>
          <a:lstStyle/>
          <a:p>
            <a:pPr algn="ctr">
              <a:defRPr sz="1000" b="0">
                <a:solidFill>
                  <a:srgbClr val="FFFFFF"/>
                </a:solidFill>
                <a:latin typeface="Calibri"/>
              </a:defRPr>
            </a:pPr>
            <a:r>
              <a:t>&lt; 0.05</a:t>
            </a:r>
          </a:p>
        </p:txBody>
      </p:sp>
      <p:sp>
        <p:nvSpPr>
          <p:cNvPr id="73" name="Rectangle 72"/>
          <p:cNvSpPr/>
          <p:nvPr/>
        </p:nvSpPr>
        <p:spPr>
          <a:xfrm>
            <a:off x="7223760" y="3154680"/>
            <a:ext cx="1645920" cy="292608"/>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223760" y="3154680"/>
            <a:ext cx="1645920" cy="292608"/>
          </a:xfrm>
          <a:prstGeom prst="rect">
            <a:avLst/>
          </a:prstGeom>
          <a:noFill/>
        </p:spPr>
        <p:txBody>
          <a:bodyPr wrap="square">
            <a:spAutoFit/>
          </a:bodyPr>
          <a:lstStyle/>
          <a:p>
            <a:pPr algn="ctr">
              <a:defRPr sz="1000" b="0">
                <a:solidFill>
                  <a:srgbClr val="FFFFFF"/>
                </a:solidFill>
                <a:latin typeface="Calibri"/>
              </a:defRPr>
            </a:pPr>
            <a:r>
              <a:t>Pendiente</a:t>
            </a:r>
          </a:p>
        </p:txBody>
      </p:sp>
      <p:sp>
        <p:nvSpPr>
          <p:cNvPr id="75" name="Rectangle 74"/>
          <p:cNvSpPr/>
          <p:nvPr/>
        </p:nvSpPr>
        <p:spPr>
          <a:xfrm>
            <a:off x="8869680" y="3154680"/>
            <a:ext cx="2286000" cy="292608"/>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869680" y="3154680"/>
            <a:ext cx="2286000" cy="292608"/>
          </a:xfrm>
          <a:prstGeom prst="rect">
            <a:avLst/>
          </a:prstGeom>
          <a:noFill/>
        </p:spPr>
        <p:txBody>
          <a:bodyPr wrap="square">
            <a:spAutoFit/>
          </a:bodyPr>
          <a:lstStyle/>
          <a:p>
            <a:pPr algn="ctr">
              <a:defRPr sz="1000" b="1">
                <a:solidFill>
                  <a:srgbClr val="666688"/>
                </a:solidFill>
                <a:latin typeface="Calibri"/>
              </a:defRPr>
            </a:pPr>
            <a:r>
              <a:t>⬜</a:t>
            </a:r>
          </a:p>
        </p:txBody>
      </p:sp>
      <p:sp>
        <p:nvSpPr>
          <p:cNvPr id="77" name="Rectangle 76"/>
          <p:cNvSpPr/>
          <p:nvPr/>
        </p:nvSpPr>
        <p:spPr>
          <a:xfrm>
            <a:off x="548640" y="3447288"/>
            <a:ext cx="3200400" cy="292608"/>
          </a:xfrm>
          <a:prstGeom prst="rect">
            <a:avLst/>
          </a:prstGeom>
          <a:solidFill>
            <a:srgbClr val="18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48640" y="3447288"/>
            <a:ext cx="3200400" cy="292608"/>
          </a:xfrm>
          <a:prstGeom prst="rect">
            <a:avLst/>
          </a:prstGeom>
          <a:noFill/>
        </p:spPr>
        <p:txBody>
          <a:bodyPr wrap="square">
            <a:spAutoFit/>
          </a:bodyPr>
          <a:lstStyle/>
          <a:p>
            <a:pPr algn="ctr">
              <a:defRPr sz="1000" b="0">
                <a:solidFill>
                  <a:srgbClr val="FFFFFF"/>
                </a:solidFill>
                <a:latin typeface="Calibri"/>
              </a:defRPr>
            </a:pPr>
            <a:r>
              <a:t>CFI (AFC)</a:t>
            </a:r>
          </a:p>
        </p:txBody>
      </p:sp>
      <p:sp>
        <p:nvSpPr>
          <p:cNvPr id="79" name="Rectangle 78"/>
          <p:cNvSpPr/>
          <p:nvPr/>
        </p:nvSpPr>
        <p:spPr>
          <a:xfrm>
            <a:off x="3749040" y="3447288"/>
            <a:ext cx="1828800" cy="292608"/>
          </a:xfrm>
          <a:prstGeom prst="rect">
            <a:avLst/>
          </a:prstGeom>
          <a:solidFill>
            <a:srgbClr val="18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3749040" y="3447288"/>
            <a:ext cx="1828800" cy="292608"/>
          </a:xfrm>
          <a:prstGeom prst="rect">
            <a:avLst/>
          </a:prstGeom>
          <a:noFill/>
        </p:spPr>
        <p:txBody>
          <a:bodyPr wrap="square">
            <a:spAutoFit/>
          </a:bodyPr>
          <a:lstStyle/>
          <a:p>
            <a:pPr algn="ctr">
              <a:defRPr sz="1000" b="0">
                <a:solidFill>
                  <a:srgbClr val="FFFFFF"/>
                </a:solidFill>
                <a:latin typeface="Calibri"/>
              </a:defRPr>
            </a:pPr>
            <a:r>
              <a:t>&gt; 0.90</a:t>
            </a:r>
          </a:p>
        </p:txBody>
      </p:sp>
      <p:sp>
        <p:nvSpPr>
          <p:cNvPr id="81" name="Rectangle 80"/>
          <p:cNvSpPr/>
          <p:nvPr/>
        </p:nvSpPr>
        <p:spPr>
          <a:xfrm>
            <a:off x="5577840" y="3447288"/>
            <a:ext cx="1645920" cy="292608"/>
          </a:xfrm>
          <a:prstGeom prst="rect">
            <a:avLst/>
          </a:prstGeom>
          <a:solidFill>
            <a:srgbClr val="18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577840" y="3447288"/>
            <a:ext cx="1645920" cy="292608"/>
          </a:xfrm>
          <a:prstGeom prst="rect">
            <a:avLst/>
          </a:prstGeom>
          <a:noFill/>
        </p:spPr>
        <p:txBody>
          <a:bodyPr wrap="square">
            <a:spAutoFit/>
          </a:bodyPr>
          <a:lstStyle/>
          <a:p>
            <a:pPr algn="ctr">
              <a:defRPr sz="1000" b="0">
                <a:solidFill>
                  <a:srgbClr val="FFFFFF"/>
                </a:solidFill>
                <a:latin typeface="Calibri"/>
              </a:defRPr>
            </a:pPr>
            <a:r>
              <a:t>&gt; 0.95</a:t>
            </a:r>
          </a:p>
        </p:txBody>
      </p:sp>
      <p:sp>
        <p:nvSpPr>
          <p:cNvPr id="83" name="Rectangle 82"/>
          <p:cNvSpPr/>
          <p:nvPr/>
        </p:nvSpPr>
        <p:spPr>
          <a:xfrm>
            <a:off x="7223760" y="3447288"/>
            <a:ext cx="1645920" cy="292608"/>
          </a:xfrm>
          <a:prstGeom prst="rect">
            <a:avLst/>
          </a:prstGeom>
          <a:solidFill>
            <a:srgbClr val="18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7223760" y="3447288"/>
            <a:ext cx="1645920" cy="292608"/>
          </a:xfrm>
          <a:prstGeom prst="rect">
            <a:avLst/>
          </a:prstGeom>
          <a:noFill/>
        </p:spPr>
        <p:txBody>
          <a:bodyPr wrap="square">
            <a:spAutoFit/>
          </a:bodyPr>
          <a:lstStyle/>
          <a:p>
            <a:pPr algn="ctr">
              <a:defRPr sz="1000" b="0">
                <a:solidFill>
                  <a:srgbClr val="FFFFFF"/>
                </a:solidFill>
                <a:latin typeface="Calibri"/>
              </a:defRPr>
            </a:pPr>
            <a:r>
              <a:t>Pendiente</a:t>
            </a:r>
          </a:p>
        </p:txBody>
      </p:sp>
      <p:sp>
        <p:nvSpPr>
          <p:cNvPr id="85" name="Rectangle 84"/>
          <p:cNvSpPr/>
          <p:nvPr/>
        </p:nvSpPr>
        <p:spPr>
          <a:xfrm>
            <a:off x="8869680" y="3447288"/>
            <a:ext cx="2286000" cy="292608"/>
          </a:xfrm>
          <a:prstGeom prst="rect">
            <a:avLst/>
          </a:prstGeom>
          <a:solidFill>
            <a:srgbClr val="18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8869680" y="3447288"/>
            <a:ext cx="2286000" cy="292608"/>
          </a:xfrm>
          <a:prstGeom prst="rect">
            <a:avLst/>
          </a:prstGeom>
          <a:noFill/>
        </p:spPr>
        <p:txBody>
          <a:bodyPr wrap="square">
            <a:spAutoFit/>
          </a:bodyPr>
          <a:lstStyle/>
          <a:p>
            <a:pPr algn="ctr">
              <a:defRPr sz="1000" b="1">
                <a:solidFill>
                  <a:srgbClr val="666688"/>
                </a:solidFill>
                <a:latin typeface="Calibri"/>
              </a:defRPr>
            </a:pPr>
            <a:r>
              <a:t>⬜</a:t>
            </a:r>
          </a:p>
        </p:txBody>
      </p:sp>
      <p:sp>
        <p:nvSpPr>
          <p:cNvPr id="87" name="Rectangle 86"/>
          <p:cNvSpPr/>
          <p:nvPr/>
        </p:nvSpPr>
        <p:spPr>
          <a:xfrm>
            <a:off x="548640" y="3739896"/>
            <a:ext cx="3200400" cy="292608"/>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548640" y="3739896"/>
            <a:ext cx="3200400" cy="292608"/>
          </a:xfrm>
          <a:prstGeom prst="rect">
            <a:avLst/>
          </a:prstGeom>
          <a:noFill/>
        </p:spPr>
        <p:txBody>
          <a:bodyPr wrap="square">
            <a:spAutoFit/>
          </a:bodyPr>
          <a:lstStyle/>
          <a:p>
            <a:pPr algn="ctr">
              <a:defRPr sz="1000" b="0">
                <a:solidFill>
                  <a:srgbClr val="FFFFFF"/>
                </a:solidFill>
                <a:latin typeface="Calibri"/>
              </a:defRPr>
            </a:pPr>
            <a:r>
              <a:t>Pares imagen-texto</a:t>
            </a:r>
          </a:p>
        </p:txBody>
      </p:sp>
      <p:sp>
        <p:nvSpPr>
          <p:cNvPr id="89" name="Rectangle 88"/>
          <p:cNvSpPr/>
          <p:nvPr/>
        </p:nvSpPr>
        <p:spPr>
          <a:xfrm>
            <a:off x="3749040" y="3739896"/>
            <a:ext cx="1828800" cy="292608"/>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3749040" y="3739896"/>
            <a:ext cx="1828800" cy="292608"/>
          </a:xfrm>
          <a:prstGeom prst="rect">
            <a:avLst/>
          </a:prstGeom>
          <a:noFill/>
        </p:spPr>
        <p:txBody>
          <a:bodyPr wrap="square">
            <a:spAutoFit/>
          </a:bodyPr>
          <a:lstStyle/>
          <a:p>
            <a:pPr algn="ctr">
              <a:defRPr sz="1000" b="0">
                <a:solidFill>
                  <a:srgbClr val="FFFFFF"/>
                </a:solidFill>
                <a:latin typeface="Calibri"/>
              </a:defRPr>
            </a:pPr>
            <a:r>
              <a:t>≥ 1,000</a:t>
            </a:r>
          </a:p>
        </p:txBody>
      </p:sp>
      <p:sp>
        <p:nvSpPr>
          <p:cNvPr id="91" name="Rectangle 90"/>
          <p:cNvSpPr/>
          <p:nvPr/>
        </p:nvSpPr>
        <p:spPr>
          <a:xfrm>
            <a:off x="5577840" y="3739896"/>
            <a:ext cx="1645920" cy="292608"/>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5577840" y="3739896"/>
            <a:ext cx="1645920" cy="292608"/>
          </a:xfrm>
          <a:prstGeom prst="rect">
            <a:avLst/>
          </a:prstGeom>
          <a:noFill/>
        </p:spPr>
        <p:txBody>
          <a:bodyPr wrap="square">
            <a:spAutoFit/>
          </a:bodyPr>
          <a:lstStyle/>
          <a:p>
            <a:pPr algn="ctr">
              <a:defRPr sz="1000" b="0">
                <a:solidFill>
                  <a:srgbClr val="FFFFFF"/>
                </a:solidFill>
                <a:latin typeface="Calibri"/>
              </a:defRPr>
            </a:pPr>
            <a:r>
              <a:t>≥ 1,500</a:t>
            </a:r>
          </a:p>
        </p:txBody>
      </p:sp>
      <p:sp>
        <p:nvSpPr>
          <p:cNvPr id="93" name="Rectangle 92"/>
          <p:cNvSpPr/>
          <p:nvPr/>
        </p:nvSpPr>
        <p:spPr>
          <a:xfrm>
            <a:off x="7223760" y="3739896"/>
            <a:ext cx="1645920" cy="292608"/>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7223760" y="3739896"/>
            <a:ext cx="1645920" cy="292608"/>
          </a:xfrm>
          <a:prstGeom prst="rect">
            <a:avLst/>
          </a:prstGeom>
          <a:noFill/>
        </p:spPr>
        <p:txBody>
          <a:bodyPr wrap="square">
            <a:spAutoFit/>
          </a:bodyPr>
          <a:lstStyle/>
          <a:p>
            <a:pPr algn="ctr">
              <a:defRPr sz="1000" b="0">
                <a:solidFill>
                  <a:srgbClr val="FFFFFF"/>
                </a:solidFill>
                <a:latin typeface="Calibri"/>
              </a:defRPr>
            </a:pPr>
            <a:r>
              <a:t>2,276</a:t>
            </a:r>
          </a:p>
        </p:txBody>
      </p:sp>
      <p:sp>
        <p:nvSpPr>
          <p:cNvPr id="95" name="Rectangle 94"/>
          <p:cNvSpPr/>
          <p:nvPr/>
        </p:nvSpPr>
        <p:spPr>
          <a:xfrm>
            <a:off x="8869680" y="3739896"/>
            <a:ext cx="2286000" cy="292608"/>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8869680" y="3739896"/>
            <a:ext cx="2286000" cy="292608"/>
          </a:xfrm>
          <a:prstGeom prst="rect">
            <a:avLst/>
          </a:prstGeom>
          <a:noFill/>
        </p:spPr>
        <p:txBody>
          <a:bodyPr wrap="square">
            <a:spAutoFit/>
          </a:bodyPr>
          <a:lstStyle/>
          <a:p>
            <a:pPr algn="ctr">
              <a:defRPr sz="1000" b="1">
                <a:solidFill>
                  <a:srgbClr val="00E676"/>
                </a:solidFill>
                <a:latin typeface="Calibri"/>
              </a:defRPr>
            </a:pPr>
            <a:r>
              <a:t>✓ Logrado</a:t>
            </a:r>
          </a:p>
        </p:txBody>
      </p:sp>
      <p:sp>
        <p:nvSpPr>
          <p:cNvPr id="97" name="Rectangle 96"/>
          <p:cNvSpPr/>
          <p:nvPr/>
        </p:nvSpPr>
        <p:spPr>
          <a:xfrm>
            <a:off x="548640" y="4032504"/>
            <a:ext cx="3200400" cy="292608"/>
          </a:xfrm>
          <a:prstGeom prst="rect">
            <a:avLst/>
          </a:prstGeom>
          <a:solidFill>
            <a:srgbClr val="18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548640" y="4032504"/>
            <a:ext cx="3200400" cy="292608"/>
          </a:xfrm>
          <a:prstGeom prst="rect">
            <a:avLst/>
          </a:prstGeom>
          <a:noFill/>
        </p:spPr>
        <p:txBody>
          <a:bodyPr wrap="square">
            <a:spAutoFit/>
          </a:bodyPr>
          <a:lstStyle/>
          <a:p>
            <a:pPr algn="ctr">
              <a:defRPr sz="1000" b="0">
                <a:solidFill>
                  <a:srgbClr val="FFFFFF"/>
                </a:solidFill>
                <a:latin typeface="Calibri"/>
              </a:defRPr>
            </a:pPr>
            <a:r>
              <a:t>Secuencias ≥8 fechas</a:t>
            </a:r>
          </a:p>
        </p:txBody>
      </p:sp>
      <p:sp>
        <p:nvSpPr>
          <p:cNvPr id="99" name="Rectangle 98"/>
          <p:cNvSpPr/>
          <p:nvPr/>
        </p:nvSpPr>
        <p:spPr>
          <a:xfrm>
            <a:off x="3749040" y="4032504"/>
            <a:ext cx="1828800" cy="292608"/>
          </a:xfrm>
          <a:prstGeom prst="rect">
            <a:avLst/>
          </a:prstGeom>
          <a:solidFill>
            <a:srgbClr val="18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3749040" y="4032504"/>
            <a:ext cx="1828800" cy="292608"/>
          </a:xfrm>
          <a:prstGeom prst="rect">
            <a:avLst/>
          </a:prstGeom>
          <a:noFill/>
        </p:spPr>
        <p:txBody>
          <a:bodyPr wrap="square">
            <a:spAutoFit/>
          </a:bodyPr>
          <a:lstStyle/>
          <a:p>
            <a:pPr algn="ctr">
              <a:defRPr sz="1000" b="0">
                <a:solidFill>
                  <a:srgbClr val="FFFFFF"/>
                </a:solidFill>
                <a:latin typeface="Calibri"/>
              </a:defRPr>
            </a:pPr>
            <a:r>
              <a:t>≥ 30</a:t>
            </a:r>
          </a:p>
        </p:txBody>
      </p:sp>
      <p:sp>
        <p:nvSpPr>
          <p:cNvPr id="101" name="Rectangle 100"/>
          <p:cNvSpPr/>
          <p:nvPr/>
        </p:nvSpPr>
        <p:spPr>
          <a:xfrm>
            <a:off x="5577840" y="4032504"/>
            <a:ext cx="1645920" cy="292608"/>
          </a:xfrm>
          <a:prstGeom prst="rect">
            <a:avLst/>
          </a:prstGeom>
          <a:solidFill>
            <a:srgbClr val="18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577840" y="4032504"/>
            <a:ext cx="1645920" cy="292608"/>
          </a:xfrm>
          <a:prstGeom prst="rect">
            <a:avLst/>
          </a:prstGeom>
          <a:noFill/>
        </p:spPr>
        <p:txBody>
          <a:bodyPr wrap="square">
            <a:spAutoFit/>
          </a:bodyPr>
          <a:lstStyle/>
          <a:p>
            <a:pPr algn="ctr">
              <a:defRPr sz="1000" b="0">
                <a:solidFill>
                  <a:srgbClr val="FFFFFF"/>
                </a:solidFill>
                <a:latin typeface="Calibri"/>
              </a:defRPr>
            </a:pPr>
            <a:r>
              <a:t>≥ 50</a:t>
            </a:r>
          </a:p>
        </p:txBody>
      </p:sp>
      <p:sp>
        <p:nvSpPr>
          <p:cNvPr id="103" name="Rectangle 102"/>
          <p:cNvSpPr/>
          <p:nvPr/>
        </p:nvSpPr>
        <p:spPr>
          <a:xfrm>
            <a:off x="7223760" y="4032504"/>
            <a:ext cx="1645920" cy="292608"/>
          </a:xfrm>
          <a:prstGeom prst="rect">
            <a:avLst/>
          </a:prstGeom>
          <a:solidFill>
            <a:srgbClr val="18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7223760" y="4032504"/>
            <a:ext cx="1645920" cy="292608"/>
          </a:xfrm>
          <a:prstGeom prst="rect">
            <a:avLst/>
          </a:prstGeom>
          <a:noFill/>
        </p:spPr>
        <p:txBody>
          <a:bodyPr wrap="square">
            <a:spAutoFit/>
          </a:bodyPr>
          <a:lstStyle/>
          <a:p>
            <a:pPr algn="ctr">
              <a:defRPr sz="1000" b="0">
                <a:solidFill>
                  <a:srgbClr val="FFFFFF"/>
                </a:solidFill>
                <a:latin typeface="Calibri"/>
              </a:defRPr>
            </a:pPr>
            <a:r>
              <a:t>30</a:t>
            </a:r>
          </a:p>
        </p:txBody>
      </p:sp>
      <p:sp>
        <p:nvSpPr>
          <p:cNvPr id="105" name="Rectangle 104"/>
          <p:cNvSpPr/>
          <p:nvPr/>
        </p:nvSpPr>
        <p:spPr>
          <a:xfrm>
            <a:off x="8869680" y="4032504"/>
            <a:ext cx="2286000" cy="292608"/>
          </a:xfrm>
          <a:prstGeom prst="rect">
            <a:avLst/>
          </a:prstGeom>
          <a:solidFill>
            <a:srgbClr val="18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8869680" y="4032504"/>
            <a:ext cx="2286000" cy="292608"/>
          </a:xfrm>
          <a:prstGeom prst="rect">
            <a:avLst/>
          </a:prstGeom>
          <a:noFill/>
        </p:spPr>
        <p:txBody>
          <a:bodyPr wrap="square">
            <a:spAutoFit/>
          </a:bodyPr>
          <a:lstStyle/>
          <a:p>
            <a:pPr algn="ctr">
              <a:defRPr sz="1000" b="1">
                <a:solidFill>
                  <a:srgbClr val="00E676"/>
                </a:solidFill>
                <a:latin typeface="Calibri"/>
              </a:defRPr>
            </a:pPr>
            <a:r>
              <a:t>✓ Logrado</a:t>
            </a:r>
          </a:p>
        </p:txBody>
      </p:sp>
      <p:sp>
        <p:nvSpPr>
          <p:cNvPr id="107" name="TextBox 106"/>
          <p:cNvSpPr txBox="1"/>
          <p:nvPr/>
        </p:nvSpPr>
        <p:spPr>
          <a:xfrm>
            <a:off x="731520" y="4389120"/>
            <a:ext cx="5029200" cy="365760"/>
          </a:xfrm>
          <a:prstGeom prst="rect">
            <a:avLst/>
          </a:prstGeom>
          <a:noFill/>
        </p:spPr>
        <p:txBody>
          <a:bodyPr wrap="square">
            <a:spAutoFit/>
          </a:bodyPr>
          <a:lstStyle/>
          <a:p>
            <a:pPr algn="l">
              <a:defRPr sz="1400" b="1">
                <a:solidFill>
                  <a:srgbClr val="FF8C00"/>
                </a:solidFill>
                <a:latin typeface="Calibri"/>
              </a:defRPr>
            </a:pPr>
            <a:r>
              <a:t>Diagnóstico (INFORME_DIAGNÓSTICO_SIT2.md)</a:t>
            </a:r>
          </a:p>
        </p:txBody>
      </p:sp>
      <p:sp>
        <p:nvSpPr>
          <p:cNvPr id="108" name="TextBox 107"/>
          <p:cNvSpPr txBox="1"/>
          <p:nvPr/>
        </p:nvSpPr>
        <p:spPr>
          <a:xfrm>
            <a:off x="731520" y="4754880"/>
            <a:ext cx="5029200" cy="1828800"/>
          </a:xfrm>
          <a:prstGeom prst="rect">
            <a:avLst/>
          </a:prstGeom>
          <a:noFill/>
        </p:spPr>
        <p:txBody>
          <a:bodyPr wrap="square">
            <a:spAutoFit/>
          </a:bodyPr>
          <a:lstStyle/>
          <a:p>
            <a:pPr>
              <a:spcAft>
                <a:spcPts val="600"/>
              </a:spcAft>
              <a:defRPr sz="1100">
                <a:solidFill>
                  <a:srgbClr val="BBBBCC"/>
                </a:solidFill>
                <a:latin typeface="Calibri"/>
              </a:defRPr>
            </a:pPr>
            <a:r>
              <a:t>  ▸  Textos casi idénticos por clase → embeddings texto colapsan</a:t>
            </a:r>
          </a:p>
          <a:p>
            <a:pPr>
              <a:spcAft>
                <a:spcPts val="600"/>
              </a:spcAft>
              <a:defRPr sz="1100">
                <a:solidFill>
                  <a:srgbClr val="BBBBCC"/>
                </a:solidFill>
                <a:latin typeface="Calibri"/>
              </a:defRPr>
            </a:pPr>
            <a:r>
              <a:t>  ▸  Leakage: 100 escenas S2 en train∩val → Recall optimista</a:t>
            </a:r>
          </a:p>
          <a:p>
            <a:pPr>
              <a:spcAft>
                <a:spcPts val="600"/>
              </a:spcAft>
              <a:defRPr sz="1100">
                <a:solidFill>
                  <a:srgbClr val="BBBBCC"/>
                </a:solidFill>
                <a:latin typeface="Calibri"/>
              </a:defRPr>
            </a:pPr>
            <a:r>
              <a:t>  ▸  SAE lineal sin ReLU → sparsity techo ~5%</a:t>
            </a:r>
          </a:p>
        </p:txBody>
      </p:sp>
      <p:sp>
        <p:nvSpPr>
          <p:cNvPr id="109" name="TextBox 108"/>
          <p:cNvSpPr txBox="1"/>
          <p:nvPr/>
        </p:nvSpPr>
        <p:spPr>
          <a:xfrm>
            <a:off x="6400800" y="4389120"/>
            <a:ext cx="5029200" cy="365760"/>
          </a:xfrm>
          <a:prstGeom prst="rect">
            <a:avLst/>
          </a:prstGeom>
          <a:noFill/>
        </p:spPr>
        <p:txBody>
          <a:bodyPr wrap="square">
            <a:spAutoFit/>
          </a:bodyPr>
          <a:lstStyle/>
          <a:p>
            <a:pPr algn="l">
              <a:defRPr sz="1400" b="1">
                <a:solidFill>
                  <a:srgbClr val="00E676"/>
                </a:solidFill>
                <a:latin typeface="Calibri"/>
              </a:defRPr>
            </a:pPr>
            <a:r>
              <a:t>Mejoras implementándose</a:t>
            </a:r>
          </a:p>
        </p:txBody>
      </p:sp>
      <p:sp>
        <p:nvSpPr>
          <p:cNvPr id="110" name="TextBox 109"/>
          <p:cNvSpPr txBox="1"/>
          <p:nvPr/>
        </p:nvSpPr>
        <p:spPr>
          <a:xfrm>
            <a:off x="6400800" y="4754880"/>
            <a:ext cx="5029200" cy="1828800"/>
          </a:xfrm>
          <a:prstGeom prst="rect">
            <a:avLst/>
          </a:prstGeom>
          <a:noFill/>
        </p:spPr>
        <p:txBody>
          <a:bodyPr wrap="square">
            <a:spAutoFit/>
          </a:bodyPr>
          <a:lstStyle/>
          <a:p>
            <a:pPr>
              <a:spcAft>
                <a:spcPts val="600"/>
              </a:spcAft>
              <a:defRPr sz="1100">
                <a:solidFill>
                  <a:srgbClr val="BBBBCC"/>
                </a:solidFill>
                <a:latin typeface="Calibri"/>
              </a:defRPr>
            </a:pPr>
            <a:r>
              <a:t>  ▸  Split por escena (elimina leakage train-val)</a:t>
            </a:r>
          </a:p>
          <a:p>
            <a:pPr>
              <a:spcAft>
                <a:spcPts val="600"/>
              </a:spcAft>
              <a:defRPr sz="1100">
                <a:solidFill>
                  <a:srgbClr val="BBBBCC"/>
                </a:solidFill>
                <a:latin typeface="Calibri"/>
              </a:defRPr>
            </a:pPr>
            <a:r>
              <a:t>  ▸  Filtros SCL más estrictos (sombras, nubes)</a:t>
            </a:r>
          </a:p>
          <a:p>
            <a:pPr>
              <a:spcAft>
                <a:spcPts val="600"/>
              </a:spcAft>
              <a:defRPr sz="1100">
                <a:solidFill>
                  <a:srgbClr val="BBBBCC"/>
                </a:solidFill>
                <a:latin typeface="Calibri"/>
              </a:defRPr>
            </a:pPr>
            <a:r>
              <a:t>  ▸  ReLU en SAE + λ aumentado para mayor sparsity</a:t>
            </a:r>
          </a:p>
          <a:p>
            <a:pPr>
              <a:spcAft>
                <a:spcPts val="600"/>
              </a:spcAft>
              <a:defRPr sz="1100">
                <a:solidFill>
                  <a:srgbClr val="BBBBCC"/>
                </a:solidFill>
                <a:latin typeface="Calibri"/>
              </a:defRPr>
            </a:pPr>
            <a:r>
              <a:t>  ▸  LoRA rank 16 en bloques 6-11 ViT + texto</a:t>
            </a:r>
          </a:p>
          <a:p>
            <a:pPr>
              <a:spcAft>
                <a:spcPts val="600"/>
              </a:spcAft>
              <a:defRPr sz="1100">
                <a:solidFill>
                  <a:srgbClr val="BBBBCC"/>
                </a:solidFill>
                <a:latin typeface="Calibri"/>
              </a:defRPr>
            </a:pPr>
            <a:r>
              <a:t>  ▸  12 bandas ópticas con conv1 multiespectral</a:t>
            </a:r>
          </a:p>
          <a:p>
            <a:pPr>
              <a:spcAft>
                <a:spcPts val="600"/>
              </a:spcAft>
              <a:defRPr sz="1100">
                <a:solidFill>
                  <a:srgbClr val="BBBBCC"/>
                </a:solidFill>
                <a:latin typeface="Calibri"/>
              </a:defRPr>
            </a:pPr>
            <a:r>
              <a:t>  ▸  Prompts ES+EN (~10 variantes por clase)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9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548640" cy="457200"/>
          </a:xfrm>
          <a:prstGeom prst="rect">
            <a:avLst/>
          </a:prstGeom>
          <a:noFill/>
        </p:spPr>
        <p:txBody>
          <a:bodyPr wrap="square">
            <a:spAutoFit/>
          </a:bodyPr>
          <a:lstStyle/>
          <a:p>
            <a:pPr algn="l">
              <a:defRPr sz="2800" b="1">
                <a:solidFill>
                  <a:srgbClr val="009DFF"/>
                </a:solidFill>
                <a:latin typeface="Calibri"/>
              </a:defRPr>
            </a:pPr>
            <a:r>
              <a:t>12</a:t>
            </a:r>
          </a:p>
        </p:txBody>
      </p:sp>
      <p:sp>
        <p:nvSpPr>
          <p:cNvPr id="4" name="TextBox 3"/>
          <p:cNvSpPr txBox="1"/>
          <p:nvPr/>
        </p:nvSpPr>
        <p:spPr>
          <a:xfrm>
            <a:off x="1188720" y="274320"/>
            <a:ext cx="9144000" cy="457200"/>
          </a:xfrm>
          <a:prstGeom prst="rect">
            <a:avLst/>
          </a:prstGeom>
          <a:noFill/>
        </p:spPr>
        <p:txBody>
          <a:bodyPr wrap="square">
            <a:spAutoFit/>
          </a:bodyPr>
          <a:lstStyle/>
          <a:p>
            <a:pPr algn="l">
              <a:defRPr sz="2800" b="1">
                <a:solidFill>
                  <a:srgbClr val="FFFFFF"/>
                </a:solidFill>
                <a:latin typeface="Calibri"/>
              </a:defRPr>
            </a:pPr>
            <a:r>
              <a:t>Frontend: Next.js + Leaflet</a:t>
            </a:r>
          </a:p>
        </p:txBody>
      </p:sp>
      <p:sp>
        <p:nvSpPr>
          <p:cNvPr id="5" name="TextBox 4"/>
          <p:cNvSpPr txBox="1"/>
          <p:nvPr/>
        </p:nvSpPr>
        <p:spPr>
          <a:xfrm>
            <a:off x="1188720" y="685800"/>
            <a:ext cx="9144000" cy="365760"/>
          </a:xfrm>
          <a:prstGeom prst="rect">
            <a:avLst/>
          </a:prstGeom>
          <a:noFill/>
        </p:spPr>
        <p:txBody>
          <a:bodyPr wrap="square">
            <a:spAutoFit/>
          </a:bodyPr>
          <a:lstStyle/>
          <a:p>
            <a:pPr algn="l">
              <a:defRPr sz="1400" b="0">
                <a:solidFill>
                  <a:srgbClr val="666688"/>
                </a:solidFill>
                <a:latin typeface="Calibri"/>
              </a:defRPr>
            </a:pPr>
            <a:r>
              <a:t>App profesional · No Streamlit · Modo oscuro</a:t>
            </a:r>
          </a:p>
        </p:txBody>
      </p:sp>
      <p:sp>
        <p:nvSpPr>
          <p:cNvPr id="6" name="Rectangle 5"/>
          <p:cNvSpPr/>
          <p:nvPr/>
        </p:nvSpPr>
        <p:spPr>
          <a:xfrm>
            <a:off x="548640" y="1051560"/>
            <a:ext cx="11064240" cy="9144"/>
          </a:xfrm>
          <a:prstGeom prst="rect">
            <a:avLst/>
          </a:prstGeom>
          <a:solidFill>
            <a:srgbClr val="2233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371600"/>
            <a:ext cx="5029200" cy="365760"/>
          </a:xfrm>
          <a:prstGeom prst="rect">
            <a:avLst/>
          </a:prstGeom>
          <a:noFill/>
        </p:spPr>
        <p:txBody>
          <a:bodyPr wrap="square">
            <a:spAutoFit/>
          </a:bodyPr>
          <a:lstStyle/>
          <a:p>
            <a:pPr algn="l">
              <a:defRPr sz="1600" b="1">
                <a:solidFill>
                  <a:srgbClr val="009DFF"/>
                </a:solidFill>
                <a:latin typeface="Calibri"/>
              </a:defRPr>
            </a:pPr>
            <a:r>
              <a:t>Stack del frontend</a:t>
            </a:r>
          </a:p>
        </p:txBody>
      </p:sp>
      <p:sp>
        <p:nvSpPr>
          <p:cNvPr id="8" name="TextBox 7"/>
          <p:cNvSpPr txBox="1"/>
          <p:nvPr/>
        </p:nvSpPr>
        <p:spPr>
          <a:xfrm>
            <a:off x="731520" y="1828800"/>
            <a:ext cx="5029200" cy="3657600"/>
          </a:xfrm>
          <a:prstGeom prst="rect">
            <a:avLst/>
          </a:prstGeom>
          <a:noFill/>
        </p:spPr>
        <p:txBody>
          <a:bodyPr wrap="square">
            <a:spAutoFit/>
          </a:bodyPr>
          <a:lstStyle/>
          <a:p>
            <a:pPr>
              <a:spcAft>
                <a:spcPts val="480"/>
              </a:spcAft>
              <a:defRPr sz="1200">
                <a:solidFill>
                  <a:srgbClr val="BBBBCC"/>
                </a:solidFill>
                <a:latin typeface="Calibri"/>
              </a:defRPr>
            </a:pPr>
            <a:r>
              <a:t>Next.js 16 + React 19 + TypeScript</a:t>
            </a:r>
          </a:p>
          <a:p>
            <a:pPr>
              <a:spcAft>
                <a:spcPts val="480"/>
              </a:spcAft>
              <a:defRPr sz="1200">
                <a:solidFill>
                  <a:srgbClr val="BBBBCC"/>
                </a:solidFill>
                <a:latin typeface="Calibri"/>
              </a:defRPr>
            </a:pPr>
            <a:r>
              <a:t>Leaflet / React-Leaflet para mapas interactivos</a:t>
            </a:r>
          </a:p>
          <a:p>
            <a:pPr>
              <a:spcAft>
                <a:spcPts val="480"/>
              </a:spcAft>
              <a:defRPr sz="1200">
                <a:solidFill>
                  <a:srgbClr val="BBBBCC"/>
                </a:solidFill>
                <a:latin typeface="Calibri"/>
              </a:defRPr>
            </a:pPr>
            <a:r>
              <a:t>Zustand (estado global) + React Query (datos asíncronos)</a:t>
            </a:r>
          </a:p>
          <a:p>
            <a:pPr>
              <a:spcAft>
                <a:spcPts val="480"/>
              </a:spcAft>
              <a:defRPr sz="1200">
                <a:solidFill>
                  <a:srgbClr val="BBBBCC"/>
                </a:solidFill>
                <a:latin typeface="Calibri"/>
              </a:defRPr>
            </a:pPr>
            <a:r>
              <a:t>shadcn/ui + Tailwind CSS</a:t>
            </a:r>
          </a:p>
          <a:p>
            <a:pPr>
              <a:spcAft>
                <a:spcPts val="480"/>
              </a:spcAft>
              <a:defRPr sz="1200">
                <a:solidFill>
                  <a:srgbClr val="BBBBCC"/>
                </a:solidFill>
                <a:latin typeface="Calibri"/>
              </a:defRPr>
            </a:pPr>
            <a:r>
              <a:t>Modo oscuro (+2 pts bonificación en rúbrica)</a:t>
            </a:r>
          </a:p>
          <a:p>
            <a:pPr>
              <a:spcAft>
                <a:spcPts val="480"/>
              </a:spcAft>
              <a:defRPr sz="1200">
                <a:solidFill>
                  <a:srgbClr val="BBBBCC"/>
                </a:solidFill>
                <a:latin typeface="Calibri"/>
              </a:defRPr>
            </a:pPr>
          </a:p>
          <a:p>
            <a:pPr>
              <a:spcAft>
                <a:spcPts val="480"/>
              </a:spcAft>
              <a:defRPr sz="1200">
                <a:solidFill>
                  <a:srgbClr val="BBBBCC"/>
                </a:solidFill>
                <a:latin typeface="Calibri"/>
              </a:defRPr>
            </a:pPr>
            <a:r>
              <a:t>Ruta: app/geo-vision-clip-application/</a:t>
            </a:r>
          </a:p>
          <a:p>
            <a:pPr>
              <a:spcAft>
                <a:spcPts val="480"/>
              </a:spcAft>
              <a:defRPr sz="1200">
                <a:solidFill>
                  <a:srgbClr val="BBBBCC"/>
                </a:solidFill>
                <a:latin typeface="Calibri"/>
              </a:defRPr>
            </a:pPr>
          </a:p>
          <a:p>
            <a:pPr>
              <a:spcAft>
                <a:spcPts val="480"/>
              </a:spcAft>
              <a:defRPr sz="1200">
                <a:solidFill>
                  <a:srgbClr val="BBBBCC"/>
                </a:solidFill>
                <a:latin typeface="Calibri"/>
              </a:defRPr>
            </a:pPr>
            <a:r>
              <a:t>Hook personalizados:</a:t>
            </a:r>
          </a:p>
          <a:p>
            <a:pPr>
              <a:spcAft>
                <a:spcPts val="480"/>
              </a:spcAft>
              <a:defRPr sz="1200">
                <a:solidFill>
                  <a:srgbClr val="BBBBCC"/>
                </a:solidFill>
                <a:latin typeface="Calibri"/>
              </a:defRPr>
            </a:pPr>
            <a:r>
              <a:t>  • useStations → 9 estaciones DAGMA georreferenciadas</a:t>
            </a:r>
          </a:p>
          <a:p>
            <a:pPr>
              <a:spcAft>
                <a:spcPts val="480"/>
              </a:spcAft>
              <a:defRPr sz="1200">
                <a:solidFill>
                  <a:srgbClr val="BBBBCC"/>
                </a:solidFill>
                <a:latin typeface="Calibri"/>
              </a:defRPr>
            </a:pPr>
            <a:r>
              <a:t>  • usePrediction → consulta a API /predict</a:t>
            </a:r>
          </a:p>
          <a:p>
            <a:pPr>
              <a:spcAft>
                <a:spcPts val="480"/>
              </a:spcAft>
              <a:defRPr sz="1200">
                <a:solidFill>
                  <a:srgbClr val="BBBBCC"/>
                </a:solidFill>
                <a:latin typeface="Calibri"/>
              </a:defRPr>
            </a:pPr>
            <a:r>
              <a:t>  • useBarriosGeo → 339 barrios, 22 comunas (GeoJSON)</a:t>
            </a:r>
          </a:p>
          <a:p>
            <a:pPr>
              <a:spcAft>
                <a:spcPts val="480"/>
              </a:spcAft>
              <a:defRPr sz="1200">
                <a:solidFill>
                  <a:srgbClr val="BBBBCC"/>
                </a:solidFill>
                <a:latin typeface="Calibri"/>
              </a:defRPr>
            </a:pPr>
            <a:r>
              <a:t>  • useValidation → validación contra ground truth</a:t>
            </a:r>
          </a:p>
          <a:p>
            <a:pPr>
              <a:spcAft>
                <a:spcPts val="480"/>
              </a:spcAft>
              <a:defRPr sz="1200">
                <a:solidFill>
                  <a:srgbClr val="BBBBCC"/>
                </a:solidFill>
                <a:latin typeface="Calibri"/>
              </a:defRPr>
            </a:pPr>
            <a:r>
              <a:t>  • useScrollReveal → animaciones al hacer scroll</a:t>
            </a:r>
          </a:p>
        </p:txBody>
      </p:sp>
      <p:sp>
        <p:nvSpPr>
          <p:cNvPr id="9" name="TextBox 8"/>
          <p:cNvSpPr txBox="1"/>
          <p:nvPr/>
        </p:nvSpPr>
        <p:spPr>
          <a:xfrm>
            <a:off x="6400800" y="1371600"/>
            <a:ext cx="5029200" cy="365760"/>
          </a:xfrm>
          <a:prstGeom prst="rect">
            <a:avLst/>
          </a:prstGeom>
          <a:noFill/>
        </p:spPr>
        <p:txBody>
          <a:bodyPr wrap="square">
            <a:spAutoFit/>
          </a:bodyPr>
          <a:lstStyle/>
          <a:p>
            <a:pPr algn="l">
              <a:defRPr sz="1600" b="1">
                <a:solidFill>
                  <a:srgbClr val="00E676"/>
                </a:solidFill>
                <a:latin typeface="Calibri"/>
              </a:defRPr>
            </a:pPr>
            <a:r>
              <a:t>Experiencia de usuario</a:t>
            </a:r>
          </a:p>
        </p:txBody>
      </p:sp>
      <p:sp>
        <p:nvSpPr>
          <p:cNvPr id="10" name="Rectangle 9"/>
          <p:cNvSpPr/>
          <p:nvPr/>
        </p:nvSpPr>
        <p:spPr>
          <a:xfrm>
            <a:off x="6400800" y="1828800"/>
            <a:ext cx="5029200" cy="411480"/>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1847088"/>
            <a:ext cx="1645920" cy="228600"/>
          </a:xfrm>
          <a:prstGeom prst="rect">
            <a:avLst/>
          </a:prstGeom>
          <a:noFill/>
        </p:spPr>
        <p:txBody>
          <a:bodyPr wrap="square">
            <a:spAutoFit/>
          </a:bodyPr>
          <a:lstStyle/>
          <a:p>
            <a:pPr algn="l">
              <a:defRPr sz="1100" b="1">
                <a:solidFill>
                  <a:srgbClr val="009DFF"/>
                </a:solidFill>
                <a:latin typeface="Calibri"/>
              </a:defRPr>
            </a:pPr>
            <a:r>
              <a:t>Click en mapa</a:t>
            </a:r>
          </a:p>
        </p:txBody>
      </p:sp>
      <p:sp>
        <p:nvSpPr>
          <p:cNvPr id="12" name="TextBox 11"/>
          <p:cNvSpPr txBox="1"/>
          <p:nvPr/>
        </p:nvSpPr>
        <p:spPr>
          <a:xfrm>
            <a:off x="6537960" y="2048256"/>
            <a:ext cx="4754880" cy="182880"/>
          </a:xfrm>
          <a:prstGeom prst="rect">
            <a:avLst/>
          </a:prstGeom>
          <a:noFill/>
        </p:spPr>
        <p:txBody>
          <a:bodyPr wrap="square">
            <a:spAutoFit/>
          </a:bodyPr>
          <a:lstStyle/>
          <a:p>
            <a:pPr algn="l">
              <a:defRPr sz="1000" b="0">
                <a:solidFill>
                  <a:srgbClr val="BBBBCC"/>
                </a:solidFill>
                <a:latin typeface="Calibri"/>
              </a:defRPr>
            </a:pPr>
            <a:r>
              <a:t>Predicción en (lat, lon) con tooltip valor ± σ</a:t>
            </a:r>
          </a:p>
        </p:txBody>
      </p:sp>
      <p:sp>
        <p:nvSpPr>
          <p:cNvPr id="13" name="Rectangle 12"/>
          <p:cNvSpPr/>
          <p:nvPr/>
        </p:nvSpPr>
        <p:spPr>
          <a:xfrm>
            <a:off x="6400800" y="2331720"/>
            <a:ext cx="5029200" cy="411480"/>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60" y="2350008"/>
            <a:ext cx="1645920" cy="228600"/>
          </a:xfrm>
          <a:prstGeom prst="rect">
            <a:avLst/>
          </a:prstGeom>
          <a:noFill/>
        </p:spPr>
        <p:txBody>
          <a:bodyPr wrap="square">
            <a:spAutoFit/>
          </a:bodyPr>
          <a:lstStyle/>
          <a:p>
            <a:pPr algn="l">
              <a:defRPr sz="1100" b="1">
                <a:solidFill>
                  <a:srgbClr val="009DFF"/>
                </a:solidFill>
                <a:latin typeface="Calibri"/>
              </a:defRPr>
            </a:pPr>
            <a:r>
              <a:t>Selector contaminante</a:t>
            </a:r>
          </a:p>
        </p:txBody>
      </p:sp>
      <p:sp>
        <p:nvSpPr>
          <p:cNvPr id="15" name="TextBox 14"/>
          <p:cNvSpPr txBox="1"/>
          <p:nvPr/>
        </p:nvSpPr>
        <p:spPr>
          <a:xfrm>
            <a:off x="6537960" y="2551176"/>
            <a:ext cx="4754880" cy="182880"/>
          </a:xfrm>
          <a:prstGeom prst="rect">
            <a:avLst/>
          </a:prstGeom>
          <a:noFill/>
        </p:spPr>
        <p:txBody>
          <a:bodyPr wrap="square">
            <a:spAutoFit/>
          </a:bodyPr>
          <a:lstStyle/>
          <a:p>
            <a:pPr algn="l">
              <a:defRPr sz="1000" b="0">
                <a:solidFill>
                  <a:srgbClr val="BBBBCC"/>
                </a:solidFill>
                <a:latin typeface="Calibri"/>
              </a:defRPr>
            </a:pPr>
            <a:r>
              <a:t>NO₂ · SO₂ · O₃</a:t>
            </a:r>
          </a:p>
        </p:txBody>
      </p:sp>
      <p:sp>
        <p:nvSpPr>
          <p:cNvPr id="16" name="Rectangle 15"/>
          <p:cNvSpPr/>
          <p:nvPr/>
        </p:nvSpPr>
        <p:spPr>
          <a:xfrm>
            <a:off x="6400800" y="2834640"/>
            <a:ext cx="5029200" cy="411480"/>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37960" y="2852928"/>
            <a:ext cx="1645920" cy="228600"/>
          </a:xfrm>
          <a:prstGeom prst="rect">
            <a:avLst/>
          </a:prstGeom>
          <a:noFill/>
        </p:spPr>
        <p:txBody>
          <a:bodyPr wrap="square">
            <a:spAutoFit/>
          </a:bodyPr>
          <a:lstStyle/>
          <a:p>
            <a:pPr algn="l">
              <a:defRPr sz="1100" b="1">
                <a:solidFill>
                  <a:srgbClr val="009DFF"/>
                </a:solidFill>
                <a:latin typeface="Calibri"/>
              </a:defRPr>
            </a:pPr>
            <a:r>
              <a:t>Slider temporal</a:t>
            </a:r>
          </a:p>
        </p:txBody>
      </p:sp>
      <p:sp>
        <p:nvSpPr>
          <p:cNvPr id="18" name="TextBox 17"/>
          <p:cNvSpPr txBox="1"/>
          <p:nvPr/>
        </p:nvSpPr>
        <p:spPr>
          <a:xfrm>
            <a:off x="6537960" y="3054096"/>
            <a:ext cx="4754880" cy="182880"/>
          </a:xfrm>
          <a:prstGeom prst="rect">
            <a:avLst/>
          </a:prstGeom>
          <a:noFill/>
        </p:spPr>
        <p:txBody>
          <a:bodyPr wrap="square">
            <a:spAutoFit/>
          </a:bodyPr>
          <a:lstStyle/>
          <a:p>
            <a:pPr algn="l">
              <a:defRPr sz="1000" b="0">
                <a:solidFill>
                  <a:srgbClr val="BBBBCC"/>
                </a:solidFill>
                <a:latin typeface="Calibri"/>
              </a:defRPr>
            </a:pPr>
            <a:r>
              <a:t>T+1 · T+3 · T+7</a:t>
            </a:r>
          </a:p>
        </p:txBody>
      </p:sp>
      <p:sp>
        <p:nvSpPr>
          <p:cNvPr id="19" name="Rectangle 18"/>
          <p:cNvSpPr/>
          <p:nvPr/>
        </p:nvSpPr>
        <p:spPr>
          <a:xfrm>
            <a:off x="6400800" y="3337560"/>
            <a:ext cx="5029200" cy="411480"/>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37960" y="3355848"/>
            <a:ext cx="1645920" cy="228600"/>
          </a:xfrm>
          <a:prstGeom prst="rect">
            <a:avLst/>
          </a:prstGeom>
          <a:noFill/>
        </p:spPr>
        <p:txBody>
          <a:bodyPr wrap="square">
            <a:spAutoFit/>
          </a:bodyPr>
          <a:lstStyle/>
          <a:p>
            <a:pPr algn="l">
              <a:defRPr sz="1100" b="1">
                <a:solidFill>
                  <a:srgbClr val="009DFF"/>
                </a:solidFill>
                <a:latin typeface="Calibri"/>
              </a:defRPr>
            </a:pPr>
            <a:r>
              <a:t>Hover polígono</a:t>
            </a:r>
          </a:p>
        </p:txBody>
      </p:sp>
      <p:sp>
        <p:nvSpPr>
          <p:cNvPr id="21" name="TextBox 20"/>
          <p:cNvSpPr txBox="1"/>
          <p:nvPr/>
        </p:nvSpPr>
        <p:spPr>
          <a:xfrm>
            <a:off x="6537960" y="3557016"/>
            <a:ext cx="4754880" cy="182880"/>
          </a:xfrm>
          <a:prstGeom prst="rect">
            <a:avLst/>
          </a:prstGeom>
          <a:noFill/>
        </p:spPr>
        <p:txBody>
          <a:bodyPr wrap="square">
            <a:spAutoFit/>
          </a:bodyPr>
          <a:lstStyle/>
          <a:p>
            <a:pPr algn="l">
              <a:defRPr sz="1000" b="0">
                <a:solidFill>
                  <a:srgbClr val="BBBBCC"/>
                </a:solidFill>
                <a:latin typeface="Calibri"/>
              </a:defRPr>
            </a:pPr>
            <a:r>
              <a:t>Tooltip con barrio + comuna</a:t>
            </a:r>
          </a:p>
        </p:txBody>
      </p:sp>
      <p:sp>
        <p:nvSpPr>
          <p:cNvPr id="22" name="Rectangle 21"/>
          <p:cNvSpPr/>
          <p:nvPr/>
        </p:nvSpPr>
        <p:spPr>
          <a:xfrm>
            <a:off x="6400800" y="3840480"/>
            <a:ext cx="5029200" cy="411480"/>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37960" y="3858768"/>
            <a:ext cx="1645920" cy="228600"/>
          </a:xfrm>
          <a:prstGeom prst="rect">
            <a:avLst/>
          </a:prstGeom>
          <a:noFill/>
        </p:spPr>
        <p:txBody>
          <a:bodyPr wrap="square">
            <a:spAutoFit/>
          </a:bodyPr>
          <a:lstStyle/>
          <a:p>
            <a:pPr algn="l">
              <a:defRPr sz="1100" b="1">
                <a:solidFill>
                  <a:srgbClr val="009DFF"/>
                </a:solidFill>
                <a:latin typeface="Calibri"/>
              </a:defRPr>
            </a:pPr>
            <a:r>
              <a:t>Toggle capas</a:t>
            </a:r>
          </a:p>
        </p:txBody>
      </p:sp>
      <p:sp>
        <p:nvSpPr>
          <p:cNvPr id="24" name="TextBox 23"/>
          <p:cNvSpPr txBox="1"/>
          <p:nvPr/>
        </p:nvSpPr>
        <p:spPr>
          <a:xfrm>
            <a:off x="6537960" y="4059936"/>
            <a:ext cx="4754880" cy="182880"/>
          </a:xfrm>
          <a:prstGeom prst="rect">
            <a:avLst/>
          </a:prstGeom>
          <a:noFill/>
        </p:spPr>
        <p:txBody>
          <a:bodyPr wrap="square">
            <a:spAutoFit/>
          </a:bodyPr>
          <a:lstStyle/>
          <a:p>
            <a:pPr algn="l">
              <a:defRPr sz="1000" b="0">
                <a:solidFill>
                  <a:srgbClr val="BBBBCC"/>
                </a:solidFill>
                <a:latin typeface="Calibri"/>
              </a:defRPr>
            </a:pPr>
            <a:r>
              <a:t>Límites administrativos ON/OFF</a:t>
            </a:r>
          </a:p>
        </p:txBody>
      </p:sp>
      <p:sp>
        <p:nvSpPr>
          <p:cNvPr id="25" name="Rectangle 24"/>
          <p:cNvSpPr/>
          <p:nvPr/>
        </p:nvSpPr>
        <p:spPr>
          <a:xfrm>
            <a:off x="6400800" y="4343400"/>
            <a:ext cx="5029200" cy="411480"/>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37960" y="4361688"/>
            <a:ext cx="1645920" cy="228600"/>
          </a:xfrm>
          <a:prstGeom prst="rect">
            <a:avLst/>
          </a:prstGeom>
          <a:noFill/>
        </p:spPr>
        <p:txBody>
          <a:bodyPr wrap="square">
            <a:spAutoFit/>
          </a:bodyPr>
          <a:lstStyle/>
          <a:p>
            <a:pPr algn="l">
              <a:defRPr sz="1100" b="1">
                <a:solidFill>
                  <a:srgbClr val="009DFF"/>
                </a:solidFill>
                <a:latin typeface="Calibri"/>
              </a:defRPr>
            </a:pPr>
            <a:r>
              <a:t>Descarga</a:t>
            </a:r>
          </a:p>
        </p:txBody>
      </p:sp>
      <p:sp>
        <p:nvSpPr>
          <p:cNvPr id="27" name="TextBox 26"/>
          <p:cNvSpPr txBox="1"/>
          <p:nvPr/>
        </p:nvSpPr>
        <p:spPr>
          <a:xfrm>
            <a:off x="6537960" y="4562856"/>
            <a:ext cx="4754880" cy="182880"/>
          </a:xfrm>
          <a:prstGeom prst="rect">
            <a:avLst/>
          </a:prstGeom>
          <a:noFill/>
        </p:spPr>
        <p:txBody>
          <a:bodyPr wrap="square">
            <a:spAutoFit/>
          </a:bodyPr>
          <a:lstStyle/>
          <a:p>
            <a:pPr algn="l">
              <a:defRPr sz="1000" b="0">
                <a:solidFill>
                  <a:srgbClr val="BBBBCC"/>
                </a:solidFill>
                <a:latin typeface="Calibri"/>
              </a:defRPr>
            </a:pPr>
            <a:r>
              <a:t>Predicción como GeoTIFF o CSV</a:t>
            </a:r>
          </a:p>
        </p:txBody>
      </p:sp>
      <p:sp>
        <p:nvSpPr>
          <p:cNvPr id="28" name="TextBox 27"/>
          <p:cNvSpPr txBox="1"/>
          <p:nvPr/>
        </p:nvSpPr>
        <p:spPr>
          <a:xfrm>
            <a:off x="6400800" y="5029200"/>
            <a:ext cx="5029200" cy="365760"/>
          </a:xfrm>
          <a:prstGeom prst="rect">
            <a:avLst/>
          </a:prstGeom>
          <a:noFill/>
        </p:spPr>
        <p:txBody>
          <a:bodyPr wrap="square">
            <a:spAutoFit/>
          </a:bodyPr>
          <a:lstStyle/>
          <a:p>
            <a:pPr algn="l">
              <a:defRPr sz="1400" b="1">
                <a:solidFill>
                  <a:srgbClr val="FF8C00"/>
                </a:solidFill>
                <a:latin typeface="Calibri"/>
              </a:defRPr>
            </a:pPr>
            <a:r>
              <a:t>Datos geográficos integrados</a:t>
            </a:r>
          </a:p>
        </p:txBody>
      </p:sp>
      <p:sp>
        <p:nvSpPr>
          <p:cNvPr id="29" name="TextBox 28"/>
          <p:cNvSpPr txBox="1"/>
          <p:nvPr/>
        </p:nvSpPr>
        <p:spPr>
          <a:xfrm>
            <a:off x="6400800" y="5394960"/>
            <a:ext cx="5029200" cy="1097280"/>
          </a:xfrm>
          <a:prstGeom prst="rect">
            <a:avLst/>
          </a:prstGeom>
          <a:noFill/>
        </p:spPr>
        <p:txBody>
          <a:bodyPr wrap="square">
            <a:spAutoFit/>
          </a:bodyPr>
          <a:lstStyle/>
          <a:p>
            <a:pPr>
              <a:spcAft>
                <a:spcPts val="600"/>
              </a:spcAft>
              <a:defRPr sz="1100">
                <a:solidFill>
                  <a:srgbClr val="BBBBCC"/>
                </a:solidFill>
                <a:latin typeface="Calibri"/>
              </a:defRPr>
            </a:pPr>
            <a:r>
              <a:t>  ▸  comunas_cali.geojson → 22 comunas oficiales</a:t>
            </a:r>
          </a:p>
          <a:p>
            <a:pPr>
              <a:spcAft>
                <a:spcPts val="600"/>
              </a:spcAft>
              <a:defRPr sz="1100">
                <a:solidFill>
                  <a:srgbClr val="BBBBCC"/>
                </a:solidFill>
                <a:latin typeface="Calibri"/>
              </a:defRPr>
            </a:pPr>
            <a:r>
              <a:t>  ▸  barrios_cali.geojson → 339 barrios (EPSG:6249 → WGS84)</a:t>
            </a:r>
          </a:p>
          <a:p>
            <a:pPr>
              <a:spcAft>
                <a:spcPts val="600"/>
              </a:spcAft>
              <a:defRPr sz="1100">
                <a:solidFill>
                  <a:srgbClr val="BBBBCC"/>
                </a:solidFill>
                <a:latin typeface="Calibri"/>
              </a:defRPr>
            </a:pPr>
            <a:r>
              <a:t>  ▸  manifest.json → metadatos de capas geo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9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548640" cy="457200"/>
          </a:xfrm>
          <a:prstGeom prst="rect">
            <a:avLst/>
          </a:prstGeom>
          <a:noFill/>
        </p:spPr>
        <p:txBody>
          <a:bodyPr wrap="square">
            <a:spAutoFit/>
          </a:bodyPr>
          <a:lstStyle/>
          <a:p>
            <a:pPr algn="l">
              <a:defRPr sz="2800" b="1">
                <a:solidFill>
                  <a:srgbClr val="009DFF"/>
                </a:solidFill>
                <a:latin typeface="Calibri"/>
              </a:defRPr>
            </a:pPr>
            <a:r>
              <a:t>13</a:t>
            </a:r>
          </a:p>
        </p:txBody>
      </p:sp>
      <p:sp>
        <p:nvSpPr>
          <p:cNvPr id="4" name="TextBox 3"/>
          <p:cNvSpPr txBox="1"/>
          <p:nvPr/>
        </p:nvSpPr>
        <p:spPr>
          <a:xfrm>
            <a:off x="1188720" y="274320"/>
            <a:ext cx="9144000" cy="457200"/>
          </a:xfrm>
          <a:prstGeom prst="rect">
            <a:avLst/>
          </a:prstGeom>
          <a:noFill/>
        </p:spPr>
        <p:txBody>
          <a:bodyPr wrap="square">
            <a:spAutoFit/>
          </a:bodyPr>
          <a:lstStyle/>
          <a:p>
            <a:pPr algn="l">
              <a:defRPr sz="2800" b="1">
                <a:solidFill>
                  <a:srgbClr val="FFFFFF"/>
                </a:solidFill>
                <a:latin typeface="Calibri"/>
              </a:defRPr>
            </a:pPr>
            <a:r>
              <a:t>Arquitectura del Pipeline</a:t>
            </a:r>
          </a:p>
        </p:txBody>
      </p:sp>
      <p:sp>
        <p:nvSpPr>
          <p:cNvPr id="5" name="TextBox 4"/>
          <p:cNvSpPr txBox="1"/>
          <p:nvPr/>
        </p:nvSpPr>
        <p:spPr>
          <a:xfrm>
            <a:off x="1188720" y="685800"/>
            <a:ext cx="9144000" cy="365760"/>
          </a:xfrm>
          <a:prstGeom prst="rect">
            <a:avLst/>
          </a:prstGeom>
          <a:noFill/>
        </p:spPr>
        <p:txBody>
          <a:bodyPr wrap="square">
            <a:spAutoFit/>
          </a:bodyPr>
          <a:lstStyle/>
          <a:p>
            <a:pPr algn="l">
              <a:defRPr sz="1400" b="0">
                <a:solidFill>
                  <a:srgbClr val="666688"/>
                </a:solidFill>
                <a:latin typeface="Calibri"/>
              </a:defRPr>
            </a:pPr>
            <a:r>
              <a:t>Diagrama completo del sistema</a:t>
            </a:r>
          </a:p>
        </p:txBody>
      </p:sp>
      <p:sp>
        <p:nvSpPr>
          <p:cNvPr id="6" name="Rectangle 5"/>
          <p:cNvSpPr/>
          <p:nvPr/>
        </p:nvSpPr>
        <p:spPr>
          <a:xfrm>
            <a:off x="548640" y="1051560"/>
            <a:ext cx="11064240" cy="9144"/>
          </a:xfrm>
          <a:prstGeom prst="rect">
            <a:avLst/>
          </a:prstGeom>
          <a:solidFill>
            <a:srgbClr val="2233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rquitecturaSIT1.png"/>
          <p:cNvPicPr>
            <a:picLocks noChangeAspect="1"/>
          </p:cNvPicPr>
          <p:nvPr/>
        </p:nvPicPr>
        <p:blipFill>
          <a:blip r:embed="rId2"/>
          <a:stretch>
            <a:fillRect/>
          </a:stretch>
        </p:blipFill>
        <p:spPr>
          <a:xfrm>
            <a:off x="457200" y="1371600"/>
            <a:ext cx="11247120" cy="50292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9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548640" cy="457200"/>
          </a:xfrm>
          <a:prstGeom prst="rect">
            <a:avLst/>
          </a:prstGeom>
          <a:noFill/>
        </p:spPr>
        <p:txBody>
          <a:bodyPr wrap="square">
            <a:spAutoFit/>
          </a:bodyPr>
          <a:lstStyle/>
          <a:p>
            <a:pPr algn="l">
              <a:defRPr sz="2800" b="1">
                <a:solidFill>
                  <a:srgbClr val="009DFF"/>
                </a:solidFill>
                <a:latin typeface="Calibri"/>
              </a:defRPr>
            </a:pPr>
            <a:r>
              <a:t>14</a:t>
            </a:r>
          </a:p>
        </p:txBody>
      </p:sp>
      <p:sp>
        <p:nvSpPr>
          <p:cNvPr id="4" name="TextBox 3"/>
          <p:cNvSpPr txBox="1"/>
          <p:nvPr/>
        </p:nvSpPr>
        <p:spPr>
          <a:xfrm>
            <a:off x="1188720" y="274320"/>
            <a:ext cx="9144000" cy="457200"/>
          </a:xfrm>
          <a:prstGeom prst="rect">
            <a:avLst/>
          </a:prstGeom>
          <a:noFill/>
        </p:spPr>
        <p:txBody>
          <a:bodyPr wrap="square">
            <a:spAutoFit/>
          </a:bodyPr>
          <a:lstStyle/>
          <a:p>
            <a:pPr algn="l">
              <a:defRPr sz="2800" b="1">
                <a:solidFill>
                  <a:srgbClr val="FFFFFF"/>
                </a:solidFill>
                <a:latin typeface="Calibri"/>
              </a:defRPr>
            </a:pPr>
            <a:r>
              <a:t>Roadmap: Lo que sigue</a:t>
            </a:r>
          </a:p>
        </p:txBody>
      </p:sp>
      <p:sp>
        <p:nvSpPr>
          <p:cNvPr id="5" name="TextBox 4"/>
          <p:cNvSpPr txBox="1"/>
          <p:nvPr/>
        </p:nvSpPr>
        <p:spPr>
          <a:xfrm>
            <a:off x="1188720" y="685800"/>
            <a:ext cx="9144000" cy="365760"/>
          </a:xfrm>
          <a:prstGeom prst="rect">
            <a:avLst/>
          </a:prstGeom>
          <a:noFill/>
        </p:spPr>
        <p:txBody>
          <a:bodyPr wrap="square">
            <a:spAutoFit/>
          </a:bodyPr>
          <a:lstStyle/>
          <a:p>
            <a:pPr algn="l">
              <a:defRPr sz="1400" b="0">
                <a:solidFill>
                  <a:srgbClr val="666688"/>
                </a:solidFill>
                <a:latin typeface="Calibri"/>
              </a:defRPr>
            </a:pPr>
            <a:r>
              <a:t>Situación 3 y entregas finales</a:t>
            </a:r>
          </a:p>
        </p:txBody>
      </p:sp>
      <p:sp>
        <p:nvSpPr>
          <p:cNvPr id="6" name="Rectangle 5"/>
          <p:cNvSpPr/>
          <p:nvPr/>
        </p:nvSpPr>
        <p:spPr>
          <a:xfrm>
            <a:off x="548640" y="1051560"/>
            <a:ext cx="11064240" cy="9144"/>
          </a:xfrm>
          <a:prstGeom prst="rect">
            <a:avLst/>
          </a:prstGeom>
          <a:solidFill>
            <a:srgbClr val="2233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417320"/>
            <a:ext cx="228600" cy="228600"/>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645920"/>
            <a:ext cx="27432" cy="411480"/>
          </a:xfrm>
          <a:prstGeom prst="rect">
            <a:avLst/>
          </a:prstGeom>
          <a:solidFill>
            <a:srgbClr val="2233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371600"/>
            <a:ext cx="2011680" cy="320040"/>
          </a:xfrm>
          <a:prstGeom prst="rect">
            <a:avLst/>
          </a:prstGeom>
          <a:noFill/>
        </p:spPr>
        <p:txBody>
          <a:bodyPr wrap="square">
            <a:spAutoFit/>
          </a:bodyPr>
          <a:lstStyle/>
          <a:p>
            <a:pPr algn="l">
              <a:defRPr sz="1300" b="1">
                <a:solidFill>
                  <a:srgbClr val="00E676"/>
                </a:solidFill>
                <a:latin typeface="Calibri"/>
              </a:defRPr>
            </a:pPr>
            <a:r>
              <a:t>Completado ✅</a:t>
            </a:r>
          </a:p>
        </p:txBody>
      </p:sp>
      <p:sp>
        <p:nvSpPr>
          <p:cNvPr id="10" name="TextBox 9"/>
          <p:cNvSpPr txBox="1"/>
          <p:nvPr/>
        </p:nvSpPr>
        <p:spPr>
          <a:xfrm>
            <a:off x="3108960" y="1371600"/>
            <a:ext cx="8412480" cy="320040"/>
          </a:xfrm>
          <a:prstGeom prst="rect">
            <a:avLst/>
          </a:prstGeom>
          <a:noFill/>
        </p:spPr>
        <p:txBody>
          <a:bodyPr wrap="square">
            <a:spAutoFit/>
          </a:bodyPr>
          <a:lstStyle/>
          <a:p>
            <a:pPr algn="l">
              <a:defRPr sz="1200" b="0">
                <a:solidFill>
                  <a:srgbClr val="BBBBCC"/>
                </a:solidFill>
                <a:latin typeface="Calibri"/>
              </a:defRPr>
            </a:pPr>
            <a:r>
              <a:t>Panel 66.78 GB · 7 fuentes · ETL Dask · EDA · Manifest MD5</a:t>
            </a:r>
          </a:p>
        </p:txBody>
      </p:sp>
      <p:sp>
        <p:nvSpPr>
          <p:cNvPr id="11" name="Rectangle 10"/>
          <p:cNvSpPr/>
          <p:nvPr/>
        </p:nvSpPr>
        <p:spPr>
          <a:xfrm>
            <a:off x="548640" y="2057400"/>
            <a:ext cx="228600" cy="228600"/>
          </a:xfrm>
          <a:prstGeom prst="rect">
            <a:avLst/>
          </a:prstGeom>
          <a:solidFill>
            <a:srgbClr val="009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2286000"/>
            <a:ext cx="27432" cy="411480"/>
          </a:xfrm>
          <a:prstGeom prst="rect">
            <a:avLst/>
          </a:prstGeom>
          <a:solidFill>
            <a:srgbClr val="2233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2011680"/>
            <a:ext cx="2011680" cy="320040"/>
          </a:xfrm>
          <a:prstGeom prst="rect">
            <a:avLst/>
          </a:prstGeom>
          <a:noFill/>
        </p:spPr>
        <p:txBody>
          <a:bodyPr wrap="square">
            <a:spAutoFit/>
          </a:bodyPr>
          <a:lstStyle/>
          <a:p>
            <a:pPr algn="l">
              <a:defRPr sz="1300" b="1">
                <a:solidFill>
                  <a:srgbClr val="009DFF"/>
                </a:solidFill>
                <a:latin typeface="Calibri"/>
              </a:defRPr>
            </a:pPr>
            <a:r>
              <a:t>En curso 🔄</a:t>
            </a:r>
          </a:p>
        </p:txBody>
      </p:sp>
      <p:sp>
        <p:nvSpPr>
          <p:cNvPr id="14" name="TextBox 13"/>
          <p:cNvSpPr txBox="1"/>
          <p:nvPr/>
        </p:nvSpPr>
        <p:spPr>
          <a:xfrm>
            <a:off x="3108960" y="2011680"/>
            <a:ext cx="8412480" cy="320040"/>
          </a:xfrm>
          <a:prstGeom prst="rect">
            <a:avLst/>
          </a:prstGeom>
          <a:noFill/>
        </p:spPr>
        <p:txBody>
          <a:bodyPr wrap="square">
            <a:spAutoFit/>
          </a:bodyPr>
          <a:lstStyle/>
          <a:p>
            <a:pPr algn="l">
              <a:defRPr sz="1200" b="0">
                <a:solidFill>
                  <a:srgbClr val="BBBBCC"/>
                </a:solidFill>
                <a:latin typeface="Calibri"/>
              </a:defRPr>
            </a:pPr>
            <a:r>
              <a:t>Dataset 2,276 pares · CLIP+SAE entrenando · Mejoras LoRA</a:t>
            </a:r>
          </a:p>
        </p:txBody>
      </p:sp>
      <p:sp>
        <p:nvSpPr>
          <p:cNvPr id="15" name="Rectangle 14"/>
          <p:cNvSpPr/>
          <p:nvPr/>
        </p:nvSpPr>
        <p:spPr>
          <a:xfrm>
            <a:off x="548640" y="2697480"/>
            <a:ext cx="228600" cy="2286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2926080"/>
            <a:ext cx="27432" cy="411480"/>
          </a:xfrm>
          <a:prstGeom prst="rect">
            <a:avLst/>
          </a:prstGeom>
          <a:solidFill>
            <a:srgbClr val="2233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2651760"/>
            <a:ext cx="2011680" cy="320040"/>
          </a:xfrm>
          <a:prstGeom prst="rect">
            <a:avLst/>
          </a:prstGeom>
          <a:noFill/>
        </p:spPr>
        <p:txBody>
          <a:bodyPr wrap="square">
            <a:spAutoFit/>
          </a:bodyPr>
          <a:lstStyle/>
          <a:p>
            <a:pPr algn="l">
              <a:defRPr sz="1300" b="1">
                <a:solidFill>
                  <a:srgbClr val="FF8C00"/>
                </a:solidFill>
                <a:latin typeface="Calibri"/>
              </a:defRPr>
            </a:pPr>
            <a:r>
              <a:t>Siguiente ⬜</a:t>
            </a:r>
          </a:p>
        </p:txBody>
      </p:sp>
      <p:sp>
        <p:nvSpPr>
          <p:cNvPr id="18" name="TextBox 17"/>
          <p:cNvSpPr txBox="1"/>
          <p:nvPr/>
        </p:nvSpPr>
        <p:spPr>
          <a:xfrm>
            <a:off x="3108960" y="2651760"/>
            <a:ext cx="8412480" cy="320040"/>
          </a:xfrm>
          <a:prstGeom prst="rect">
            <a:avLst/>
          </a:prstGeom>
          <a:noFill/>
        </p:spPr>
        <p:txBody>
          <a:bodyPr wrap="square">
            <a:spAutoFit/>
          </a:bodyPr>
          <a:lstStyle/>
          <a:p>
            <a:pPr algn="l">
              <a:defRPr sz="1200" b="0">
                <a:solidFill>
                  <a:srgbClr val="BBBBCC"/>
                </a:solidFill>
                <a:latin typeface="Calibri"/>
              </a:defRPr>
            </a:pPr>
            <a:r>
              <a:t>AFE/AFC · Análisis factorial · Validación psicométrica</a:t>
            </a:r>
          </a:p>
        </p:txBody>
      </p:sp>
      <p:sp>
        <p:nvSpPr>
          <p:cNvPr id="19" name="Rectangle 18"/>
          <p:cNvSpPr/>
          <p:nvPr/>
        </p:nvSpPr>
        <p:spPr>
          <a:xfrm>
            <a:off x="548640" y="3337560"/>
            <a:ext cx="228600" cy="2286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3566160"/>
            <a:ext cx="27432" cy="411480"/>
          </a:xfrm>
          <a:prstGeom prst="rect">
            <a:avLst/>
          </a:prstGeom>
          <a:solidFill>
            <a:srgbClr val="2233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3291840"/>
            <a:ext cx="2011680" cy="320040"/>
          </a:xfrm>
          <a:prstGeom prst="rect">
            <a:avLst/>
          </a:prstGeom>
          <a:noFill/>
        </p:spPr>
        <p:txBody>
          <a:bodyPr wrap="square">
            <a:spAutoFit/>
          </a:bodyPr>
          <a:lstStyle/>
          <a:p>
            <a:pPr algn="l">
              <a:defRPr sz="1300" b="1">
                <a:solidFill>
                  <a:srgbClr val="FF8C00"/>
                </a:solidFill>
                <a:latin typeface="Calibri"/>
              </a:defRPr>
            </a:pPr>
            <a:r>
              <a:t>Siguiente ⬜</a:t>
            </a:r>
          </a:p>
        </p:txBody>
      </p:sp>
      <p:sp>
        <p:nvSpPr>
          <p:cNvPr id="22" name="TextBox 21"/>
          <p:cNvSpPr txBox="1"/>
          <p:nvPr/>
        </p:nvSpPr>
        <p:spPr>
          <a:xfrm>
            <a:off x="3108960" y="3291840"/>
            <a:ext cx="8412480" cy="320040"/>
          </a:xfrm>
          <a:prstGeom prst="rect">
            <a:avLst/>
          </a:prstGeom>
          <a:noFill/>
        </p:spPr>
        <p:txBody>
          <a:bodyPr wrap="square">
            <a:spAutoFit/>
          </a:bodyPr>
          <a:lstStyle/>
          <a:p>
            <a:pPr algn="l">
              <a:defRPr sz="1200" b="0">
                <a:solidFill>
                  <a:srgbClr val="BBBBCC"/>
                </a:solidFill>
                <a:latin typeface="Calibri"/>
              </a:defRPr>
            </a:pPr>
            <a:r>
              <a:t>ConvLSTM bidireccional · Secuencias temporales</a:t>
            </a:r>
          </a:p>
        </p:txBody>
      </p:sp>
      <p:sp>
        <p:nvSpPr>
          <p:cNvPr id="23" name="Rectangle 22"/>
          <p:cNvSpPr/>
          <p:nvPr/>
        </p:nvSpPr>
        <p:spPr>
          <a:xfrm>
            <a:off x="548640" y="3977640"/>
            <a:ext cx="228600" cy="228600"/>
          </a:xfrm>
          <a:prstGeom prst="rect">
            <a:avLst/>
          </a:prstGeom>
          <a:solidFill>
            <a:srgbClr val="FF3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 y="4206240"/>
            <a:ext cx="27432" cy="411480"/>
          </a:xfrm>
          <a:prstGeom prst="rect">
            <a:avLst/>
          </a:prstGeom>
          <a:solidFill>
            <a:srgbClr val="2233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3931920"/>
            <a:ext cx="2011680" cy="320040"/>
          </a:xfrm>
          <a:prstGeom prst="rect">
            <a:avLst/>
          </a:prstGeom>
          <a:noFill/>
        </p:spPr>
        <p:txBody>
          <a:bodyPr wrap="square">
            <a:spAutoFit/>
          </a:bodyPr>
          <a:lstStyle/>
          <a:p>
            <a:pPr algn="l">
              <a:defRPr sz="1300" b="1">
                <a:solidFill>
                  <a:srgbClr val="FF3D5A"/>
                </a:solidFill>
                <a:latin typeface="Calibri"/>
              </a:defRPr>
            </a:pPr>
            <a:r>
              <a:t>Siguiente ⬜</a:t>
            </a:r>
          </a:p>
        </p:txBody>
      </p:sp>
      <p:sp>
        <p:nvSpPr>
          <p:cNvPr id="26" name="TextBox 25"/>
          <p:cNvSpPr txBox="1"/>
          <p:nvPr/>
        </p:nvSpPr>
        <p:spPr>
          <a:xfrm>
            <a:off x="3108960" y="3931920"/>
            <a:ext cx="8412480" cy="320040"/>
          </a:xfrm>
          <a:prstGeom prst="rect">
            <a:avLst/>
          </a:prstGeom>
          <a:noFill/>
        </p:spPr>
        <p:txBody>
          <a:bodyPr wrap="square">
            <a:spAutoFit/>
          </a:bodyPr>
          <a:lstStyle/>
          <a:p>
            <a:pPr algn="l">
              <a:defRPr sz="1200" b="0">
                <a:solidFill>
                  <a:srgbClr val="BBBBCC"/>
                </a:solidFill>
                <a:latin typeface="Calibri"/>
              </a:defRPr>
            </a:pPr>
            <a:r>
              <a:t>ST-Kriging · Variograma · Superficie continua + σ²</a:t>
            </a:r>
          </a:p>
        </p:txBody>
      </p:sp>
      <p:sp>
        <p:nvSpPr>
          <p:cNvPr id="27" name="Rectangle 26"/>
          <p:cNvSpPr/>
          <p:nvPr/>
        </p:nvSpPr>
        <p:spPr>
          <a:xfrm>
            <a:off x="548640" y="4617720"/>
            <a:ext cx="228600" cy="228600"/>
          </a:xfrm>
          <a:prstGeom prst="rect">
            <a:avLst/>
          </a:prstGeom>
          <a:solidFill>
            <a:srgbClr val="FF3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0080" y="4846320"/>
            <a:ext cx="27432" cy="411480"/>
          </a:xfrm>
          <a:prstGeom prst="rect">
            <a:avLst/>
          </a:prstGeom>
          <a:solidFill>
            <a:srgbClr val="2233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5840" y="4572000"/>
            <a:ext cx="2011680" cy="320040"/>
          </a:xfrm>
          <a:prstGeom prst="rect">
            <a:avLst/>
          </a:prstGeom>
          <a:noFill/>
        </p:spPr>
        <p:txBody>
          <a:bodyPr wrap="square">
            <a:spAutoFit/>
          </a:bodyPr>
          <a:lstStyle/>
          <a:p>
            <a:pPr algn="l">
              <a:defRPr sz="1300" b="1">
                <a:solidFill>
                  <a:srgbClr val="FF3D5A"/>
                </a:solidFill>
                <a:latin typeface="Calibri"/>
              </a:defRPr>
            </a:pPr>
            <a:r>
              <a:t>Siguiente ⬜</a:t>
            </a:r>
          </a:p>
        </p:txBody>
      </p:sp>
      <p:sp>
        <p:nvSpPr>
          <p:cNvPr id="30" name="TextBox 29"/>
          <p:cNvSpPr txBox="1"/>
          <p:nvPr/>
        </p:nvSpPr>
        <p:spPr>
          <a:xfrm>
            <a:off x="3108960" y="4572000"/>
            <a:ext cx="8412480" cy="320040"/>
          </a:xfrm>
          <a:prstGeom prst="rect">
            <a:avLst/>
          </a:prstGeom>
          <a:noFill/>
        </p:spPr>
        <p:txBody>
          <a:bodyPr wrap="square">
            <a:spAutoFit/>
          </a:bodyPr>
          <a:lstStyle/>
          <a:p>
            <a:pPr algn="l">
              <a:defRPr sz="1200" b="0">
                <a:solidFill>
                  <a:srgbClr val="BBBBCC"/>
                </a:solidFill>
                <a:latin typeface="Calibri"/>
              </a:defRPr>
            </a:pPr>
            <a:r>
              <a:t>LOO-CV vs 9 estaciones DAGMA · RMSE, MAE, R²</a:t>
            </a:r>
          </a:p>
        </p:txBody>
      </p:sp>
      <p:sp>
        <p:nvSpPr>
          <p:cNvPr id="31" name="Rectangle 30"/>
          <p:cNvSpPr/>
          <p:nvPr/>
        </p:nvSpPr>
        <p:spPr>
          <a:xfrm>
            <a:off x="548640" y="5257800"/>
            <a:ext cx="228600" cy="228600"/>
          </a:xfrm>
          <a:prstGeom prst="rect">
            <a:avLst/>
          </a:prstGeom>
          <a:solidFill>
            <a:srgbClr val="FF3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0080" y="5486400"/>
            <a:ext cx="27432" cy="411480"/>
          </a:xfrm>
          <a:prstGeom prst="rect">
            <a:avLst/>
          </a:prstGeom>
          <a:solidFill>
            <a:srgbClr val="2233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05840" y="5212080"/>
            <a:ext cx="2011680" cy="320040"/>
          </a:xfrm>
          <a:prstGeom prst="rect">
            <a:avLst/>
          </a:prstGeom>
          <a:noFill/>
        </p:spPr>
        <p:txBody>
          <a:bodyPr wrap="square">
            <a:spAutoFit/>
          </a:bodyPr>
          <a:lstStyle/>
          <a:p>
            <a:pPr algn="l">
              <a:defRPr sz="1300" b="1">
                <a:solidFill>
                  <a:srgbClr val="FF3D5A"/>
                </a:solidFill>
                <a:latin typeface="Calibri"/>
              </a:defRPr>
            </a:pPr>
            <a:r>
              <a:t>Siguiente ⬜</a:t>
            </a:r>
          </a:p>
        </p:txBody>
      </p:sp>
      <p:sp>
        <p:nvSpPr>
          <p:cNvPr id="34" name="TextBox 33"/>
          <p:cNvSpPr txBox="1"/>
          <p:nvPr/>
        </p:nvSpPr>
        <p:spPr>
          <a:xfrm>
            <a:off x="3108960" y="5212080"/>
            <a:ext cx="8412480" cy="320040"/>
          </a:xfrm>
          <a:prstGeom prst="rect">
            <a:avLst/>
          </a:prstGeom>
          <a:noFill/>
        </p:spPr>
        <p:txBody>
          <a:bodyPr wrap="square">
            <a:spAutoFit/>
          </a:bodyPr>
          <a:lstStyle/>
          <a:p>
            <a:pPr algn="l">
              <a:defRPr sz="1200" b="0">
                <a:solidFill>
                  <a:srgbClr val="BBBBCC"/>
                </a:solidFill>
                <a:latin typeface="Calibri"/>
              </a:defRPr>
            </a:pPr>
            <a:r>
              <a:t>Moran I + LISA · Mapas de clusters espaciales</a:t>
            </a:r>
          </a:p>
        </p:txBody>
      </p:sp>
      <p:sp>
        <p:nvSpPr>
          <p:cNvPr id="35" name="Rectangle 34"/>
          <p:cNvSpPr/>
          <p:nvPr/>
        </p:nvSpPr>
        <p:spPr>
          <a:xfrm>
            <a:off x="548640" y="5897880"/>
            <a:ext cx="228600" cy="228600"/>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05840" y="5852160"/>
            <a:ext cx="2011680" cy="320040"/>
          </a:xfrm>
          <a:prstGeom prst="rect">
            <a:avLst/>
          </a:prstGeom>
          <a:noFill/>
        </p:spPr>
        <p:txBody>
          <a:bodyPr wrap="square">
            <a:spAutoFit/>
          </a:bodyPr>
          <a:lstStyle/>
          <a:p>
            <a:pPr algn="l">
              <a:defRPr sz="1300" b="1">
                <a:solidFill>
                  <a:srgbClr val="00E676"/>
                </a:solidFill>
                <a:latin typeface="Calibri"/>
              </a:defRPr>
            </a:pPr>
            <a:r>
              <a:t>Final 🎯</a:t>
            </a:r>
          </a:p>
        </p:txBody>
      </p:sp>
      <p:sp>
        <p:nvSpPr>
          <p:cNvPr id="37" name="TextBox 36"/>
          <p:cNvSpPr txBox="1"/>
          <p:nvPr/>
        </p:nvSpPr>
        <p:spPr>
          <a:xfrm>
            <a:off x="3108960" y="5852160"/>
            <a:ext cx="8412480" cy="320040"/>
          </a:xfrm>
          <a:prstGeom prst="rect">
            <a:avLst/>
          </a:prstGeom>
          <a:noFill/>
        </p:spPr>
        <p:txBody>
          <a:bodyPr wrap="square">
            <a:spAutoFit/>
          </a:bodyPr>
          <a:lstStyle/>
          <a:p>
            <a:pPr algn="l">
              <a:defRPr sz="1200" b="0">
                <a:solidFill>
                  <a:srgbClr val="BBBBCC"/>
                </a:solidFill>
                <a:latin typeface="Calibri"/>
              </a:defRPr>
            </a:pPr>
            <a:r>
              <a:t>9 mapas de gradiente en app · Informe PDF · Pitch</a:t>
            </a:r>
          </a:p>
        </p:txBody>
      </p:sp>
      <p:sp>
        <p:nvSpPr>
          <p:cNvPr id="38" name="Rectangle 37"/>
          <p:cNvSpPr/>
          <p:nvPr/>
        </p:nvSpPr>
        <p:spPr>
          <a:xfrm>
            <a:off x="548640" y="5943600"/>
            <a:ext cx="11064240" cy="640080"/>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1520" y="5989320"/>
            <a:ext cx="10698480" cy="548640"/>
          </a:xfrm>
          <a:prstGeom prst="rect">
            <a:avLst/>
          </a:prstGeom>
          <a:noFill/>
        </p:spPr>
        <p:txBody>
          <a:bodyPr wrap="square">
            <a:spAutoFit/>
          </a:bodyPr>
          <a:lstStyle/>
          <a:p>
            <a:pPr algn="l">
              <a:defRPr sz="1300" b="0">
                <a:solidFill>
                  <a:srgbClr val="FF8C00"/>
                </a:solidFill>
                <a:latin typeface="Calibri"/>
              </a:defRPr>
            </a:pPr>
            <a:r>
              <a:t>📅  Próximos entregas: Informe final (15-25 págs) · Aplicación web desplegada · Pitch y defensa (demo en vivo)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80E1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9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2286000"/>
            <a:ext cx="9418320" cy="18288"/>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71600" y="5029200"/>
            <a:ext cx="9418320" cy="18288"/>
          </a:xfrm>
          <a:prstGeom prst="rect">
            <a:avLst/>
          </a:prstGeom>
          <a:solidFill>
            <a:srgbClr val="009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914400"/>
            <a:ext cx="9601200" cy="731520"/>
          </a:xfrm>
          <a:prstGeom prst="rect">
            <a:avLst/>
          </a:prstGeom>
          <a:noFill/>
        </p:spPr>
        <p:txBody>
          <a:bodyPr wrap="square">
            <a:spAutoFit/>
          </a:bodyPr>
          <a:lstStyle/>
          <a:p>
            <a:pPr algn="l">
              <a:defRPr sz="3600" b="1">
                <a:solidFill>
                  <a:srgbClr val="FFFFFF"/>
                </a:solidFill>
                <a:latin typeface="Calibri"/>
              </a:defRPr>
            </a:pPr>
            <a:r>
              <a:t>Resumen de Logros</a:t>
            </a:r>
          </a:p>
        </p:txBody>
      </p:sp>
      <p:sp>
        <p:nvSpPr>
          <p:cNvPr id="6" name="TextBox 5"/>
          <p:cNvSpPr txBox="1"/>
          <p:nvPr/>
        </p:nvSpPr>
        <p:spPr>
          <a:xfrm>
            <a:off x="1371600" y="2560320"/>
            <a:ext cx="9418320" cy="2286000"/>
          </a:xfrm>
          <a:prstGeom prst="rect">
            <a:avLst/>
          </a:prstGeom>
          <a:noFill/>
        </p:spPr>
        <p:txBody>
          <a:bodyPr wrap="square">
            <a:spAutoFit/>
          </a:bodyPr>
          <a:lstStyle/>
          <a:p>
            <a:pPr>
              <a:spcAft>
                <a:spcPts val="600"/>
              </a:spcAft>
              <a:defRPr sz="1500">
                <a:solidFill>
                  <a:srgbClr val="BBBBCC"/>
                </a:solidFill>
                <a:latin typeface="Calibri"/>
              </a:defRPr>
            </a:pPr>
            <a:r>
              <a:t>    ✓  Panel de 66.78 GB en GCS (umbral 50 GB superado en 33.6%)</a:t>
            </a:r>
          </a:p>
          <a:p>
            <a:pPr>
              <a:spcAft>
                <a:spcPts val="600"/>
              </a:spcAft>
              <a:defRPr sz="1500">
                <a:solidFill>
                  <a:srgbClr val="BBBBCC"/>
                </a:solidFill>
                <a:latin typeface="Calibri"/>
              </a:defRPr>
            </a:pPr>
            <a:r>
              <a:t>    ✓  Pipeline ETL distribuido con Dask (4 workers × 2 threads)</a:t>
            </a:r>
          </a:p>
          <a:p>
            <a:pPr>
              <a:spcAft>
                <a:spcPts val="600"/>
              </a:spcAft>
              <a:defRPr sz="1500">
                <a:solidFill>
                  <a:srgbClr val="BBBBCC"/>
                </a:solidFill>
                <a:latin typeface="Calibri"/>
              </a:defRPr>
            </a:pPr>
            <a:r>
              <a:t>    ✓  Manifest JSON con hashes MD5 verificables en 283,437 archivos</a:t>
            </a:r>
          </a:p>
          <a:p>
            <a:pPr>
              <a:spcAft>
                <a:spcPts val="600"/>
              </a:spcAft>
              <a:defRPr sz="1500">
                <a:solidFill>
                  <a:srgbClr val="BBBBCC"/>
                </a:solidFill>
                <a:latin typeface="Calibri"/>
              </a:defRPr>
            </a:pPr>
            <a:r>
              <a:t>    ✓  EDA exhaustivo: 7 fuentes, 5 notebooks, 30+ visualizaciones</a:t>
            </a:r>
          </a:p>
          <a:p>
            <a:pPr>
              <a:spcAft>
                <a:spcPts val="600"/>
              </a:spcAft>
              <a:defRPr sz="1500">
                <a:solidFill>
                  <a:srgbClr val="BBBBCC"/>
                </a:solidFill>
                <a:latin typeface="Calibri"/>
              </a:defRPr>
            </a:pPr>
            <a:r>
              <a:t>    ✓  Dataset de 2,276 pares imagen-texto para entrenamiento CLIP</a:t>
            </a:r>
          </a:p>
          <a:p>
            <a:pPr>
              <a:spcAft>
                <a:spcPts val="600"/>
              </a:spcAft>
              <a:defRPr sz="1500">
                <a:solidFill>
                  <a:srgbClr val="BBBBCC"/>
                </a:solidFill>
                <a:latin typeface="Calibri"/>
              </a:defRPr>
            </a:pPr>
            <a:r>
              <a:t>    ✓  Modelo GeoVision-CLIP + SAE implementado y en entrenamiento</a:t>
            </a:r>
          </a:p>
          <a:p>
            <a:pPr>
              <a:spcAft>
                <a:spcPts val="600"/>
              </a:spcAft>
              <a:defRPr sz="1500">
                <a:solidFill>
                  <a:srgbClr val="BBBBCC"/>
                </a:solidFill>
                <a:latin typeface="Calibri"/>
              </a:defRPr>
            </a:pPr>
            <a:r>
              <a:t>    ✓  Frontend Next.js con mapas interactivos y modo oscuro</a:t>
            </a:r>
          </a:p>
          <a:p>
            <a:pPr>
              <a:spcAft>
                <a:spcPts val="600"/>
              </a:spcAft>
              <a:defRPr sz="1500">
                <a:solidFill>
                  <a:srgbClr val="BBBBCC"/>
                </a:solidFill>
                <a:latin typeface="Calibri"/>
              </a:defRPr>
            </a:pPr>
            <a:r>
              <a:t>    ⬜  Situación 3: ConvLSTM + ST-Kriging en desarrollo</a:t>
            </a:r>
          </a:p>
        </p:txBody>
      </p:sp>
      <p:sp>
        <p:nvSpPr>
          <p:cNvPr id="7" name="TextBox 6"/>
          <p:cNvSpPr txBox="1"/>
          <p:nvPr/>
        </p:nvSpPr>
        <p:spPr>
          <a:xfrm>
            <a:off x="1371600" y="5303520"/>
            <a:ext cx="9418320" cy="548640"/>
          </a:xfrm>
          <a:prstGeom prst="rect">
            <a:avLst/>
          </a:prstGeom>
          <a:noFill/>
        </p:spPr>
        <p:txBody>
          <a:bodyPr wrap="square">
            <a:spAutoFit/>
          </a:bodyPr>
          <a:lstStyle/>
          <a:p>
            <a:pPr algn="ctr">
              <a:defRPr sz="1600" b="0">
                <a:solidFill>
                  <a:srgbClr val="009DFF"/>
                </a:solidFill>
                <a:latin typeface="Calibri"/>
              </a:defRPr>
            </a:pPr>
            <a:r>
              <a:t>«Datos masivos listos · Modelo multimodal en iteración · Producto visible · Validación rigurosa en camino»</a:t>
            </a:r>
          </a:p>
        </p:txBody>
      </p:sp>
      <p:sp>
        <p:nvSpPr>
          <p:cNvPr id="8" name="TextBox 7"/>
          <p:cNvSpPr txBox="1"/>
          <p:nvPr/>
        </p:nvSpPr>
        <p:spPr>
          <a:xfrm>
            <a:off x="1371600" y="5852160"/>
            <a:ext cx="9418320" cy="365760"/>
          </a:xfrm>
          <a:prstGeom prst="rect">
            <a:avLst/>
          </a:prstGeom>
          <a:noFill/>
        </p:spPr>
        <p:txBody>
          <a:bodyPr wrap="square">
            <a:spAutoFit/>
          </a:bodyPr>
          <a:lstStyle/>
          <a:p>
            <a:pPr algn="ctr">
              <a:defRPr sz="1300" b="0">
                <a:solidFill>
                  <a:srgbClr val="666688"/>
                </a:solidFill>
                <a:latin typeface="Calibri"/>
              </a:defRPr>
            </a:pPr>
            <a:r>
              <a:t>github.com/nicothinn/GeoVision-CLIP-Cali</a:t>
            </a:r>
          </a:p>
        </p:txBody>
      </p:sp>
      <p:sp>
        <p:nvSpPr>
          <p:cNvPr id="9" name="TextBox 8"/>
          <p:cNvSpPr txBox="1"/>
          <p:nvPr/>
        </p:nvSpPr>
        <p:spPr>
          <a:xfrm>
            <a:off x="3657600" y="6309360"/>
            <a:ext cx="4846320" cy="365760"/>
          </a:xfrm>
          <a:prstGeom prst="rect">
            <a:avLst/>
          </a:prstGeom>
          <a:noFill/>
        </p:spPr>
        <p:txBody>
          <a:bodyPr wrap="square">
            <a:spAutoFit/>
          </a:bodyPr>
          <a:lstStyle/>
          <a:p>
            <a:pPr algn="ctr">
              <a:defRPr sz="1800" b="1">
                <a:solidFill>
                  <a:srgbClr val="00E676"/>
                </a:solidFill>
                <a:latin typeface="Calibri"/>
              </a:defRPr>
            </a:pPr>
            <a:r>
              <a:t>Gracias · Preguntas y discusión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